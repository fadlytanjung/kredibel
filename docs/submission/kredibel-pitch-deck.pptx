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Archivo Medium"/>
      <p:regular r:id="rId22"/>
      <p:bold r:id="rId23"/>
      <p:italic r:id="rId24"/>
      <p:boldItalic r:id="rId25"/>
    </p:embeddedFont>
    <p:embeddedFont>
      <p:font typeface="Archivo"/>
      <p:regular r:id="rId26"/>
      <p:bold r:id="rId27"/>
      <p:italic r:id="rId28"/>
      <p:boldItalic r:id="rId29"/>
    </p:embeddedFont>
    <p:embeddedFont>
      <p:font typeface="Archivo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hiDJriJPukecj2XnRcoFyIPRGw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ArchivoMedium-regular.fntdata"/><Relationship Id="rId23" Type="http://schemas.openxmlformats.org/officeDocument/2006/relationships/font" Target="fonts/ArchivoMedium-bold.fntdata"/><Relationship Id="rId24" Type="http://schemas.openxmlformats.org/officeDocument/2006/relationships/font" Target="fonts/ArchivoMedium-italic.fntdata"/><Relationship Id="rId25" Type="http://schemas.openxmlformats.org/officeDocument/2006/relationships/font" Target="fonts/ArchivoMedium-boldItalic.fntdata"/><Relationship Id="rId26" Type="http://schemas.openxmlformats.org/officeDocument/2006/relationships/font" Target="fonts/Archivo-regular.fntdata"/><Relationship Id="rId27" Type="http://schemas.openxmlformats.org/officeDocument/2006/relationships/font" Target="fonts/Archivo-bold.fntdata"/><Relationship Id="rId28" Type="http://schemas.openxmlformats.org/officeDocument/2006/relationships/font" Target="fonts/Archivo-italic.fntdata"/><Relationship Id="rId29" Type="http://schemas.openxmlformats.org/officeDocument/2006/relationships/font" Target="fonts/Archivo-boldItalic.fntdata"/><Relationship Id="rId30" Type="http://schemas.openxmlformats.org/officeDocument/2006/relationships/font" Target="fonts/ArchivoSemiBold-regular.fntdata"/><Relationship Id="rId31" Type="http://schemas.openxmlformats.org/officeDocument/2006/relationships/font" Target="fonts/ArchivoSemiBold-bold.fntdata"/><Relationship Id="rId32" Type="http://schemas.openxmlformats.org/officeDocument/2006/relationships/font" Target="fonts/ArchivoSemiBold-italic.fntdata"/><Relationship Id="rId33" Type="http://schemas.openxmlformats.org/officeDocument/2006/relationships/font" Target="fonts/ArchivoSemiBold-boldItalic.fntdata"/><Relationship Id="rId34"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4"/>
          <c:y val="0.04"/>
          <c:w val="0.56"/>
          <c:h val="0.78"/>
        </c:manualLayout>
      </c:layout>
      <c:barChart>
        <c:barDir val="bar"/>
        <c:grouping val="clustered"/>
        <c:ser>
          <c:idx val="0"/>
          <c:order val="0"/>
          <c:tx>
            <c:strRef>
              <c:f>Sheet1!$B$1</c:f>
              <c:strCache>
                <c:ptCount val="1"/>
                <c:pt idx="0">
                  <c:v>USD</c:v>
                </c:pt>
              </c:strCache>
            </c:strRef>
          </c:tx>
          <c:dPt>
            <c:idx val="0"/>
            <c:spPr>
              <a:solidFill>
                <a:srgbClr val="B9C2CA"/>
              </a:solidFill>
            </c:spPr>
          </c:dPt>
          <c:dPt>
            <c:idx val="1"/>
            <c:spPr>
              <a:solidFill>
                <a:srgbClr val="B9C2CA"/>
              </a:solidFill>
            </c:spPr>
          </c:dPt>
          <c:dPt>
            <c:idx val="2"/>
            <c:spPr>
              <a:solidFill>
                <a:srgbClr val="0E5A47"/>
              </a:solidFill>
            </c:spPr>
          </c:dPt>
          <c:cat>
            <c:strRef>
              <c:f>Sheet1!$A$2:$A$4</c:f>
              <c:strCache>
                <c:ptCount val="3"/>
                <c:pt idx="0">
                  <c:v>Two parsers + Gemini</c:v>
                </c:pt>
                <c:pt idx="1">
                  <c:v>Parser + Gemini</c:v>
                </c:pt>
                <c:pt idx="2">
                  <c:v>Kredibel</c:v>
                </c:pt>
              </c:strCache>
            </c:strRef>
          </c:cat>
          <c:val>
            <c:numRef>
              <c:f>Sheet1!$B$2:$B$4</c:f>
              <c:numCache>
                <c:formatCode>General</c:formatCode>
                <c:ptCount val="3"/>
                <c:pt idx="0">
                  <c:v>8.9</c:v>
                </c:pt>
                <c:pt idx="1">
                  <c:v>4.9</c:v>
                </c:pt>
                <c:pt idx="2">
                  <c:v>0.35</c:v>
                </c:pt>
              </c:numCache>
            </c:numRef>
          </c:val>
        </c:ser>
        <c:dLbls>
          <c:numFmt formatCode="0.00" sourceLinked="0"/>
          <c:txPr>
            <a:bodyPr/>
            <a:lstStyle/>
            <a:p>
              <a:pPr>
                <a:defRPr sz="1000" b="1">
                  <a:solidFill>
                    <a:srgbClr val="16212B"/>
                  </a:solidFill>
                  <a:latin typeface="Archivo SemiExpanded"/>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solidFill>
              <a:srgbClr val="DCE1E5"/>
            </a:solidFill>
          </a:ln>
        </c:spPr>
        <c:txPr>
          <a:bodyPr/>
          <a:lstStyle/>
          <a:p>
            <a:pPr>
              <a:defRPr sz="900">
                <a:solidFill>
                  <a:srgbClr val="16212B"/>
                </a:solidFill>
                <a:latin typeface="Archivo"/>
              </a:defRPr>
            </a:pPr>
          </a:p>
        </c:txPr>
        <c:crossAx val="-2113994440"/>
        <c:crosses val="autoZero"/>
        <c:auto val="1"/>
        <c:lblAlgn val="ctr"/>
        <c:lblOffset val="100"/>
        <c:noMultiLvlLbl val="0"/>
      </c:catAx>
      <c:valAx>
        <c:axId val="-2113994440"/>
        <c:scaling>
          <c:max val="11.0"/>
        </c:scaling>
        <c:delete/>
        <c:axPos val="b"/>
        <c:majorTickMark val="out"/>
        <c:minorTickMark val="none"/>
        <c:tickLblPos val="none"/>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Kredibel, for Theme 1 BFSI: Intelligent Risk, Fraud &amp; Financial Experiences. Team leader Muhammad Fadly Tanjung, with Ibnu Habibie, Jabbar Ali Panggabean and Muhammad Arisandy Pratama.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One sentence: Kredibel checks a small business's own books. The idea that runs through everything: every figure is read twice, by Gemini from the page image and by an independent witness (the PDF text layer, or Document AI OCR for scans), and code only counts a value when both agree.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Three failure modes. Figures: Inscribe 2026 (vendor survey of fraud and risk leaders) and FBI IC3 2024 (BEC losses USD 2.77 billion). Kredibel targets all three in the same workspace.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How it differs: reading twice with grounding, duplicates held before they count, forensics, explainable policy-based risk, and order-independent reconciliation. USP: every number has a source.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Walk the seven checks in the order a document meets them. The codes are the real finding codes shown in the app: D for duplicates, A for arithmetic, M for file metadata, X for cross-document checks.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Follow one upload. Exact copies stop at the door. Each page is read twice, then deterministic checks run, then the month is reconciled from all its data. Three outputs: the review queue, the month's fraud risk and the dashboard. A person's fix re-runs the month and is never undone.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All screens were designed as HTML mocks generated from the same token file as the app, and the app is checked against them in the browser at 390, 834 and 1440 px.</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Numbers follow one upload. The web service records exact copies and splits pages, Cloud Tasks pushes work with OIDC to an IAM-only worker, the ADK workflows call Gemini and Document AI, and results land in Firestore where the browser listens read-only.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Everything managed is Google Cloud. Open-source libraries run inside our own containers only.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This is the core of our Gen AI design. Gemini does the perception and the language; deterministic code owns every number, match and risk level, and checks Gemini's output before it is shown.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2" name="Google Shape;5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Adaptive reading is the cost story: one Gemini read per page plus a free or cheap witness, instead of specialised parsers at 10 to 25 times the cost. Unit costs are estimates from Gemini and Document AI list prices; the USD 0.43 is measured from run usage.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Live at kredibel.app (Firebase Hosting in front of Cloud Run), with the demo company of the video: 300 synthetic documents, August to October 2026.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We only quote what we measured. Real-document grounding figures come from production-style runs; the scenario gates are automated tests on synthetic books with known ground truth. The full eval report with match rates is the next deliverable.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1" name="Google Shape;63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The roadmap builds on verified months: once a business's books are checked, the same evidence supports a loan readiness report. Data residency is a configuration path: in-region OCR and model endpoints.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1" name="Google Shape;69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Before sending: add the demo video link.</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8" name="Google Shape;71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13.jpg"/><Relationship Id="rId9" Type="http://schemas.openxmlformats.org/officeDocument/2006/relationships/image" Target="../media/image14.jpg"/><Relationship Id="rId10"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kredibel.app" TargetMode="External"/><Relationship Id="rId6" Type="http://schemas.openxmlformats.org/officeDocument/2006/relationships/image" Target="../media/image11.png"/><Relationship Id="rId7" Type="http://schemas.openxmlformats.org/officeDocument/2006/relationships/hyperlink" Target="https://github.com/fadlytanjung/kredibel" TargetMode="External"/><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hyperlink" Target="https://youtu.be/5UI2NZFmzrk" TargetMode="External"/><Relationship Id="rId11"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title="Frame 144.png"/>
          <p:cNvPicPr preferRelativeResize="0"/>
          <p:nvPr/>
        </p:nvPicPr>
        <p:blipFill rotWithShape="1">
          <a:blip r:embed="rId3">
            <a:alphaModFix/>
          </a:blip>
          <a:srcRect b="0" l="0" r="0" t="0"/>
          <a:stretch/>
        </p:blipFill>
        <p:spPr>
          <a:xfrm>
            <a:off x="0" y="-3"/>
            <a:ext cx="9144000" cy="2715526"/>
          </a:xfrm>
          <a:prstGeom prst="rect">
            <a:avLst/>
          </a:prstGeom>
          <a:noFill/>
          <a:ln>
            <a:noFill/>
          </a:ln>
        </p:spPr>
      </p:pic>
      <p:pic>
        <p:nvPicPr>
          <p:cNvPr id="55" name="Google Shape;55;p1"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pic>
        <p:nvPicPr>
          <p:cNvPr descr="kredibel-logo.png" id="56" name="Google Shape;56;p1"/>
          <p:cNvPicPr preferRelativeResize="0"/>
          <p:nvPr/>
        </p:nvPicPr>
        <p:blipFill rotWithShape="1">
          <a:blip r:embed="rId5">
            <a:alphaModFix/>
          </a:blip>
          <a:srcRect b="0" l="0" r="0" t="0"/>
          <a:stretch/>
        </p:blipFill>
        <p:spPr>
          <a:xfrm>
            <a:off x="411480" y="2926080"/>
            <a:ext cx="1689068" cy="420624"/>
          </a:xfrm>
          <a:prstGeom prst="rect">
            <a:avLst/>
          </a:prstGeom>
          <a:noFill/>
          <a:ln>
            <a:noFill/>
          </a:ln>
        </p:spPr>
      </p:pic>
      <p:sp>
        <p:nvSpPr>
          <p:cNvPr id="57" name="Google Shape;57;p1"/>
          <p:cNvSpPr txBox="1"/>
          <p:nvPr/>
        </p:nvSpPr>
        <p:spPr>
          <a:xfrm>
            <a:off x="411480" y="3529584"/>
            <a:ext cx="41148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16212B"/>
                </a:solidFill>
                <a:latin typeface="Archivo SemiBold"/>
                <a:ea typeface="Archivo SemiBold"/>
                <a:cs typeface="Archivo SemiBold"/>
                <a:sym typeface="Archivo SemiBold"/>
              </a:rPr>
              <a:t>Every number has a source.</a:t>
            </a:r>
            <a:endParaRPr/>
          </a:p>
        </p:txBody>
      </p:sp>
      <p:sp>
        <p:nvSpPr>
          <p:cNvPr id="60" name="Google Shape;60;p1"/>
          <p:cNvSpPr txBox="1"/>
          <p:nvPr/>
        </p:nvSpPr>
        <p:spPr>
          <a:xfrm>
            <a:off x="411480" y="4069080"/>
            <a:ext cx="3840480" cy="685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150" u="none" cap="none" strike="noStrike">
                <a:solidFill>
                  <a:srgbClr val="56636F"/>
                </a:solidFill>
                <a:latin typeface="Archivo"/>
                <a:ea typeface="Archivo"/>
                <a:cs typeface="Archivo"/>
                <a:sym typeface="Archivo"/>
              </a:rPr>
              <a:t>An AI finance workspace that checks a small business's own books, built on Gemini, ADK, Cloud Run, Firestore and Firebase.</a:t>
            </a:r>
            <a:endParaRPr/>
          </a:p>
        </p:txBody>
      </p:sp>
      <p:sp>
        <p:nvSpPr>
          <p:cNvPr id="61" name="Google Shape;61;p1"/>
          <p:cNvSpPr txBox="1"/>
          <p:nvPr/>
        </p:nvSpPr>
        <p:spPr>
          <a:xfrm>
            <a:off x="4800600" y="2852928"/>
            <a:ext cx="39319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Team details</a:t>
            </a:r>
            <a:endParaRPr/>
          </a:p>
        </p:txBody>
      </p:sp>
      <p:sp>
        <p:nvSpPr>
          <p:cNvPr id="63" name="Google Shape;63;p1"/>
          <p:cNvSpPr txBox="1"/>
          <p:nvPr/>
        </p:nvSpPr>
        <p:spPr>
          <a:xfrm>
            <a:off x="4800600" y="3209544"/>
            <a:ext cx="11430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a:ea typeface="Archivo"/>
                <a:cs typeface="Archivo"/>
                <a:sym typeface="Archivo"/>
              </a:rPr>
              <a:t>Team name</a:t>
            </a:r>
            <a:endParaRPr/>
          </a:p>
        </p:txBody>
      </p:sp>
      <p:sp>
        <p:nvSpPr>
          <p:cNvPr id="65" name="Google Shape;65;p1"/>
          <p:cNvSpPr txBox="1"/>
          <p:nvPr/>
        </p:nvSpPr>
        <p:spPr>
          <a:xfrm>
            <a:off x="5989320" y="3209544"/>
            <a:ext cx="2697480" cy="32918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lang="en-US" sz="1050">
                <a:solidFill>
                  <a:srgbClr val="16212B"/>
                </a:solidFill>
                <a:latin typeface="Archivo Medium"/>
                <a:ea typeface="Archivo Medium"/>
                <a:cs typeface="Archivo Medium"/>
                <a:sym typeface="Archivo Medium"/>
              </a:rPr>
              <a:t>Kredibel</a:t>
            </a:r>
            <a:endParaRPr/>
          </a:p>
        </p:txBody>
      </p:sp>
      <p:sp>
        <p:nvSpPr>
          <p:cNvPr id="67" name="Google Shape;67;p1"/>
          <p:cNvSpPr txBox="1"/>
          <p:nvPr/>
        </p:nvSpPr>
        <p:spPr>
          <a:xfrm>
            <a:off x="4800600" y="3557015"/>
            <a:ext cx="11430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a:ea typeface="Archivo"/>
                <a:cs typeface="Archivo"/>
                <a:sym typeface="Archivo"/>
              </a:rPr>
              <a:t>Team leader</a:t>
            </a:r>
            <a:endParaRPr/>
          </a:p>
        </p:txBody>
      </p:sp>
      <p:sp>
        <p:nvSpPr>
          <p:cNvPr id="69" name="Google Shape;69;p1"/>
          <p:cNvSpPr txBox="1"/>
          <p:nvPr/>
        </p:nvSpPr>
        <p:spPr>
          <a:xfrm>
            <a:off x="5989320" y="3557015"/>
            <a:ext cx="2697480" cy="32918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lang="en-US" sz="1050">
                <a:solidFill>
                  <a:srgbClr val="16212B"/>
                </a:solidFill>
                <a:latin typeface="Archivo Medium"/>
                <a:ea typeface="Archivo Medium"/>
                <a:cs typeface="Archivo Medium"/>
                <a:sym typeface="Archivo Medium"/>
              </a:rPr>
              <a:t>Muhammad Fadly Tanjung</a:t>
            </a:r>
            <a:endParaRPr/>
          </a:p>
        </p:txBody>
      </p:sp>
      <p:sp>
        <p:nvSpPr>
          <p:cNvPr id="71" name="Google Shape;71;p1"/>
          <p:cNvSpPr txBox="1"/>
          <p:nvPr/>
        </p:nvSpPr>
        <p:spPr>
          <a:xfrm>
            <a:off x="4800600" y="3904487"/>
            <a:ext cx="11430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a:ea typeface="Archivo"/>
                <a:cs typeface="Archivo"/>
                <a:sym typeface="Archivo"/>
              </a:rPr>
              <a:t>Problem statement</a:t>
            </a:r>
            <a:endParaRPr/>
          </a:p>
        </p:txBody>
      </p:sp>
      <p:sp>
        <p:nvSpPr>
          <p:cNvPr id="72" name="Google Shape;72;p1"/>
          <p:cNvSpPr txBox="1"/>
          <p:nvPr/>
        </p:nvSpPr>
        <p:spPr>
          <a:xfrm>
            <a:off x="5989320" y="3904487"/>
            <a:ext cx="2697480" cy="8686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0" i="0" lang="en-US" sz="1050" u="none" cap="none" strike="noStrike">
                <a:solidFill>
                  <a:srgbClr val="16212B"/>
                </a:solidFill>
                <a:latin typeface="Archivo Medium"/>
                <a:ea typeface="Archivo Medium"/>
                <a:cs typeface="Archivo Medium"/>
                <a:sym typeface="Archivo Medium"/>
              </a:rPr>
              <a:t>Theme 1, BFSI: Intelligent Risk, Fraud and Financial Experiences. </a:t>
            </a:r>
            <a:r>
              <a:rPr b="0" i="0" lang="en-US" sz="1050" u="none" cap="none" strike="noStrike">
                <a:solidFill>
                  <a:srgbClr val="16212B"/>
                </a:solidFill>
                <a:latin typeface="Archivo"/>
                <a:ea typeface="Archivo"/>
                <a:cs typeface="Archivo"/>
                <a:sym typeface="Archivo"/>
              </a:rPr>
              <a:t>Small businesses close their books by hand, so duplicates, edited documents and diverted payments go unnoticed.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78" name="Google Shape;78;p2" title="Group 427319979.png"/>
          <p:cNvPicPr preferRelativeResize="0"/>
          <p:nvPr/>
        </p:nvPicPr>
        <p:blipFill rotWithShape="1">
          <a:blip r:embed="rId3">
            <a:alphaModFix/>
          </a:blip>
          <a:srcRect b="0" l="0" r="0" t="0"/>
          <a:stretch/>
        </p:blipFill>
        <p:spPr>
          <a:xfrm>
            <a:off x="0" y="1"/>
            <a:ext cx="9144000" cy="507359"/>
          </a:xfrm>
          <a:prstGeom prst="rect">
            <a:avLst/>
          </a:prstGeom>
          <a:noFill/>
          <a:ln>
            <a:noFill/>
          </a:ln>
        </p:spPr>
      </p:pic>
      <p:sp>
        <p:nvSpPr>
          <p:cNvPr id="79" name="Google Shape;79;p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Brief about the idea</a:t>
            </a:r>
            <a:endParaRPr/>
          </a:p>
        </p:txBody>
      </p:sp>
      <p:sp>
        <p:nvSpPr>
          <p:cNvPr id="81" name="Google Shape;81;p2"/>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Kredibel reads every number twice, and only counts it when both readings agree</a:t>
            </a:r>
            <a:endParaRPr/>
          </a:p>
        </p:txBody>
      </p:sp>
      <p:sp>
        <p:nvSpPr>
          <p:cNvPr id="82" name="Google Shape;82;p2"/>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02</a:t>
            </a:r>
            <a:endParaRPr/>
          </a:p>
        </p:txBody>
      </p:sp>
      <p:sp>
        <p:nvSpPr>
          <p:cNvPr id="83" name="Google Shape;83;p2"/>
          <p:cNvSpPr txBox="1"/>
          <p:nvPr/>
        </p:nvSpPr>
        <p:spPr>
          <a:xfrm>
            <a:off x="411480" y="1783080"/>
            <a:ext cx="3931920" cy="18288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None/>
            </a:pPr>
            <a:r>
              <a:rPr b="0" i="0" lang="en-US" sz="1200" u="none" cap="none" strike="noStrike">
                <a:solidFill>
                  <a:srgbClr val="16212B"/>
                </a:solidFill>
                <a:latin typeface="Archivo"/>
                <a:ea typeface="Archivo"/>
                <a:cs typeface="Archivo"/>
                <a:sym typeface="Archivo"/>
              </a:rPr>
              <a:t>Kredibel is an AI finance workspace for small businesses and their accountants. Upload bank statements, invoices, receipts and the general-ledger export </a:t>
            </a:r>
            <a:r>
              <a:rPr b="0" i="0" lang="en-US" sz="1200" u="none" cap="none" strike="noStrike">
                <a:solidFill>
                  <a:srgbClr val="16212B"/>
                </a:solidFill>
                <a:latin typeface="Archivo Medium"/>
                <a:ea typeface="Archivo Medium"/>
                <a:cs typeface="Archivo Medium"/>
                <a:sym typeface="Archivo Medium"/>
              </a:rPr>
              <a:t>in any order</a:t>
            </a:r>
            <a:r>
              <a:rPr b="0" i="0" lang="en-US" sz="1200" u="none" cap="none" strike="noStrike">
                <a:solidFill>
                  <a:srgbClr val="16212B"/>
                </a:solidFill>
                <a:latin typeface="Archivo"/>
                <a:ea typeface="Archivo"/>
                <a:cs typeface="Archivo"/>
                <a:sym typeface="Archivo"/>
              </a:rPr>
              <a:t>.</a:t>
            </a:r>
            <a:endParaRPr/>
          </a:p>
          <a:p>
            <a:pPr indent="0" lvl="0" marL="0" marR="0" rtl="0" algn="l">
              <a:lnSpc>
                <a:spcPct val="112000"/>
              </a:lnSpc>
              <a:spcBef>
                <a:spcPts val="800"/>
              </a:spcBef>
              <a:spcAft>
                <a:spcPts val="0"/>
              </a:spcAft>
              <a:buNone/>
            </a:pPr>
            <a:r>
              <a:rPr b="0" i="0" lang="en-US" sz="1200" u="none" cap="none" strike="noStrike">
                <a:solidFill>
                  <a:srgbClr val="16212B"/>
                </a:solidFill>
                <a:latin typeface="Archivo"/>
                <a:ea typeface="Archivo"/>
                <a:cs typeface="Archivo"/>
                <a:sym typeface="Archivo"/>
              </a:rPr>
              <a:t>It catches duplicates and edited documents before they are counted, reconciles every month, sends the few things AI cannot settle to a short review queue, and shows each month's fraud risk with the evidence and the next steps.</a:t>
            </a:r>
            <a:endParaRPr/>
          </a:p>
        </p:txBody>
      </p:sp>
      <p:sp>
        <p:nvSpPr>
          <p:cNvPr id="84" name="Google Shape;84;p2"/>
          <p:cNvSpPr txBox="1"/>
          <p:nvPr/>
        </p:nvSpPr>
        <p:spPr>
          <a:xfrm>
            <a:off x="411480" y="3840480"/>
            <a:ext cx="12801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16212B"/>
                </a:solidFill>
                <a:latin typeface="Archivo"/>
                <a:ea typeface="Archivo"/>
                <a:cs typeface="Archivo"/>
                <a:sym typeface="Archivo"/>
              </a:rPr>
              <a:t>Any order</a:t>
            </a:r>
            <a:endParaRPr/>
          </a:p>
        </p:txBody>
      </p:sp>
      <p:cxnSp>
        <p:nvCxnSpPr>
          <p:cNvPr id="85" name="Google Shape;85;p2"/>
          <p:cNvCxnSpPr/>
          <p:nvPr/>
        </p:nvCxnSpPr>
        <p:spPr>
          <a:xfrm>
            <a:off x="411480" y="4142232"/>
            <a:ext cx="1097280" cy="0"/>
          </a:xfrm>
          <a:prstGeom prst="straightConnector1">
            <a:avLst/>
          </a:prstGeom>
          <a:noFill/>
          <a:ln cap="flat" cmpd="sng" w="11425">
            <a:solidFill>
              <a:srgbClr val="17714F"/>
            </a:solidFill>
            <a:prstDash val="solid"/>
            <a:round/>
            <a:headEnd len="sm" w="sm" type="none"/>
            <a:tailEnd len="sm" w="sm" type="none"/>
          </a:ln>
        </p:spPr>
      </p:cxnSp>
      <p:cxnSp>
        <p:nvCxnSpPr>
          <p:cNvPr id="86" name="Google Shape;86;p2"/>
          <p:cNvCxnSpPr/>
          <p:nvPr/>
        </p:nvCxnSpPr>
        <p:spPr>
          <a:xfrm>
            <a:off x="411480" y="4174236"/>
            <a:ext cx="1097280" cy="0"/>
          </a:xfrm>
          <a:prstGeom prst="straightConnector1">
            <a:avLst/>
          </a:prstGeom>
          <a:noFill/>
          <a:ln cap="flat" cmpd="sng" w="11425">
            <a:solidFill>
              <a:srgbClr val="17714F"/>
            </a:solidFill>
            <a:prstDash val="solid"/>
            <a:round/>
            <a:headEnd len="sm" w="sm" type="none"/>
            <a:tailEnd len="sm" w="sm" type="none"/>
          </a:ln>
        </p:spPr>
      </p:cxnSp>
      <p:sp>
        <p:nvSpPr>
          <p:cNvPr id="87" name="Google Shape;87;p2"/>
          <p:cNvSpPr txBox="1"/>
          <p:nvPr/>
        </p:nvSpPr>
        <p:spPr>
          <a:xfrm>
            <a:off x="411480" y="4251960"/>
            <a:ext cx="123444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same data, same result</a:t>
            </a:r>
            <a:endParaRPr/>
          </a:p>
        </p:txBody>
      </p:sp>
      <p:sp>
        <p:nvSpPr>
          <p:cNvPr id="88" name="Google Shape;88;p2"/>
          <p:cNvSpPr txBox="1"/>
          <p:nvPr/>
        </p:nvSpPr>
        <p:spPr>
          <a:xfrm>
            <a:off x="1737360" y="3840480"/>
            <a:ext cx="12801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16212B"/>
                </a:solidFill>
                <a:latin typeface="Archivo"/>
                <a:ea typeface="Archivo"/>
                <a:cs typeface="Archivo"/>
                <a:sym typeface="Archivo"/>
              </a:rPr>
              <a:t>Page and box</a:t>
            </a:r>
            <a:endParaRPr/>
          </a:p>
        </p:txBody>
      </p:sp>
      <p:cxnSp>
        <p:nvCxnSpPr>
          <p:cNvPr id="89" name="Google Shape;89;p2"/>
          <p:cNvCxnSpPr/>
          <p:nvPr/>
        </p:nvCxnSpPr>
        <p:spPr>
          <a:xfrm>
            <a:off x="1737360" y="4142232"/>
            <a:ext cx="1097279" cy="0"/>
          </a:xfrm>
          <a:prstGeom prst="straightConnector1">
            <a:avLst/>
          </a:prstGeom>
          <a:noFill/>
          <a:ln cap="flat" cmpd="sng" w="11425">
            <a:solidFill>
              <a:srgbClr val="17714F"/>
            </a:solidFill>
            <a:prstDash val="solid"/>
            <a:round/>
            <a:headEnd len="sm" w="sm" type="none"/>
            <a:tailEnd len="sm" w="sm" type="none"/>
          </a:ln>
        </p:spPr>
      </p:cxnSp>
      <p:cxnSp>
        <p:nvCxnSpPr>
          <p:cNvPr id="90" name="Google Shape;90;p2"/>
          <p:cNvCxnSpPr/>
          <p:nvPr/>
        </p:nvCxnSpPr>
        <p:spPr>
          <a:xfrm>
            <a:off x="1737360" y="4174236"/>
            <a:ext cx="1097279" cy="0"/>
          </a:xfrm>
          <a:prstGeom prst="straightConnector1">
            <a:avLst/>
          </a:prstGeom>
          <a:noFill/>
          <a:ln cap="flat" cmpd="sng" w="11425">
            <a:solidFill>
              <a:srgbClr val="17714F"/>
            </a:solidFill>
            <a:prstDash val="solid"/>
            <a:round/>
            <a:headEnd len="sm" w="sm" type="none"/>
            <a:tailEnd len="sm" w="sm" type="none"/>
          </a:ln>
        </p:spPr>
      </p:cxnSp>
      <p:sp>
        <p:nvSpPr>
          <p:cNvPr id="91" name="Google Shape;91;p2"/>
          <p:cNvSpPr txBox="1"/>
          <p:nvPr/>
        </p:nvSpPr>
        <p:spPr>
          <a:xfrm>
            <a:off x="1737360" y="4251960"/>
            <a:ext cx="123444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behind every value</a:t>
            </a:r>
            <a:endParaRPr/>
          </a:p>
        </p:txBody>
      </p:sp>
      <p:sp>
        <p:nvSpPr>
          <p:cNvPr id="92" name="Google Shape;92;p2"/>
          <p:cNvSpPr txBox="1"/>
          <p:nvPr/>
        </p:nvSpPr>
        <p:spPr>
          <a:xfrm>
            <a:off x="3063240" y="3840480"/>
            <a:ext cx="12801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16212B"/>
                </a:solidFill>
                <a:latin typeface="Archivo"/>
                <a:ea typeface="Archivo"/>
                <a:cs typeface="Archivo"/>
                <a:sym typeface="Archivo"/>
              </a:rPr>
              <a:t>95%</a:t>
            </a:r>
            <a:endParaRPr/>
          </a:p>
        </p:txBody>
      </p:sp>
      <p:cxnSp>
        <p:nvCxnSpPr>
          <p:cNvPr id="93" name="Google Shape;93;p2"/>
          <p:cNvCxnSpPr/>
          <p:nvPr/>
        </p:nvCxnSpPr>
        <p:spPr>
          <a:xfrm>
            <a:off x="3063240" y="4142232"/>
            <a:ext cx="1097280" cy="0"/>
          </a:xfrm>
          <a:prstGeom prst="straightConnector1">
            <a:avLst/>
          </a:prstGeom>
          <a:noFill/>
          <a:ln cap="flat" cmpd="sng" w="11425">
            <a:solidFill>
              <a:srgbClr val="17714F"/>
            </a:solidFill>
            <a:prstDash val="solid"/>
            <a:round/>
            <a:headEnd len="sm" w="sm" type="none"/>
            <a:tailEnd len="sm" w="sm" type="none"/>
          </a:ln>
        </p:spPr>
      </p:cxnSp>
      <p:cxnSp>
        <p:nvCxnSpPr>
          <p:cNvPr id="94" name="Google Shape;94;p2"/>
          <p:cNvCxnSpPr/>
          <p:nvPr/>
        </p:nvCxnSpPr>
        <p:spPr>
          <a:xfrm>
            <a:off x="3063240" y="4174236"/>
            <a:ext cx="1097280" cy="0"/>
          </a:xfrm>
          <a:prstGeom prst="straightConnector1">
            <a:avLst/>
          </a:prstGeom>
          <a:noFill/>
          <a:ln cap="flat" cmpd="sng" w="11425">
            <a:solidFill>
              <a:srgbClr val="17714F"/>
            </a:solidFill>
            <a:prstDash val="solid"/>
            <a:round/>
            <a:headEnd len="sm" w="sm" type="none"/>
            <a:tailEnd len="sm" w="sm" type="none"/>
          </a:ln>
        </p:spPr>
      </p:cxnSp>
      <p:sp>
        <p:nvSpPr>
          <p:cNvPr id="95" name="Google Shape;95;p2"/>
          <p:cNvSpPr txBox="1"/>
          <p:nvPr/>
        </p:nvSpPr>
        <p:spPr>
          <a:xfrm>
            <a:off x="3063240" y="4251960"/>
            <a:ext cx="123444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of bank lines matched automatically</a:t>
            </a:r>
            <a:endParaRPr/>
          </a:p>
        </p:txBody>
      </p:sp>
      <p:sp>
        <p:nvSpPr>
          <p:cNvPr id="96" name="Google Shape;96;p2"/>
          <p:cNvSpPr/>
          <p:nvPr/>
        </p:nvSpPr>
        <p:spPr>
          <a:xfrm>
            <a:off x="4663440" y="1737360"/>
            <a:ext cx="4069080" cy="3108960"/>
          </a:xfrm>
          <a:prstGeom prst="roundRect">
            <a:avLst>
              <a:gd fmla="val 4705"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4892040" y="1920240"/>
            <a:ext cx="3200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56636F"/>
                </a:solidFill>
                <a:latin typeface="Archivo Medium"/>
                <a:ea typeface="Archivo Medium"/>
                <a:cs typeface="Archivo Medium"/>
                <a:sym typeface="Archivo Medium"/>
              </a:rPr>
              <a:t>statement-2026-08.pdf, page 2</a:t>
            </a:r>
            <a:endParaRPr/>
          </a:p>
        </p:txBody>
      </p:sp>
      <p:sp>
        <p:nvSpPr>
          <p:cNvPr id="98" name="Google Shape;98;p2"/>
          <p:cNvSpPr/>
          <p:nvPr/>
        </p:nvSpPr>
        <p:spPr>
          <a:xfrm>
            <a:off x="4892040" y="2240280"/>
            <a:ext cx="3611880" cy="566928"/>
          </a:xfrm>
          <a:prstGeom prst="rect">
            <a:avLst/>
          </a:prstGeom>
          <a:solidFill>
            <a:srgbClr val="F8F9FA"/>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5001768" y="2313432"/>
            <a:ext cx="5486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750" u="none" cap="none" strike="noStrike">
                <a:solidFill>
                  <a:srgbClr val="6B7782"/>
                </a:solidFill>
                <a:latin typeface="Archivo Medium"/>
                <a:ea typeface="Archivo Medium"/>
                <a:cs typeface="Archivo Medium"/>
                <a:sym typeface="Archivo Medium"/>
              </a:rPr>
              <a:t>Date</a:t>
            </a:r>
            <a:endParaRPr/>
          </a:p>
        </p:txBody>
      </p:sp>
      <p:sp>
        <p:nvSpPr>
          <p:cNvPr id="100" name="Google Shape;100;p2"/>
          <p:cNvSpPr txBox="1"/>
          <p:nvPr/>
        </p:nvSpPr>
        <p:spPr>
          <a:xfrm>
            <a:off x="5532120" y="2313432"/>
            <a:ext cx="14630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750" u="none" cap="none" strike="noStrike">
                <a:solidFill>
                  <a:srgbClr val="6B7782"/>
                </a:solidFill>
                <a:latin typeface="Archivo Medium"/>
                <a:ea typeface="Archivo Medium"/>
                <a:cs typeface="Archivo Medium"/>
                <a:sym typeface="Archivo Medium"/>
              </a:rPr>
              <a:t>Description</a:t>
            </a:r>
            <a:endParaRPr/>
          </a:p>
        </p:txBody>
      </p:sp>
      <p:sp>
        <p:nvSpPr>
          <p:cNvPr id="101" name="Google Shape;101;p2"/>
          <p:cNvSpPr txBox="1"/>
          <p:nvPr/>
        </p:nvSpPr>
        <p:spPr>
          <a:xfrm>
            <a:off x="7269479" y="2313432"/>
            <a:ext cx="1097280" cy="1828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750" u="none" cap="none" strike="noStrike">
                <a:solidFill>
                  <a:srgbClr val="6B7782"/>
                </a:solidFill>
                <a:latin typeface="Archivo Medium"/>
                <a:ea typeface="Archivo Medium"/>
                <a:cs typeface="Archivo Medium"/>
                <a:sym typeface="Archivo Medium"/>
              </a:rPr>
              <a:t>Credit</a:t>
            </a:r>
            <a:endParaRPr/>
          </a:p>
        </p:txBody>
      </p:sp>
      <p:sp>
        <p:nvSpPr>
          <p:cNvPr id="102" name="Google Shape;102;p2"/>
          <p:cNvSpPr txBox="1"/>
          <p:nvPr/>
        </p:nvSpPr>
        <p:spPr>
          <a:xfrm>
            <a:off x="5001768" y="2551176"/>
            <a:ext cx="5486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16212B"/>
                </a:solidFill>
                <a:latin typeface="Archivo"/>
                <a:ea typeface="Archivo"/>
                <a:cs typeface="Archivo"/>
                <a:sym typeface="Archivo"/>
              </a:rPr>
              <a:t>14 Aug</a:t>
            </a:r>
            <a:endParaRPr/>
          </a:p>
        </p:txBody>
      </p:sp>
      <p:sp>
        <p:nvSpPr>
          <p:cNvPr id="103" name="Google Shape;103;p2"/>
          <p:cNvSpPr txBox="1"/>
          <p:nvPr/>
        </p:nvSpPr>
        <p:spPr>
          <a:xfrm>
            <a:off x="5532120" y="2551176"/>
            <a:ext cx="173736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16212B"/>
                </a:solidFill>
                <a:latin typeface="Archivo"/>
                <a:ea typeface="Archivo"/>
                <a:cs typeface="Archivo"/>
                <a:sym typeface="Archivo"/>
              </a:rPr>
              <a:t>CASH DEPOSIT</a:t>
            </a:r>
            <a:endParaRPr/>
          </a:p>
        </p:txBody>
      </p:sp>
      <p:sp>
        <p:nvSpPr>
          <p:cNvPr id="104" name="Google Shape;104;p2"/>
          <p:cNvSpPr txBox="1"/>
          <p:nvPr/>
        </p:nvSpPr>
        <p:spPr>
          <a:xfrm>
            <a:off x="7269479" y="2551176"/>
            <a:ext cx="1097280" cy="1828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16212B"/>
                </a:solidFill>
                <a:latin typeface="Archivo"/>
                <a:ea typeface="Archivo"/>
                <a:cs typeface="Archivo"/>
                <a:sym typeface="Archivo"/>
              </a:rPr>
              <a:t>7,250,000.00</a:t>
            </a:r>
            <a:endParaRPr/>
          </a:p>
        </p:txBody>
      </p:sp>
      <p:sp>
        <p:nvSpPr>
          <p:cNvPr id="105" name="Google Shape;105;p2"/>
          <p:cNvSpPr/>
          <p:nvPr/>
        </p:nvSpPr>
        <p:spPr>
          <a:xfrm>
            <a:off x="7388352" y="2505456"/>
            <a:ext cx="1024128" cy="246888"/>
          </a:xfrm>
          <a:prstGeom prst="roundRect">
            <a:avLst>
              <a:gd fmla="val 14814" name="adj"/>
            </a:avLst>
          </a:prstGeom>
          <a:solidFill>
            <a:srgbClr val="6B4EFF">
              <a:alpha val="14118"/>
            </a:srgbClr>
          </a:solidFill>
          <a:ln cap="flat" cmpd="sng" w="15875">
            <a:solidFill>
              <a:srgbClr val="6B4E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2"/>
          <p:cNvSpPr/>
          <p:nvPr/>
        </p:nvSpPr>
        <p:spPr>
          <a:xfrm>
            <a:off x="8330183" y="2414016"/>
            <a:ext cx="164592" cy="164592"/>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800" u="none" cap="none" strike="noStrike">
                <a:solidFill>
                  <a:srgbClr val="FFFFFF"/>
                </a:solidFill>
                <a:latin typeface="Archivo"/>
                <a:ea typeface="Archivo"/>
                <a:cs typeface="Archivo"/>
                <a:sym typeface="Archivo"/>
              </a:rPr>
              <a:t>1</a:t>
            </a:r>
            <a:endParaRPr/>
          </a:p>
        </p:txBody>
      </p:sp>
      <p:sp>
        <p:nvSpPr>
          <p:cNvPr id="107" name="Google Shape;107;p2"/>
          <p:cNvSpPr txBox="1"/>
          <p:nvPr/>
        </p:nvSpPr>
        <p:spPr>
          <a:xfrm>
            <a:off x="4892040" y="3108960"/>
            <a:ext cx="7315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Medium"/>
                <a:ea typeface="Archivo Medium"/>
                <a:cs typeface="Archivo Medium"/>
                <a:sym typeface="Archivo Medium"/>
              </a:rPr>
              <a:t>Reading 1</a:t>
            </a:r>
            <a:endParaRPr/>
          </a:p>
        </p:txBody>
      </p:sp>
      <p:sp>
        <p:nvSpPr>
          <p:cNvPr id="108" name="Google Shape;108;p2"/>
          <p:cNvSpPr txBox="1"/>
          <p:nvPr/>
        </p:nvSpPr>
        <p:spPr>
          <a:xfrm>
            <a:off x="4892040" y="3282696"/>
            <a:ext cx="23774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a:ea typeface="Archivo"/>
                <a:cs typeface="Archivo"/>
                <a:sym typeface="Archivo"/>
              </a:rPr>
              <a:t>Gemini reads the page image</a:t>
            </a:r>
            <a:endParaRPr/>
          </a:p>
        </p:txBody>
      </p:sp>
      <p:sp>
        <p:nvSpPr>
          <p:cNvPr id="109" name="Google Shape;109;p2"/>
          <p:cNvSpPr txBox="1"/>
          <p:nvPr/>
        </p:nvSpPr>
        <p:spPr>
          <a:xfrm>
            <a:off x="7269479" y="3182112"/>
            <a:ext cx="114300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100" u="none" cap="none" strike="noStrike">
                <a:solidFill>
                  <a:srgbClr val="16212B"/>
                </a:solidFill>
                <a:latin typeface="Archivo"/>
                <a:ea typeface="Archivo"/>
                <a:cs typeface="Archivo"/>
                <a:sym typeface="Archivo"/>
              </a:rPr>
              <a:t>7,250,000.00</a:t>
            </a:r>
            <a:endParaRPr/>
          </a:p>
        </p:txBody>
      </p:sp>
      <p:cxnSp>
        <p:nvCxnSpPr>
          <p:cNvPr id="110" name="Google Shape;110;p2"/>
          <p:cNvCxnSpPr/>
          <p:nvPr/>
        </p:nvCxnSpPr>
        <p:spPr>
          <a:xfrm>
            <a:off x="7360920" y="3438144"/>
            <a:ext cx="1051560" cy="0"/>
          </a:xfrm>
          <a:prstGeom prst="straightConnector1">
            <a:avLst/>
          </a:prstGeom>
          <a:noFill/>
          <a:ln cap="flat" cmpd="sng" w="13950">
            <a:solidFill>
              <a:srgbClr val="828E99"/>
            </a:solidFill>
            <a:prstDash val="dot"/>
            <a:round/>
            <a:headEnd len="sm" w="sm" type="none"/>
            <a:tailEnd len="sm" w="sm" type="none"/>
          </a:ln>
        </p:spPr>
      </p:cxnSp>
      <p:sp>
        <p:nvSpPr>
          <p:cNvPr id="111" name="Google Shape;111;p2"/>
          <p:cNvSpPr txBox="1"/>
          <p:nvPr/>
        </p:nvSpPr>
        <p:spPr>
          <a:xfrm>
            <a:off x="4892040" y="3584448"/>
            <a:ext cx="7315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Medium"/>
                <a:ea typeface="Archivo Medium"/>
                <a:cs typeface="Archivo Medium"/>
                <a:sym typeface="Archivo Medium"/>
              </a:rPr>
              <a:t>Reading 2</a:t>
            </a:r>
            <a:endParaRPr/>
          </a:p>
        </p:txBody>
      </p:sp>
      <p:sp>
        <p:nvSpPr>
          <p:cNvPr id="112" name="Google Shape;112;p2"/>
          <p:cNvSpPr txBox="1"/>
          <p:nvPr/>
        </p:nvSpPr>
        <p:spPr>
          <a:xfrm>
            <a:off x="4892040" y="3758184"/>
            <a:ext cx="23774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a:ea typeface="Archivo"/>
                <a:cs typeface="Archivo"/>
                <a:sym typeface="Archivo"/>
              </a:rPr>
              <a:t>The PDF's own text layer, or Document AI OCR for scans</a:t>
            </a:r>
            <a:endParaRPr/>
          </a:p>
        </p:txBody>
      </p:sp>
      <p:sp>
        <p:nvSpPr>
          <p:cNvPr id="113" name="Google Shape;113;p2"/>
          <p:cNvSpPr txBox="1"/>
          <p:nvPr/>
        </p:nvSpPr>
        <p:spPr>
          <a:xfrm>
            <a:off x="7269479" y="3657600"/>
            <a:ext cx="114300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100" u="none" cap="none" strike="noStrike">
                <a:solidFill>
                  <a:srgbClr val="16212B"/>
                </a:solidFill>
                <a:latin typeface="Archivo"/>
                <a:ea typeface="Archivo"/>
                <a:cs typeface="Archivo"/>
                <a:sym typeface="Archivo"/>
              </a:rPr>
              <a:t>7,250,000.00</a:t>
            </a:r>
            <a:endParaRPr/>
          </a:p>
        </p:txBody>
      </p:sp>
      <p:cxnSp>
        <p:nvCxnSpPr>
          <p:cNvPr id="114" name="Google Shape;114;p2"/>
          <p:cNvCxnSpPr/>
          <p:nvPr/>
        </p:nvCxnSpPr>
        <p:spPr>
          <a:xfrm>
            <a:off x="7360920" y="3913632"/>
            <a:ext cx="1051560" cy="0"/>
          </a:xfrm>
          <a:prstGeom prst="straightConnector1">
            <a:avLst/>
          </a:prstGeom>
          <a:noFill/>
          <a:ln cap="flat" cmpd="sng" w="13950">
            <a:solidFill>
              <a:srgbClr val="828E99"/>
            </a:solidFill>
            <a:prstDash val="dot"/>
            <a:round/>
            <a:headEnd len="sm" w="sm" type="none"/>
            <a:tailEnd len="sm" w="sm" type="none"/>
          </a:ln>
        </p:spPr>
      </p:cxnSp>
      <p:cxnSp>
        <p:nvCxnSpPr>
          <p:cNvPr id="115" name="Google Shape;115;p2"/>
          <p:cNvCxnSpPr/>
          <p:nvPr/>
        </p:nvCxnSpPr>
        <p:spPr>
          <a:xfrm>
            <a:off x="4892040" y="4114800"/>
            <a:ext cx="3611880" cy="0"/>
          </a:xfrm>
          <a:prstGeom prst="straightConnector1">
            <a:avLst/>
          </a:prstGeom>
          <a:noFill/>
          <a:ln cap="flat" cmpd="sng" w="9525">
            <a:solidFill>
              <a:srgbClr val="DCE1E5"/>
            </a:solidFill>
            <a:prstDash val="solid"/>
            <a:round/>
            <a:headEnd len="sm" w="sm" type="none"/>
            <a:tailEnd len="sm" w="sm" type="none"/>
          </a:ln>
        </p:spPr>
      </p:cxnSp>
      <p:sp>
        <p:nvSpPr>
          <p:cNvPr id="116" name="Google Shape;116;p2"/>
          <p:cNvSpPr txBox="1"/>
          <p:nvPr/>
        </p:nvSpPr>
        <p:spPr>
          <a:xfrm>
            <a:off x="4892040" y="4224528"/>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Medium"/>
                <a:ea typeface="Archivo Medium"/>
                <a:cs typeface="Archivo Medium"/>
                <a:sym typeface="Archivo Medium"/>
              </a:rPr>
              <a:t>Both agree, so the value counts</a:t>
            </a:r>
            <a:endParaRPr/>
          </a:p>
        </p:txBody>
      </p:sp>
      <p:sp>
        <p:nvSpPr>
          <p:cNvPr id="117" name="Google Shape;117;p2"/>
          <p:cNvSpPr txBox="1"/>
          <p:nvPr/>
        </p:nvSpPr>
        <p:spPr>
          <a:xfrm>
            <a:off x="4892040" y="4434840"/>
            <a:ext cx="22860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Disagreement is uncertainty, never an accusation.</a:t>
            </a:r>
            <a:endParaRPr/>
          </a:p>
        </p:txBody>
      </p:sp>
      <p:sp>
        <p:nvSpPr>
          <p:cNvPr id="118" name="Google Shape;118;p2"/>
          <p:cNvSpPr txBox="1"/>
          <p:nvPr/>
        </p:nvSpPr>
        <p:spPr>
          <a:xfrm>
            <a:off x="7269479" y="4224528"/>
            <a:ext cx="114300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1300" u="none" cap="none" strike="noStrike">
                <a:solidFill>
                  <a:srgbClr val="16212B"/>
                </a:solidFill>
                <a:latin typeface="Archivo"/>
                <a:ea typeface="Archivo"/>
                <a:cs typeface="Archivo"/>
                <a:sym typeface="Archivo"/>
              </a:rPr>
              <a:t>7,250,000.00</a:t>
            </a:r>
            <a:endParaRPr/>
          </a:p>
        </p:txBody>
      </p:sp>
      <p:cxnSp>
        <p:nvCxnSpPr>
          <p:cNvPr id="119" name="Google Shape;119;p2"/>
          <p:cNvCxnSpPr/>
          <p:nvPr/>
        </p:nvCxnSpPr>
        <p:spPr>
          <a:xfrm>
            <a:off x="7242048" y="4507992"/>
            <a:ext cx="1170432" cy="0"/>
          </a:xfrm>
          <a:prstGeom prst="straightConnector1">
            <a:avLst/>
          </a:prstGeom>
          <a:noFill/>
          <a:ln cap="flat" cmpd="sng" w="11425">
            <a:solidFill>
              <a:srgbClr val="17714F"/>
            </a:solidFill>
            <a:prstDash val="solid"/>
            <a:round/>
            <a:headEnd len="sm" w="sm" type="none"/>
            <a:tailEnd len="sm" w="sm" type="none"/>
          </a:ln>
        </p:spPr>
      </p:cxnSp>
      <p:cxnSp>
        <p:nvCxnSpPr>
          <p:cNvPr id="120" name="Google Shape;120;p2"/>
          <p:cNvCxnSpPr/>
          <p:nvPr/>
        </p:nvCxnSpPr>
        <p:spPr>
          <a:xfrm>
            <a:off x="7242048" y="4539996"/>
            <a:ext cx="1170432" cy="0"/>
          </a:xfrm>
          <a:prstGeom prst="straightConnector1">
            <a:avLst/>
          </a:prstGeom>
          <a:noFill/>
          <a:ln cap="flat" cmpd="sng" w="11425">
            <a:solidFill>
              <a:srgbClr val="17714F"/>
            </a:solidFill>
            <a:prstDash val="solid"/>
            <a:round/>
            <a:headEnd len="sm" w="sm" type="none"/>
            <a:tailEnd len="sm" w="sm" type="none"/>
          </a:ln>
        </p:spPr>
      </p:cxnSp>
      <p:sp>
        <p:nvSpPr>
          <p:cNvPr id="121" name="Google Shape;121;p2"/>
          <p:cNvSpPr/>
          <p:nvPr/>
        </p:nvSpPr>
        <p:spPr>
          <a:xfrm>
            <a:off x="7653527" y="4626864"/>
            <a:ext cx="758952" cy="201168"/>
          </a:xfrm>
          <a:prstGeom prst="roundRect">
            <a:avLst>
              <a:gd fmla="val 22727" name="adj"/>
            </a:avLst>
          </a:prstGeom>
          <a:solidFill>
            <a:srgbClr val="E3F3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7717536" y="4686300"/>
            <a:ext cx="91439" cy="77724"/>
          </a:xfrm>
          <a:custGeom>
            <a:rect b="b" l="l" r="r" t="t"/>
            <a:pathLst>
              <a:path extrusionOk="0" h="77724" w="91439">
                <a:moveTo>
                  <a:pt x="0" y="45720"/>
                </a:moveTo>
                <a:lnTo>
                  <a:pt x="32918" y="77724"/>
                </a:lnTo>
                <a:lnTo>
                  <a:pt x="91439" y="0"/>
                </a:lnTo>
              </a:path>
            </a:pathLst>
          </a:custGeom>
          <a:noFill/>
          <a:ln cap="rnd" cmpd="sng" w="15875">
            <a:solidFill>
              <a:srgbClr val="176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7863840" y="4645152"/>
            <a:ext cx="530352"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17663F"/>
                </a:solidFill>
                <a:latin typeface="Archivo Medium"/>
                <a:ea typeface="Archivo Medium"/>
                <a:cs typeface="Archivo Medium"/>
                <a:sym typeface="Archivo Medium"/>
              </a:rPr>
              <a:t>Agreed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29" name="Google Shape;129;p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0" name="Google Shape;130;p3"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31" name="Google Shape;131;p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The problem</a:t>
            </a:r>
            <a:endParaRPr/>
          </a:p>
        </p:txBody>
      </p:sp>
      <p:sp>
        <p:nvSpPr>
          <p:cNvPr id="133" name="Google Shape;133;p3"/>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Small businesses close their books by hand, and three kinds of mistakes slip through</a:t>
            </a:r>
            <a:endParaRPr/>
          </a:p>
        </p:txBody>
      </p:sp>
      <p:sp>
        <p:nvSpPr>
          <p:cNvPr id="134" name="Google Shape;134;p3"/>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03</a:t>
            </a:r>
            <a:endParaRPr/>
          </a:p>
        </p:txBody>
      </p:sp>
      <p:sp>
        <p:nvSpPr>
          <p:cNvPr id="135" name="Google Shape;135;p3"/>
          <p:cNvSpPr txBox="1"/>
          <p:nvPr/>
        </p:nvSpPr>
        <p:spPr>
          <a:xfrm>
            <a:off x="411480" y="1783080"/>
            <a:ext cx="25603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56636F"/>
                </a:solidFill>
                <a:latin typeface="Archivo Medium"/>
                <a:ea typeface="Archivo Medium"/>
                <a:cs typeface="Archivo Medium"/>
                <a:sym typeface="Archivo Medium"/>
              </a:rPr>
              <a:t>Duplicates</a:t>
            </a:r>
            <a:endParaRPr/>
          </a:p>
        </p:txBody>
      </p:sp>
      <p:sp>
        <p:nvSpPr>
          <p:cNvPr id="136" name="Google Shape;136;p3"/>
          <p:cNvSpPr txBox="1"/>
          <p:nvPr/>
        </p:nvSpPr>
        <p:spPr>
          <a:xfrm>
            <a:off x="411480" y="2075688"/>
            <a:ext cx="25603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600" u="none" cap="none" strike="noStrike">
                <a:solidFill>
                  <a:srgbClr val="16212B"/>
                </a:solidFill>
                <a:latin typeface="Archivo SemiBold"/>
                <a:ea typeface="Archivo SemiBold"/>
                <a:cs typeface="Archivo SemiBold"/>
                <a:sym typeface="Archivo SemiBold"/>
              </a:rPr>
              <a:t>×2</a:t>
            </a:r>
            <a:endParaRPr/>
          </a:p>
        </p:txBody>
      </p:sp>
      <p:sp>
        <p:nvSpPr>
          <p:cNvPr id="137" name="Google Shape;137;p3"/>
          <p:cNvSpPr/>
          <p:nvPr/>
        </p:nvSpPr>
        <p:spPr>
          <a:xfrm>
            <a:off x="429768" y="2633472"/>
            <a:ext cx="822960" cy="22860"/>
          </a:xfrm>
          <a:custGeom>
            <a:rect b="b" l="l" r="r" t="t"/>
            <a:pathLst>
              <a:path extrusionOk="0" h="22860" w="822960">
                <a:moveTo>
                  <a:pt x="0" y="0"/>
                </a:moveTo>
                <a:lnTo>
                  <a:pt x="45720" y="22860"/>
                </a:lnTo>
                <a:lnTo>
                  <a:pt x="91440" y="0"/>
                </a:lnTo>
                <a:lnTo>
                  <a:pt x="137160" y="22860"/>
                </a:lnTo>
                <a:lnTo>
                  <a:pt x="182880" y="0"/>
                </a:lnTo>
                <a:lnTo>
                  <a:pt x="228600" y="22860"/>
                </a:lnTo>
                <a:lnTo>
                  <a:pt x="274320" y="0"/>
                </a:lnTo>
                <a:lnTo>
                  <a:pt x="320040" y="22860"/>
                </a:lnTo>
                <a:lnTo>
                  <a:pt x="365760" y="0"/>
                </a:lnTo>
                <a:lnTo>
                  <a:pt x="411480" y="22860"/>
                </a:lnTo>
                <a:lnTo>
                  <a:pt x="457200" y="0"/>
                </a:lnTo>
                <a:lnTo>
                  <a:pt x="502920" y="22860"/>
                </a:lnTo>
                <a:lnTo>
                  <a:pt x="548640" y="0"/>
                </a:lnTo>
                <a:lnTo>
                  <a:pt x="594360" y="22860"/>
                </a:lnTo>
                <a:lnTo>
                  <a:pt x="640080" y="0"/>
                </a:lnTo>
                <a:lnTo>
                  <a:pt x="685800" y="22860"/>
                </a:lnTo>
                <a:lnTo>
                  <a:pt x="731520" y="0"/>
                </a:lnTo>
                <a:lnTo>
                  <a:pt x="777240" y="22860"/>
                </a:lnTo>
                <a:lnTo>
                  <a:pt x="822960" y="0"/>
                </a:lnTo>
              </a:path>
            </a:pathLst>
          </a:custGeom>
          <a:noFill/>
          <a:ln cap="flat" cmpd="sng" w="11425">
            <a:solidFill>
              <a:srgbClr val="B423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411480" y="2761488"/>
            <a:ext cx="246888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050" u="none" cap="none" strike="noStrike">
                <a:solidFill>
                  <a:srgbClr val="16212B"/>
                </a:solidFill>
                <a:latin typeface="Archivo Medium"/>
                <a:ea typeface="Archivo Medium"/>
                <a:cs typeface="Archivo Medium"/>
                <a:sym typeface="Archivo Medium"/>
              </a:rPr>
              <a:t>one expense, counted twice</a:t>
            </a:r>
            <a:endParaRPr/>
          </a:p>
        </p:txBody>
      </p:sp>
      <p:sp>
        <p:nvSpPr>
          <p:cNvPr id="139" name="Google Shape;139;p3"/>
          <p:cNvSpPr txBox="1"/>
          <p:nvPr/>
        </p:nvSpPr>
        <p:spPr>
          <a:xfrm>
            <a:off x="411480" y="3310128"/>
            <a:ext cx="246888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u="none" cap="none" strike="noStrike">
                <a:solidFill>
                  <a:srgbClr val="56636F"/>
                </a:solidFill>
                <a:latin typeface="Archivo"/>
                <a:ea typeface="Archivo"/>
                <a:cs typeface="Archivo"/>
                <a:sym typeface="Archivo"/>
              </a:rPr>
              <a:t>The same statement uploaded twice, a supplier invoice scanned again, a receipt photographed by two people. Expenses are counted twice and suppliers paid twice.</a:t>
            </a:r>
            <a:endParaRPr/>
          </a:p>
        </p:txBody>
      </p:sp>
      <p:sp>
        <p:nvSpPr>
          <p:cNvPr id="140" name="Google Shape;140;p3"/>
          <p:cNvSpPr txBox="1"/>
          <p:nvPr/>
        </p:nvSpPr>
        <p:spPr>
          <a:xfrm>
            <a:off x="3291840" y="1783080"/>
            <a:ext cx="25603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56636F"/>
                </a:solidFill>
                <a:latin typeface="Archivo Medium"/>
                <a:ea typeface="Archivo Medium"/>
                <a:cs typeface="Archivo Medium"/>
                <a:sym typeface="Archivo Medium"/>
              </a:rPr>
              <a:t>Edited documents</a:t>
            </a:r>
            <a:endParaRPr/>
          </a:p>
        </p:txBody>
      </p:sp>
      <p:sp>
        <p:nvSpPr>
          <p:cNvPr id="141" name="Google Shape;141;p3"/>
          <p:cNvSpPr txBox="1"/>
          <p:nvPr/>
        </p:nvSpPr>
        <p:spPr>
          <a:xfrm>
            <a:off x="3291840" y="2075688"/>
            <a:ext cx="25603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600" u="none" cap="none" strike="noStrike">
                <a:solidFill>
                  <a:srgbClr val="16212B"/>
                </a:solidFill>
                <a:latin typeface="Archivo SemiBold"/>
                <a:ea typeface="Archivo SemiBold"/>
                <a:cs typeface="Archivo SemiBold"/>
                <a:sym typeface="Archivo SemiBold"/>
              </a:rPr>
              <a:t>85.6%</a:t>
            </a:r>
            <a:endParaRPr/>
          </a:p>
        </p:txBody>
      </p:sp>
      <p:cxnSp>
        <p:nvCxnSpPr>
          <p:cNvPr id="142" name="Google Shape;142;p3"/>
          <p:cNvCxnSpPr/>
          <p:nvPr/>
        </p:nvCxnSpPr>
        <p:spPr>
          <a:xfrm>
            <a:off x="3310128" y="2633472"/>
            <a:ext cx="1508760" cy="0"/>
          </a:xfrm>
          <a:prstGeom prst="straightConnector1">
            <a:avLst/>
          </a:prstGeom>
          <a:noFill/>
          <a:ln cap="flat" cmpd="sng" w="11425">
            <a:solidFill>
              <a:srgbClr val="16212B"/>
            </a:solidFill>
            <a:prstDash val="solid"/>
            <a:round/>
            <a:headEnd len="sm" w="sm" type="none"/>
            <a:tailEnd len="sm" w="sm" type="none"/>
          </a:ln>
        </p:spPr>
      </p:cxnSp>
      <p:cxnSp>
        <p:nvCxnSpPr>
          <p:cNvPr id="143" name="Google Shape;143;p3"/>
          <p:cNvCxnSpPr/>
          <p:nvPr/>
        </p:nvCxnSpPr>
        <p:spPr>
          <a:xfrm>
            <a:off x="3310128" y="2665476"/>
            <a:ext cx="1508760" cy="0"/>
          </a:xfrm>
          <a:prstGeom prst="straightConnector1">
            <a:avLst/>
          </a:prstGeom>
          <a:noFill/>
          <a:ln cap="flat" cmpd="sng" w="11425">
            <a:solidFill>
              <a:srgbClr val="16212B"/>
            </a:solidFill>
            <a:prstDash val="solid"/>
            <a:round/>
            <a:headEnd len="sm" w="sm" type="none"/>
            <a:tailEnd len="sm" w="sm" type="none"/>
          </a:ln>
        </p:spPr>
      </p:cxnSp>
      <p:sp>
        <p:nvSpPr>
          <p:cNvPr id="144" name="Google Shape;144;p3"/>
          <p:cNvSpPr txBox="1"/>
          <p:nvPr/>
        </p:nvSpPr>
        <p:spPr>
          <a:xfrm>
            <a:off x="3291840" y="2761488"/>
            <a:ext cx="246888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050" u="none" cap="none" strike="noStrike">
                <a:solidFill>
                  <a:srgbClr val="16212B"/>
                </a:solidFill>
                <a:latin typeface="Archivo Medium"/>
                <a:ea typeface="Archivo Medium"/>
                <a:cs typeface="Archivo Medium"/>
                <a:sym typeface="Archivo Medium"/>
              </a:rPr>
              <a:t>of fraud and risk leaders name bank statements the document most open to manipulation</a:t>
            </a:r>
            <a:endParaRPr/>
          </a:p>
        </p:txBody>
      </p:sp>
      <p:sp>
        <p:nvSpPr>
          <p:cNvPr id="145" name="Google Shape;145;p3"/>
          <p:cNvSpPr txBox="1"/>
          <p:nvPr/>
        </p:nvSpPr>
        <p:spPr>
          <a:xfrm>
            <a:off x="3291840" y="3310128"/>
            <a:ext cx="246888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u="none" cap="none" strike="noStrike">
                <a:solidFill>
                  <a:srgbClr val="56636F"/>
                </a:solidFill>
                <a:latin typeface="Archivo"/>
                <a:ea typeface="Archivo"/>
                <a:cs typeface="Archivo"/>
                <a:sym typeface="Archivo"/>
              </a:rPr>
              <a:t>Editing a PDF takes minutes. A changed amount or a balance that no longer adds up looks perfectly normal on screen.</a:t>
            </a:r>
            <a:endParaRPr/>
          </a:p>
        </p:txBody>
      </p:sp>
      <p:cxnSp>
        <p:nvCxnSpPr>
          <p:cNvPr id="146" name="Google Shape;146;p3"/>
          <p:cNvCxnSpPr/>
          <p:nvPr/>
        </p:nvCxnSpPr>
        <p:spPr>
          <a:xfrm>
            <a:off x="3127248" y="1783080"/>
            <a:ext cx="0" cy="2651760"/>
          </a:xfrm>
          <a:prstGeom prst="straightConnector1">
            <a:avLst/>
          </a:prstGeom>
          <a:noFill/>
          <a:ln cap="flat" cmpd="sng" w="9525">
            <a:solidFill>
              <a:srgbClr val="DCE1E5"/>
            </a:solidFill>
            <a:prstDash val="solid"/>
            <a:round/>
            <a:headEnd len="sm" w="sm" type="none"/>
            <a:tailEnd len="sm" w="sm" type="none"/>
          </a:ln>
        </p:spPr>
      </p:cxnSp>
      <p:sp>
        <p:nvSpPr>
          <p:cNvPr id="147" name="Google Shape;147;p3"/>
          <p:cNvSpPr txBox="1"/>
          <p:nvPr/>
        </p:nvSpPr>
        <p:spPr>
          <a:xfrm>
            <a:off x="6172200" y="1783080"/>
            <a:ext cx="25603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56636F"/>
                </a:solidFill>
                <a:latin typeface="Archivo Medium"/>
                <a:ea typeface="Archivo Medium"/>
                <a:cs typeface="Archivo Medium"/>
                <a:sym typeface="Archivo Medium"/>
              </a:rPr>
              <a:t>Diverted payments</a:t>
            </a:r>
            <a:endParaRPr/>
          </a:p>
        </p:txBody>
      </p:sp>
      <p:sp>
        <p:nvSpPr>
          <p:cNvPr id="148" name="Google Shape;148;p3"/>
          <p:cNvSpPr txBox="1"/>
          <p:nvPr/>
        </p:nvSpPr>
        <p:spPr>
          <a:xfrm>
            <a:off x="6172200" y="2075688"/>
            <a:ext cx="25603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600" u="none" cap="none" strike="noStrike">
                <a:solidFill>
                  <a:srgbClr val="16212B"/>
                </a:solidFill>
                <a:latin typeface="Archivo SemiBold"/>
                <a:ea typeface="Archivo SemiBold"/>
                <a:cs typeface="Archivo SemiBold"/>
                <a:sym typeface="Archivo SemiBold"/>
              </a:rPr>
              <a:t>USD 2.77 B</a:t>
            </a:r>
            <a:endParaRPr/>
          </a:p>
        </p:txBody>
      </p:sp>
      <p:cxnSp>
        <p:nvCxnSpPr>
          <p:cNvPr id="149" name="Google Shape;149;p3"/>
          <p:cNvCxnSpPr/>
          <p:nvPr/>
        </p:nvCxnSpPr>
        <p:spPr>
          <a:xfrm>
            <a:off x="6190488" y="2633472"/>
            <a:ext cx="2057400" cy="0"/>
          </a:xfrm>
          <a:prstGeom prst="straightConnector1">
            <a:avLst/>
          </a:prstGeom>
          <a:noFill/>
          <a:ln cap="flat" cmpd="sng" w="11425">
            <a:solidFill>
              <a:srgbClr val="16212B"/>
            </a:solidFill>
            <a:prstDash val="solid"/>
            <a:round/>
            <a:headEnd len="sm" w="sm" type="none"/>
            <a:tailEnd len="sm" w="sm" type="none"/>
          </a:ln>
        </p:spPr>
      </p:cxnSp>
      <p:cxnSp>
        <p:nvCxnSpPr>
          <p:cNvPr id="150" name="Google Shape;150;p3"/>
          <p:cNvCxnSpPr/>
          <p:nvPr/>
        </p:nvCxnSpPr>
        <p:spPr>
          <a:xfrm>
            <a:off x="6190488" y="2665476"/>
            <a:ext cx="2057400" cy="0"/>
          </a:xfrm>
          <a:prstGeom prst="straightConnector1">
            <a:avLst/>
          </a:prstGeom>
          <a:noFill/>
          <a:ln cap="flat" cmpd="sng" w="11425">
            <a:solidFill>
              <a:srgbClr val="16212B"/>
            </a:solidFill>
            <a:prstDash val="solid"/>
            <a:round/>
            <a:headEnd len="sm" w="sm" type="none"/>
            <a:tailEnd len="sm" w="sm" type="none"/>
          </a:ln>
        </p:spPr>
      </p:cxnSp>
      <p:sp>
        <p:nvSpPr>
          <p:cNvPr id="151" name="Google Shape;151;p3"/>
          <p:cNvSpPr txBox="1"/>
          <p:nvPr/>
        </p:nvSpPr>
        <p:spPr>
          <a:xfrm>
            <a:off x="6172200" y="2761488"/>
            <a:ext cx="246888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1050" u="none" cap="none" strike="noStrike">
                <a:solidFill>
                  <a:srgbClr val="16212B"/>
                </a:solidFill>
                <a:latin typeface="Archivo Medium"/>
                <a:ea typeface="Archivo Medium"/>
                <a:cs typeface="Archivo Medium"/>
                <a:sym typeface="Archivo Medium"/>
              </a:rPr>
              <a:t>lost to business email compromise in the US in 2024</a:t>
            </a:r>
            <a:endParaRPr/>
          </a:p>
        </p:txBody>
      </p:sp>
      <p:sp>
        <p:nvSpPr>
          <p:cNvPr id="152" name="Google Shape;152;p3"/>
          <p:cNvSpPr txBox="1"/>
          <p:nvPr/>
        </p:nvSpPr>
        <p:spPr>
          <a:xfrm>
            <a:off x="6172200" y="3310128"/>
            <a:ext cx="2468880" cy="100584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u="none" cap="none" strike="noStrike">
                <a:solidFill>
                  <a:srgbClr val="56636F"/>
                </a:solidFill>
                <a:latin typeface="Archivo"/>
                <a:ea typeface="Archivo"/>
                <a:cs typeface="Archivo"/>
                <a:sym typeface="Archivo"/>
              </a:rPr>
              <a:t>An invoice paid to a bank account the supplier never used before is how payment diversion works.</a:t>
            </a:r>
            <a:endParaRPr/>
          </a:p>
        </p:txBody>
      </p:sp>
      <p:cxnSp>
        <p:nvCxnSpPr>
          <p:cNvPr id="153" name="Google Shape;153;p3"/>
          <p:cNvCxnSpPr/>
          <p:nvPr/>
        </p:nvCxnSpPr>
        <p:spPr>
          <a:xfrm>
            <a:off x="6007608" y="1783080"/>
            <a:ext cx="0" cy="2651760"/>
          </a:xfrm>
          <a:prstGeom prst="straightConnector1">
            <a:avLst/>
          </a:prstGeom>
          <a:noFill/>
          <a:ln cap="flat" cmpd="sng" w="9525">
            <a:solidFill>
              <a:srgbClr val="DCE1E5"/>
            </a:solidFill>
            <a:prstDash val="solid"/>
            <a:round/>
            <a:headEnd len="sm" w="sm" type="none"/>
            <a:tailEnd len="sm" w="sm" type="none"/>
          </a:ln>
        </p:spPr>
      </p:cxnSp>
      <p:cxnSp>
        <p:nvCxnSpPr>
          <p:cNvPr id="154" name="Google Shape;154;p3"/>
          <p:cNvCxnSpPr/>
          <p:nvPr/>
        </p:nvCxnSpPr>
        <p:spPr>
          <a:xfrm>
            <a:off x="411480" y="4462272"/>
            <a:ext cx="8321040" cy="0"/>
          </a:xfrm>
          <a:prstGeom prst="straightConnector1">
            <a:avLst/>
          </a:prstGeom>
          <a:noFill/>
          <a:ln cap="flat" cmpd="sng" w="9525">
            <a:solidFill>
              <a:srgbClr val="DCE1E5"/>
            </a:solidFill>
            <a:prstDash val="solid"/>
            <a:round/>
            <a:headEnd len="sm" w="sm" type="none"/>
            <a:tailEnd len="sm" w="sm" type="none"/>
          </a:ln>
        </p:spPr>
      </p:cxnSp>
      <p:sp>
        <p:nvSpPr>
          <p:cNvPr id="155" name="Google Shape;155;p3"/>
          <p:cNvSpPr txBox="1"/>
          <p:nvPr/>
        </p:nvSpPr>
        <p:spPr>
          <a:xfrm>
            <a:off x="411480" y="4553712"/>
            <a:ext cx="566928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Medium"/>
                <a:ea typeface="Archivo Medium"/>
                <a:cs typeface="Archivo Medium"/>
                <a:sym typeface="Archivo Medium"/>
              </a:rPr>
              <a:t>Fraud costs organizations about 5% of revenue a year (ACFE). Mistakes surface weeks later, if at all; owners need the evidence, not another black-box score.</a:t>
            </a:r>
            <a:r>
              <a:rPr b="0" i="0" lang="en-US" sz="1050" u="none" cap="none" strike="noStrike">
                <a:solidFill>
                  <a:srgbClr val="16212B"/>
                </a:solidFill>
                <a:latin typeface="Archivo"/>
                <a:ea typeface="Archivo"/>
                <a:cs typeface="Archivo"/>
                <a:sym typeface="Archivo"/>
              </a:rPr>
              <a:t/>
            </a:r>
            <a:endParaRPr/>
          </a:p>
        </p:txBody>
      </p:sp>
      <p:sp>
        <p:nvSpPr>
          <p:cNvPr id="156" name="Google Shape;156;p3"/>
          <p:cNvSpPr txBox="1"/>
          <p:nvPr/>
        </p:nvSpPr>
        <p:spPr>
          <a:xfrm>
            <a:off x="6309360" y="4572000"/>
            <a:ext cx="2423160" cy="36576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None/>
            </a:pPr>
            <a:r>
              <a:rPr b="0" i="0" lang="en-US" sz="750" u="none" cap="none" strike="noStrike">
                <a:solidFill>
                  <a:srgbClr val="6B7782"/>
                </a:solidFill>
                <a:latin typeface="Archivo"/>
                <a:ea typeface="Archivo"/>
                <a:cs typeface="Archivo"/>
                <a:sym typeface="Archivo"/>
              </a:rPr>
              <a:t>Sources: Inscribe 2026 Document Fraud Report (vendor survey); FBI IC3 2024 report; ACFE Occupational Fraud 2024.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62" name="Google Shape;162;p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3" name="Google Shape;163;p4"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164" name="Google Shape;164;p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Opportunities</a:t>
            </a:r>
            <a:endParaRPr/>
          </a:p>
        </p:txBody>
      </p:sp>
      <p:sp>
        <p:nvSpPr>
          <p:cNvPr id="166" name="Google Shape;166;p4"/>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Extraction tools read a document once. Kredibel checks it against itself, the bank and the ledger</a:t>
            </a:r>
            <a:endParaRPr/>
          </a:p>
        </p:txBody>
      </p:sp>
      <p:sp>
        <p:nvSpPr>
          <p:cNvPr id="167" name="Google Shape;167;p4"/>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04</a:t>
            </a:r>
            <a:endParaRPr/>
          </a:p>
        </p:txBody>
      </p:sp>
      <p:sp>
        <p:nvSpPr>
          <p:cNvPr id="168" name="Google Shape;168;p4"/>
          <p:cNvSpPr txBox="1"/>
          <p:nvPr/>
        </p:nvSpPr>
        <p:spPr>
          <a:xfrm>
            <a:off x="1371600" y="1783080"/>
            <a:ext cx="21031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56636F"/>
                </a:solidFill>
                <a:latin typeface="Archivo Medium"/>
                <a:ea typeface="Archivo Medium"/>
                <a:cs typeface="Archivo Medium"/>
                <a:sym typeface="Archivo Medium"/>
              </a:rPr>
              <a:t>Typical OCR and expense tools</a:t>
            </a:r>
            <a:endParaRPr/>
          </a:p>
        </p:txBody>
      </p:sp>
      <p:sp>
        <p:nvSpPr>
          <p:cNvPr id="169" name="Google Shape;169;p4"/>
          <p:cNvSpPr/>
          <p:nvPr/>
        </p:nvSpPr>
        <p:spPr>
          <a:xfrm>
            <a:off x="3474720" y="1709928"/>
            <a:ext cx="2194560" cy="3035808"/>
          </a:xfrm>
          <a:prstGeom prst="roundRect">
            <a:avLst>
              <a:gd fmla="val 4999" name="adj"/>
            </a:avLst>
          </a:prstGeom>
          <a:solidFill>
            <a:srgbClr val="E7F2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4"/>
          <p:cNvSpPr/>
          <p:nvPr/>
        </p:nvSpPr>
        <p:spPr>
          <a:xfrm>
            <a:off x="3566160" y="1764792"/>
            <a:ext cx="182880" cy="182880"/>
          </a:xfrm>
          <a:prstGeom prst="roundRect">
            <a:avLst>
              <a:gd fmla="val 28125" name="adj"/>
            </a:avLst>
          </a:prstGeom>
          <a:solidFill>
            <a:srgbClr val="0E5A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p4"/>
          <p:cNvSpPr/>
          <p:nvPr/>
        </p:nvSpPr>
        <p:spPr>
          <a:xfrm>
            <a:off x="3607593" y="1797653"/>
            <a:ext cx="27146" cy="117157"/>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4"/>
          <p:cNvSpPr/>
          <p:nvPr/>
        </p:nvSpPr>
        <p:spPr>
          <a:xfrm>
            <a:off x="3639026" y="1809083"/>
            <a:ext cx="67151" cy="82867"/>
          </a:xfrm>
          <a:custGeom>
            <a:rect b="b" l="l" r="r" t="t"/>
            <a:pathLst>
              <a:path extrusionOk="0" h="82867" w="67151">
                <a:moveTo>
                  <a:pt x="0" y="52864"/>
                </a:moveTo>
                <a:lnTo>
                  <a:pt x="27146" y="82867"/>
                </a:lnTo>
                <a:lnTo>
                  <a:pt x="67151" y="0"/>
                </a:lnTo>
              </a:path>
            </a:pathLst>
          </a:custGeom>
          <a:noFill/>
          <a:ln cap="rnd" cmpd="sng" w="27125">
            <a:solidFill>
              <a:srgbClr val="9FE0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4"/>
          <p:cNvSpPr txBox="1"/>
          <p:nvPr/>
        </p:nvSpPr>
        <p:spPr>
          <a:xfrm>
            <a:off x="3813048" y="1783080"/>
            <a:ext cx="16459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0E5A47"/>
                </a:solidFill>
                <a:latin typeface="Archivo SemiBold"/>
                <a:ea typeface="Archivo SemiBold"/>
                <a:cs typeface="Archivo SemiBold"/>
                <a:sym typeface="Archivo SemiBold"/>
              </a:rPr>
              <a:t>Kredibel</a:t>
            </a:r>
            <a:endParaRPr/>
          </a:p>
        </p:txBody>
      </p:sp>
      <p:cxnSp>
        <p:nvCxnSpPr>
          <p:cNvPr id="174" name="Google Shape;174;p4"/>
          <p:cNvCxnSpPr/>
          <p:nvPr/>
        </p:nvCxnSpPr>
        <p:spPr>
          <a:xfrm>
            <a:off x="411480" y="2112264"/>
            <a:ext cx="3063240" cy="0"/>
          </a:xfrm>
          <a:prstGeom prst="straightConnector1">
            <a:avLst/>
          </a:prstGeom>
          <a:noFill/>
          <a:ln cap="flat" cmpd="sng" w="9525">
            <a:solidFill>
              <a:srgbClr val="DCE1E5"/>
            </a:solidFill>
            <a:prstDash val="solid"/>
            <a:round/>
            <a:headEnd len="sm" w="sm" type="none"/>
            <a:tailEnd len="sm" w="sm" type="none"/>
          </a:ln>
        </p:spPr>
      </p:cxnSp>
      <p:sp>
        <p:nvSpPr>
          <p:cNvPr id="175" name="Google Shape;175;p4"/>
          <p:cNvSpPr txBox="1"/>
          <p:nvPr/>
        </p:nvSpPr>
        <p:spPr>
          <a:xfrm>
            <a:off x="411480" y="2203704"/>
            <a:ext cx="914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Reading</a:t>
            </a:r>
            <a:endParaRPr/>
          </a:p>
        </p:txBody>
      </p:sp>
      <p:cxnSp>
        <p:nvCxnSpPr>
          <p:cNvPr id="176" name="Google Shape;176;p4"/>
          <p:cNvCxnSpPr/>
          <p:nvPr/>
        </p:nvCxnSpPr>
        <p:spPr>
          <a:xfrm>
            <a:off x="1371600" y="2249424"/>
            <a:ext cx="82296" cy="82296"/>
          </a:xfrm>
          <a:prstGeom prst="straightConnector1">
            <a:avLst/>
          </a:prstGeom>
          <a:noFill/>
          <a:ln cap="flat" cmpd="sng" w="15875">
            <a:solidFill>
              <a:srgbClr val="828E99"/>
            </a:solidFill>
            <a:prstDash val="solid"/>
            <a:round/>
            <a:headEnd len="sm" w="sm" type="none"/>
            <a:tailEnd len="sm" w="sm" type="none"/>
          </a:ln>
        </p:spPr>
      </p:cxnSp>
      <p:cxnSp>
        <p:nvCxnSpPr>
          <p:cNvPr id="177" name="Google Shape;177;p4"/>
          <p:cNvCxnSpPr/>
          <p:nvPr/>
        </p:nvCxnSpPr>
        <p:spPr>
          <a:xfrm flipH="1" rot="10800000">
            <a:off x="1371600" y="2249424"/>
            <a:ext cx="82296" cy="82296"/>
          </a:xfrm>
          <a:prstGeom prst="straightConnector1">
            <a:avLst/>
          </a:prstGeom>
          <a:noFill/>
          <a:ln cap="flat" cmpd="sng" w="15875">
            <a:solidFill>
              <a:srgbClr val="828E99"/>
            </a:solidFill>
            <a:prstDash val="solid"/>
            <a:round/>
            <a:headEnd len="sm" w="sm" type="none"/>
            <a:tailEnd len="sm" w="sm" type="none"/>
          </a:ln>
        </p:spPr>
      </p:cxnSp>
      <p:sp>
        <p:nvSpPr>
          <p:cNvPr id="178" name="Google Shape;178;p4"/>
          <p:cNvSpPr txBox="1"/>
          <p:nvPr/>
        </p:nvSpPr>
        <p:spPr>
          <a:xfrm>
            <a:off x="1554480" y="2203704"/>
            <a:ext cx="1828799"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Reads once and trusts the output</a:t>
            </a:r>
            <a:endParaRPr/>
          </a:p>
        </p:txBody>
      </p:sp>
      <p:sp>
        <p:nvSpPr>
          <p:cNvPr id="179" name="Google Shape;179;p4"/>
          <p:cNvSpPr/>
          <p:nvPr/>
        </p:nvSpPr>
        <p:spPr>
          <a:xfrm>
            <a:off x="3566160" y="2227935"/>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4"/>
          <p:cNvSpPr txBox="1"/>
          <p:nvPr/>
        </p:nvSpPr>
        <p:spPr>
          <a:xfrm>
            <a:off x="3767328" y="2203704"/>
            <a:ext cx="184708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Reads twice; a value counts only when both readings agree</a:t>
            </a:r>
            <a:endParaRPr/>
          </a:p>
        </p:txBody>
      </p:sp>
      <p:cxnSp>
        <p:nvCxnSpPr>
          <p:cNvPr id="181" name="Google Shape;181;p4"/>
          <p:cNvCxnSpPr/>
          <p:nvPr/>
        </p:nvCxnSpPr>
        <p:spPr>
          <a:xfrm>
            <a:off x="411480" y="2633472"/>
            <a:ext cx="3063240" cy="0"/>
          </a:xfrm>
          <a:prstGeom prst="straightConnector1">
            <a:avLst/>
          </a:prstGeom>
          <a:noFill/>
          <a:ln cap="flat" cmpd="sng" w="9525">
            <a:solidFill>
              <a:srgbClr val="DCE1E5"/>
            </a:solidFill>
            <a:prstDash val="solid"/>
            <a:round/>
            <a:headEnd len="sm" w="sm" type="none"/>
            <a:tailEnd len="sm" w="sm" type="none"/>
          </a:ln>
        </p:spPr>
      </p:cxnSp>
      <p:sp>
        <p:nvSpPr>
          <p:cNvPr id="182" name="Google Shape;182;p4"/>
          <p:cNvSpPr txBox="1"/>
          <p:nvPr/>
        </p:nvSpPr>
        <p:spPr>
          <a:xfrm>
            <a:off x="411480" y="2724912"/>
            <a:ext cx="914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Duplicates</a:t>
            </a:r>
            <a:endParaRPr/>
          </a:p>
        </p:txBody>
      </p:sp>
      <p:cxnSp>
        <p:nvCxnSpPr>
          <p:cNvPr id="183" name="Google Shape;183;p4"/>
          <p:cNvCxnSpPr/>
          <p:nvPr/>
        </p:nvCxnSpPr>
        <p:spPr>
          <a:xfrm>
            <a:off x="1371600" y="2770632"/>
            <a:ext cx="82296" cy="82295"/>
          </a:xfrm>
          <a:prstGeom prst="straightConnector1">
            <a:avLst/>
          </a:prstGeom>
          <a:noFill/>
          <a:ln cap="flat" cmpd="sng" w="15875">
            <a:solidFill>
              <a:srgbClr val="828E99"/>
            </a:solidFill>
            <a:prstDash val="solid"/>
            <a:round/>
            <a:headEnd len="sm" w="sm" type="none"/>
            <a:tailEnd len="sm" w="sm" type="none"/>
          </a:ln>
        </p:spPr>
      </p:cxnSp>
      <p:cxnSp>
        <p:nvCxnSpPr>
          <p:cNvPr id="184" name="Google Shape;184;p4"/>
          <p:cNvCxnSpPr/>
          <p:nvPr/>
        </p:nvCxnSpPr>
        <p:spPr>
          <a:xfrm flipH="1" rot="10800000">
            <a:off x="1371600" y="2770632"/>
            <a:ext cx="82296" cy="82295"/>
          </a:xfrm>
          <a:prstGeom prst="straightConnector1">
            <a:avLst/>
          </a:prstGeom>
          <a:noFill/>
          <a:ln cap="flat" cmpd="sng" w="15875">
            <a:solidFill>
              <a:srgbClr val="828E99"/>
            </a:solidFill>
            <a:prstDash val="solid"/>
            <a:round/>
            <a:headEnd len="sm" w="sm" type="none"/>
            <a:tailEnd len="sm" w="sm" type="none"/>
          </a:ln>
        </p:spPr>
      </p:cxnSp>
      <p:sp>
        <p:nvSpPr>
          <p:cNvPr id="185" name="Google Shape;185;p4"/>
          <p:cNvSpPr txBox="1"/>
          <p:nvPr/>
        </p:nvSpPr>
        <p:spPr>
          <a:xfrm>
            <a:off x="1554480" y="2724912"/>
            <a:ext cx="1828799"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Counted again</a:t>
            </a:r>
            <a:endParaRPr/>
          </a:p>
        </p:txBody>
      </p:sp>
      <p:sp>
        <p:nvSpPr>
          <p:cNvPr id="186" name="Google Shape;186;p4"/>
          <p:cNvSpPr/>
          <p:nvPr/>
        </p:nvSpPr>
        <p:spPr>
          <a:xfrm>
            <a:off x="3566160" y="2749143"/>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4"/>
          <p:cNvSpPr txBox="1"/>
          <p:nvPr/>
        </p:nvSpPr>
        <p:spPr>
          <a:xfrm>
            <a:off x="3767328" y="2724912"/>
            <a:ext cx="184708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Exact copies never read; near copies held for a person</a:t>
            </a:r>
            <a:endParaRPr/>
          </a:p>
        </p:txBody>
      </p:sp>
      <p:cxnSp>
        <p:nvCxnSpPr>
          <p:cNvPr id="188" name="Google Shape;188;p4"/>
          <p:cNvCxnSpPr/>
          <p:nvPr/>
        </p:nvCxnSpPr>
        <p:spPr>
          <a:xfrm>
            <a:off x="411480" y="3154679"/>
            <a:ext cx="3063240" cy="0"/>
          </a:xfrm>
          <a:prstGeom prst="straightConnector1">
            <a:avLst/>
          </a:prstGeom>
          <a:noFill/>
          <a:ln cap="flat" cmpd="sng" w="9525">
            <a:solidFill>
              <a:srgbClr val="DCE1E5"/>
            </a:solidFill>
            <a:prstDash val="solid"/>
            <a:round/>
            <a:headEnd len="sm" w="sm" type="none"/>
            <a:tailEnd len="sm" w="sm" type="none"/>
          </a:ln>
        </p:spPr>
      </p:cxnSp>
      <p:sp>
        <p:nvSpPr>
          <p:cNvPr id="189" name="Google Shape;189;p4"/>
          <p:cNvSpPr txBox="1"/>
          <p:nvPr/>
        </p:nvSpPr>
        <p:spPr>
          <a:xfrm>
            <a:off x="411480" y="3246120"/>
            <a:ext cx="914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Edited PDFs</a:t>
            </a:r>
            <a:endParaRPr/>
          </a:p>
        </p:txBody>
      </p:sp>
      <p:cxnSp>
        <p:nvCxnSpPr>
          <p:cNvPr id="190" name="Google Shape;190;p4"/>
          <p:cNvCxnSpPr/>
          <p:nvPr/>
        </p:nvCxnSpPr>
        <p:spPr>
          <a:xfrm>
            <a:off x="1371600" y="3291839"/>
            <a:ext cx="82296" cy="82296"/>
          </a:xfrm>
          <a:prstGeom prst="straightConnector1">
            <a:avLst/>
          </a:prstGeom>
          <a:noFill/>
          <a:ln cap="flat" cmpd="sng" w="15875">
            <a:solidFill>
              <a:srgbClr val="828E99"/>
            </a:solidFill>
            <a:prstDash val="solid"/>
            <a:round/>
            <a:headEnd len="sm" w="sm" type="none"/>
            <a:tailEnd len="sm" w="sm" type="none"/>
          </a:ln>
        </p:spPr>
      </p:cxnSp>
      <p:cxnSp>
        <p:nvCxnSpPr>
          <p:cNvPr id="191" name="Google Shape;191;p4"/>
          <p:cNvCxnSpPr/>
          <p:nvPr/>
        </p:nvCxnSpPr>
        <p:spPr>
          <a:xfrm flipH="1" rot="10800000">
            <a:off x="1371600" y="3291839"/>
            <a:ext cx="82296" cy="82296"/>
          </a:xfrm>
          <a:prstGeom prst="straightConnector1">
            <a:avLst/>
          </a:prstGeom>
          <a:noFill/>
          <a:ln cap="flat" cmpd="sng" w="15875">
            <a:solidFill>
              <a:srgbClr val="828E99"/>
            </a:solidFill>
            <a:prstDash val="solid"/>
            <a:round/>
            <a:headEnd len="sm" w="sm" type="none"/>
            <a:tailEnd len="sm" w="sm" type="none"/>
          </a:ln>
        </p:spPr>
      </p:cxnSp>
      <p:sp>
        <p:nvSpPr>
          <p:cNvPr id="192" name="Google Shape;192;p4"/>
          <p:cNvSpPr txBox="1"/>
          <p:nvPr/>
        </p:nvSpPr>
        <p:spPr>
          <a:xfrm>
            <a:off x="1554480" y="3246120"/>
            <a:ext cx="1828799"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Not checked</a:t>
            </a:r>
            <a:endParaRPr/>
          </a:p>
        </p:txBody>
      </p:sp>
      <p:sp>
        <p:nvSpPr>
          <p:cNvPr id="193" name="Google Shape;193;p4"/>
          <p:cNvSpPr/>
          <p:nvPr/>
        </p:nvSpPr>
        <p:spPr>
          <a:xfrm>
            <a:off x="3566160" y="3270351"/>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4"/>
          <p:cNvSpPr txBox="1"/>
          <p:nvPr/>
        </p:nvSpPr>
        <p:spPr>
          <a:xfrm>
            <a:off x="3767328" y="3246120"/>
            <a:ext cx="184708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Running balances, revision history, fonts in amount columns</a:t>
            </a:r>
            <a:endParaRPr/>
          </a:p>
        </p:txBody>
      </p:sp>
      <p:cxnSp>
        <p:nvCxnSpPr>
          <p:cNvPr id="195" name="Google Shape;195;p4"/>
          <p:cNvCxnSpPr/>
          <p:nvPr/>
        </p:nvCxnSpPr>
        <p:spPr>
          <a:xfrm>
            <a:off x="411480" y="3675887"/>
            <a:ext cx="3063240" cy="0"/>
          </a:xfrm>
          <a:prstGeom prst="straightConnector1">
            <a:avLst/>
          </a:prstGeom>
          <a:noFill/>
          <a:ln cap="flat" cmpd="sng" w="9525">
            <a:solidFill>
              <a:srgbClr val="DCE1E5"/>
            </a:solidFill>
            <a:prstDash val="solid"/>
            <a:round/>
            <a:headEnd len="sm" w="sm" type="none"/>
            <a:tailEnd len="sm" w="sm" type="none"/>
          </a:ln>
        </p:spPr>
      </p:cxnSp>
      <p:sp>
        <p:nvSpPr>
          <p:cNvPr id="196" name="Google Shape;196;p4"/>
          <p:cNvSpPr txBox="1"/>
          <p:nvPr/>
        </p:nvSpPr>
        <p:spPr>
          <a:xfrm>
            <a:off x="411480" y="3767327"/>
            <a:ext cx="914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Fraud signal</a:t>
            </a:r>
            <a:endParaRPr/>
          </a:p>
        </p:txBody>
      </p:sp>
      <p:cxnSp>
        <p:nvCxnSpPr>
          <p:cNvPr id="197" name="Google Shape;197;p4"/>
          <p:cNvCxnSpPr/>
          <p:nvPr/>
        </p:nvCxnSpPr>
        <p:spPr>
          <a:xfrm>
            <a:off x="1371600" y="3813048"/>
            <a:ext cx="82296" cy="82296"/>
          </a:xfrm>
          <a:prstGeom prst="straightConnector1">
            <a:avLst/>
          </a:prstGeom>
          <a:noFill/>
          <a:ln cap="flat" cmpd="sng" w="15875">
            <a:solidFill>
              <a:srgbClr val="828E99"/>
            </a:solidFill>
            <a:prstDash val="solid"/>
            <a:round/>
            <a:headEnd len="sm" w="sm" type="none"/>
            <a:tailEnd len="sm" w="sm" type="none"/>
          </a:ln>
        </p:spPr>
      </p:cxnSp>
      <p:cxnSp>
        <p:nvCxnSpPr>
          <p:cNvPr id="198" name="Google Shape;198;p4"/>
          <p:cNvCxnSpPr/>
          <p:nvPr/>
        </p:nvCxnSpPr>
        <p:spPr>
          <a:xfrm flipH="1" rot="10800000">
            <a:off x="1371600" y="3813048"/>
            <a:ext cx="82296" cy="82296"/>
          </a:xfrm>
          <a:prstGeom prst="straightConnector1">
            <a:avLst/>
          </a:prstGeom>
          <a:noFill/>
          <a:ln cap="flat" cmpd="sng" w="15875">
            <a:solidFill>
              <a:srgbClr val="828E99"/>
            </a:solidFill>
            <a:prstDash val="solid"/>
            <a:round/>
            <a:headEnd len="sm" w="sm" type="none"/>
            <a:tailEnd len="sm" w="sm" type="none"/>
          </a:ln>
        </p:spPr>
      </p:cxnSp>
      <p:sp>
        <p:nvSpPr>
          <p:cNvPr id="199" name="Google Shape;199;p4"/>
          <p:cNvSpPr txBox="1"/>
          <p:nvPr/>
        </p:nvSpPr>
        <p:spPr>
          <a:xfrm>
            <a:off x="1554480" y="3767327"/>
            <a:ext cx="1828799"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A score without reasons</a:t>
            </a:r>
            <a:endParaRPr/>
          </a:p>
        </p:txBody>
      </p:sp>
      <p:sp>
        <p:nvSpPr>
          <p:cNvPr id="200" name="Google Shape;200;p4"/>
          <p:cNvSpPr/>
          <p:nvPr/>
        </p:nvSpPr>
        <p:spPr>
          <a:xfrm>
            <a:off x="3566160" y="3791559"/>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4"/>
          <p:cNvSpPr txBox="1"/>
          <p:nvPr/>
        </p:nvSpPr>
        <p:spPr>
          <a:xfrm>
            <a:off x="3767328" y="3767327"/>
            <a:ext cx="184708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A policy file sets the level; each finding opens its page</a:t>
            </a:r>
            <a:endParaRPr/>
          </a:p>
        </p:txBody>
      </p:sp>
      <p:cxnSp>
        <p:nvCxnSpPr>
          <p:cNvPr id="202" name="Google Shape;202;p4"/>
          <p:cNvCxnSpPr/>
          <p:nvPr/>
        </p:nvCxnSpPr>
        <p:spPr>
          <a:xfrm>
            <a:off x="411480" y="4197096"/>
            <a:ext cx="3063240" cy="0"/>
          </a:xfrm>
          <a:prstGeom prst="straightConnector1">
            <a:avLst/>
          </a:prstGeom>
          <a:noFill/>
          <a:ln cap="flat" cmpd="sng" w="9525">
            <a:solidFill>
              <a:srgbClr val="DCE1E5"/>
            </a:solidFill>
            <a:prstDash val="solid"/>
            <a:round/>
            <a:headEnd len="sm" w="sm" type="none"/>
            <a:tailEnd len="sm" w="sm" type="none"/>
          </a:ln>
        </p:spPr>
      </p:cxnSp>
      <p:sp>
        <p:nvSpPr>
          <p:cNvPr id="203" name="Google Shape;203;p4"/>
          <p:cNvSpPr txBox="1"/>
          <p:nvPr/>
        </p:nvSpPr>
        <p:spPr>
          <a:xfrm>
            <a:off x="411480" y="4288536"/>
            <a:ext cx="9144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Upload order</a:t>
            </a:r>
            <a:endParaRPr/>
          </a:p>
        </p:txBody>
      </p:sp>
      <p:cxnSp>
        <p:nvCxnSpPr>
          <p:cNvPr id="204" name="Google Shape;204;p4"/>
          <p:cNvCxnSpPr/>
          <p:nvPr/>
        </p:nvCxnSpPr>
        <p:spPr>
          <a:xfrm>
            <a:off x="1371600" y="4334256"/>
            <a:ext cx="82296" cy="82296"/>
          </a:xfrm>
          <a:prstGeom prst="straightConnector1">
            <a:avLst/>
          </a:prstGeom>
          <a:noFill/>
          <a:ln cap="flat" cmpd="sng" w="15875">
            <a:solidFill>
              <a:srgbClr val="828E99"/>
            </a:solidFill>
            <a:prstDash val="solid"/>
            <a:round/>
            <a:headEnd len="sm" w="sm" type="none"/>
            <a:tailEnd len="sm" w="sm" type="none"/>
          </a:ln>
        </p:spPr>
      </p:cxnSp>
      <p:cxnSp>
        <p:nvCxnSpPr>
          <p:cNvPr id="205" name="Google Shape;205;p4"/>
          <p:cNvCxnSpPr/>
          <p:nvPr/>
        </p:nvCxnSpPr>
        <p:spPr>
          <a:xfrm flipH="1" rot="10800000">
            <a:off x="1371600" y="4334256"/>
            <a:ext cx="82296" cy="82296"/>
          </a:xfrm>
          <a:prstGeom prst="straightConnector1">
            <a:avLst/>
          </a:prstGeom>
          <a:noFill/>
          <a:ln cap="flat" cmpd="sng" w="15875">
            <a:solidFill>
              <a:srgbClr val="828E99"/>
            </a:solidFill>
            <a:prstDash val="solid"/>
            <a:round/>
            <a:headEnd len="sm" w="sm" type="none"/>
            <a:tailEnd len="sm" w="sm" type="none"/>
          </a:ln>
        </p:spPr>
      </p:cxnSp>
      <p:sp>
        <p:nvSpPr>
          <p:cNvPr id="206" name="Google Shape;206;p4"/>
          <p:cNvSpPr txBox="1"/>
          <p:nvPr/>
        </p:nvSpPr>
        <p:spPr>
          <a:xfrm>
            <a:off x="1554480" y="4288536"/>
            <a:ext cx="1828799"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Can change the result</a:t>
            </a:r>
            <a:endParaRPr/>
          </a:p>
        </p:txBody>
      </p:sp>
      <p:sp>
        <p:nvSpPr>
          <p:cNvPr id="207" name="Google Shape;207;p4"/>
          <p:cNvSpPr/>
          <p:nvPr/>
        </p:nvSpPr>
        <p:spPr>
          <a:xfrm>
            <a:off x="3566160" y="4312767"/>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4"/>
          <p:cNvSpPr txBox="1"/>
          <p:nvPr/>
        </p:nvSpPr>
        <p:spPr>
          <a:xfrm>
            <a:off x="3767328" y="4288536"/>
            <a:ext cx="184708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Same data, same result, in any order</a:t>
            </a:r>
            <a:endParaRPr/>
          </a:p>
        </p:txBody>
      </p:sp>
      <p:sp>
        <p:nvSpPr>
          <p:cNvPr id="209" name="Google Shape;209;p4"/>
          <p:cNvSpPr txBox="1"/>
          <p:nvPr/>
        </p:nvSpPr>
        <p:spPr>
          <a:xfrm>
            <a:off x="5989320" y="1783080"/>
            <a:ext cx="2743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How it solves the problem</a:t>
            </a:r>
            <a:endParaRPr/>
          </a:p>
        </p:txBody>
      </p:sp>
      <p:sp>
        <p:nvSpPr>
          <p:cNvPr id="210" name="Google Shape;210;p4"/>
          <p:cNvSpPr txBox="1"/>
          <p:nvPr/>
        </p:nvSpPr>
        <p:spPr>
          <a:xfrm>
            <a:off x="5989320" y="2011680"/>
            <a:ext cx="2743200"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1050" u="none" cap="none" strike="noStrike">
                <a:solidFill>
                  <a:srgbClr val="16212B"/>
                </a:solidFill>
                <a:latin typeface="Archivo"/>
                <a:ea typeface="Archivo"/>
                <a:cs typeface="Archivo"/>
                <a:sym typeface="Archivo"/>
              </a:rPr>
              <a:t>Duplicates are stopped at upload, edits are caught by forensics on grounded values, and diverted payments surface when reconciliation meets a supplier account it has never seen.</a:t>
            </a:r>
            <a:endParaRPr/>
          </a:p>
        </p:txBody>
      </p:sp>
      <p:sp>
        <p:nvSpPr>
          <p:cNvPr id="211" name="Google Shape;211;p4"/>
          <p:cNvSpPr/>
          <p:nvPr/>
        </p:nvSpPr>
        <p:spPr>
          <a:xfrm>
            <a:off x="5989320" y="3246120"/>
            <a:ext cx="2743200" cy="1572768"/>
          </a:xfrm>
          <a:prstGeom prst="roundRect">
            <a:avLst>
              <a:gd fmla="val 9302" name="adj"/>
            </a:avLst>
          </a:prstGeom>
          <a:solidFill>
            <a:srgbClr val="0E5A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4"/>
          <p:cNvSpPr txBox="1"/>
          <p:nvPr/>
        </p:nvSpPr>
        <p:spPr>
          <a:xfrm>
            <a:off x="6190488" y="3383280"/>
            <a:ext cx="2377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9FE0C6"/>
                </a:solidFill>
                <a:latin typeface="Archivo Medium"/>
                <a:ea typeface="Archivo Medium"/>
                <a:cs typeface="Archivo Medium"/>
                <a:sym typeface="Archivo Medium"/>
              </a:rPr>
              <a:t>Our USP</a:t>
            </a:r>
            <a:endParaRPr/>
          </a:p>
        </p:txBody>
      </p:sp>
      <p:sp>
        <p:nvSpPr>
          <p:cNvPr id="213" name="Google Shape;213;p4"/>
          <p:cNvSpPr txBox="1"/>
          <p:nvPr/>
        </p:nvSpPr>
        <p:spPr>
          <a:xfrm>
            <a:off x="6190488" y="3611880"/>
            <a:ext cx="2377440" cy="41148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400" u="none" cap="none" strike="noStrike">
                <a:solidFill>
                  <a:srgbClr val="FFFFFF"/>
                </a:solidFill>
                <a:latin typeface="Archivo SemiBold"/>
                <a:ea typeface="Archivo SemiBold"/>
                <a:cs typeface="Archivo SemiBold"/>
                <a:sym typeface="Archivo SemiBold"/>
              </a:rPr>
              <a:t>Every number has a source.</a:t>
            </a:r>
            <a:endParaRPr/>
          </a:p>
        </p:txBody>
      </p:sp>
      <p:sp>
        <p:nvSpPr>
          <p:cNvPr id="214" name="Google Shape;214;p4"/>
          <p:cNvSpPr txBox="1"/>
          <p:nvPr/>
        </p:nvSpPr>
        <p:spPr>
          <a:xfrm>
            <a:off x="6190488" y="4069080"/>
            <a:ext cx="23774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None/>
            </a:pPr>
            <a:r>
              <a:rPr b="0" i="0" lang="en-US" sz="950" u="none" cap="none" strike="noStrike">
                <a:solidFill>
                  <a:srgbClr val="CFE6DD"/>
                </a:solidFill>
                <a:latin typeface="Archivo"/>
                <a:ea typeface="Archivo"/>
                <a:cs typeface="Archivo"/>
                <a:sym typeface="Archivo"/>
              </a:rPr>
              <a:t>Every match, finding and figure opens the page and box it came from, and the AI explains while code decides.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5"/>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20" name="Google Shape;220;p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21" name="Google Shape;221;p5"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222" name="Google Shape;222;p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List of features offered by the solution</a:t>
            </a:r>
            <a:endParaRPr/>
          </a:p>
        </p:txBody>
      </p:sp>
      <p:sp>
        <p:nvSpPr>
          <p:cNvPr id="224" name="Google Shape;224;p5"/>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Seven checks between an upload and a closed month</a:t>
            </a:r>
            <a:endParaRPr/>
          </a:p>
        </p:txBody>
      </p:sp>
      <p:sp>
        <p:nvSpPr>
          <p:cNvPr id="225" name="Google Shape;225;p5"/>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05</a:t>
            </a:r>
            <a:endParaRPr/>
          </a:p>
        </p:txBody>
      </p:sp>
      <p:cxnSp>
        <p:nvCxnSpPr>
          <p:cNvPr id="226" name="Google Shape;226;p5"/>
          <p:cNvCxnSpPr/>
          <p:nvPr/>
        </p:nvCxnSpPr>
        <p:spPr>
          <a:xfrm>
            <a:off x="411480" y="1527048"/>
            <a:ext cx="3977640" cy="0"/>
          </a:xfrm>
          <a:prstGeom prst="straightConnector1">
            <a:avLst/>
          </a:prstGeom>
          <a:noFill/>
          <a:ln cap="flat" cmpd="sng" w="9525">
            <a:solidFill>
              <a:srgbClr val="DCE1E5"/>
            </a:solidFill>
            <a:prstDash val="solid"/>
            <a:round/>
            <a:headEnd len="sm" w="sm" type="none"/>
            <a:tailEnd len="sm" w="sm" type="none"/>
          </a:ln>
        </p:spPr>
      </p:cxnSp>
      <p:sp>
        <p:nvSpPr>
          <p:cNvPr id="227" name="Google Shape;227;p5"/>
          <p:cNvSpPr txBox="1"/>
          <p:nvPr/>
        </p:nvSpPr>
        <p:spPr>
          <a:xfrm>
            <a:off x="411480" y="1618488"/>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1</a:t>
            </a:r>
            <a:endParaRPr/>
          </a:p>
        </p:txBody>
      </p:sp>
      <p:sp>
        <p:nvSpPr>
          <p:cNvPr id="228" name="Google Shape;228;p5"/>
          <p:cNvSpPr txBox="1"/>
          <p:nvPr/>
        </p:nvSpPr>
        <p:spPr>
          <a:xfrm>
            <a:off x="758952" y="1618488"/>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Duplicates first</a:t>
            </a:r>
            <a:endParaRPr/>
          </a:p>
        </p:txBody>
      </p:sp>
      <p:sp>
        <p:nvSpPr>
          <p:cNvPr id="229" name="Google Shape;229;p5"/>
          <p:cNvSpPr txBox="1"/>
          <p:nvPr/>
        </p:nvSpPr>
        <p:spPr>
          <a:xfrm>
            <a:off x="758952" y="1856231"/>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Exact copies are never read again; a re-scanned invoice or re-photographed receipt is held until a person decides.</a:t>
            </a:r>
            <a:endParaRPr/>
          </a:p>
        </p:txBody>
      </p:sp>
      <p:sp>
        <p:nvSpPr>
          <p:cNvPr id="230" name="Google Shape;230;p5"/>
          <p:cNvSpPr/>
          <p:nvPr/>
        </p:nvSpPr>
        <p:spPr>
          <a:xfrm>
            <a:off x="3524097" y="1627631"/>
            <a:ext cx="30431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D01</a:t>
            </a:r>
            <a:endParaRPr/>
          </a:p>
        </p:txBody>
      </p:sp>
      <p:sp>
        <p:nvSpPr>
          <p:cNvPr id="231" name="Google Shape;231;p5"/>
          <p:cNvSpPr/>
          <p:nvPr/>
        </p:nvSpPr>
        <p:spPr>
          <a:xfrm>
            <a:off x="3874129" y="1627631"/>
            <a:ext cx="514990"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D02–D06</a:t>
            </a:r>
            <a:endParaRPr/>
          </a:p>
        </p:txBody>
      </p:sp>
      <p:cxnSp>
        <p:nvCxnSpPr>
          <p:cNvPr id="232" name="Google Shape;232;p5"/>
          <p:cNvCxnSpPr/>
          <p:nvPr/>
        </p:nvCxnSpPr>
        <p:spPr>
          <a:xfrm>
            <a:off x="411480" y="2313432"/>
            <a:ext cx="3977640" cy="0"/>
          </a:xfrm>
          <a:prstGeom prst="straightConnector1">
            <a:avLst/>
          </a:prstGeom>
          <a:noFill/>
          <a:ln cap="flat" cmpd="sng" w="9525">
            <a:solidFill>
              <a:srgbClr val="DCE1E5"/>
            </a:solidFill>
            <a:prstDash val="solid"/>
            <a:round/>
            <a:headEnd len="sm" w="sm" type="none"/>
            <a:tailEnd len="sm" w="sm" type="none"/>
          </a:ln>
        </p:spPr>
      </p:cxnSp>
      <p:sp>
        <p:nvSpPr>
          <p:cNvPr id="233" name="Google Shape;233;p5"/>
          <p:cNvSpPr txBox="1"/>
          <p:nvPr/>
        </p:nvSpPr>
        <p:spPr>
          <a:xfrm>
            <a:off x="411480" y="2404872"/>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2</a:t>
            </a:r>
            <a:endParaRPr/>
          </a:p>
        </p:txBody>
      </p:sp>
      <p:sp>
        <p:nvSpPr>
          <p:cNvPr id="234" name="Google Shape;234;p5"/>
          <p:cNvSpPr txBox="1"/>
          <p:nvPr/>
        </p:nvSpPr>
        <p:spPr>
          <a:xfrm>
            <a:off x="758952" y="2404872"/>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Read twice, pay once</a:t>
            </a:r>
            <a:endParaRPr/>
          </a:p>
        </p:txBody>
      </p:sp>
      <p:sp>
        <p:nvSpPr>
          <p:cNvPr id="235" name="Google Shape;235;p5"/>
          <p:cNvSpPr txBox="1"/>
          <p:nvPr/>
        </p:nvSpPr>
        <p:spPr>
          <a:xfrm>
            <a:off x="758952" y="2642615"/>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Gemini reads each page image; the text layer or Document AI OCR is the witness. Every value keeps its page and box.</a:t>
            </a:r>
            <a:endParaRPr/>
          </a:p>
        </p:txBody>
      </p:sp>
      <p:cxnSp>
        <p:nvCxnSpPr>
          <p:cNvPr id="236" name="Google Shape;236;p5"/>
          <p:cNvCxnSpPr/>
          <p:nvPr/>
        </p:nvCxnSpPr>
        <p:spPr>
          <a:xfrm>
            <a:off x="2971800" y="2496312"/>
            <a:ext cx="365760" cy="0"/>
          </a:xfrm>
          <a:prstGeom prst="straightConnector1">
            <a:avLst/>
          </a:prstGeom>
          <a:noFill/>
          <a:ln cap="flat" cmpd="sng" w="11425">
            <a:solidFill>
              <a:srgbClr val="17714F"/>
            </a:solidFill>
            <a:prstDash val="solid"/>
            <a:round/>
            <a:headEnd len="sm" w="sm" type="none"/>
            <a:tailEnd len="sm" w="sm" type="none"/>
          </a:ln>
        </p:spPr>
      </p:cxnSp>
      <p:cxnSp>
        <p:nvCxnSpPr>
          <p:cNvPr id="237" name="Google Shape;237;p5"/>
          <p:cNvCxnSpPr/>
          <p:nvPr/>
        </p:nvCxnSpPr>
        <p:spPr>
          <a:xfrm>
            <a:off x="2971800" y="2528316"/>
            <a:ext cx="365760" cy="0"/>
          </a:xfrm>
          <a:prstGeom prst="straightConnector1">
            <a:avLst/>
          </a:prstGeom>
          <a:noFill/>
          <a:ln cap="flat" cmpd="sng" w="11425">
            <a:solidFill>
              <a:srgbClr val="17714F"/>
            </a:solidFill>
            <a:prstDash val="solid"/>
            <a:round/>
            <a:headEnd len="sm" w="sm" type="none"/>
            <a:tailEnd len="sm" w="sm" type="none"/>
          </a:ln>
        </p:spPr>
      </p:cxnSp>
      <p:cxnSp>
        <p:nvCxnSpPr>
          <p:cNvPr id="238" name="Google Shape;238;p5"/>
          <p:cNvCxnSpPr/>
          <p:nvPr/>
        </p:nvCxnSpPr>
        <p:spPr>
          <a:xfrm>
            <a:off x="3474720" y="2505456"/>
            <a:ext cx="365760" cy="0"/>
          </a:xfrm>
          <a:prstGeom prst="straightConnector1">
            <a:avLst/>
          </a:prstGeom>
          <a:noFill/>
          <a:ln cap="flat" cmpd="sng" w="13950">
            <a:solidFill>
              <a:srgbClr val="828E99"/>
            </a:solidFill>
            <a:prstDash val="dot"/>
            <a:round/>
            <a:headEnd len="sm" w="sm" type="none"/>
            <a:tailEnd len="sm" w="sm" type="none"/>
          </a:ln>
        </p:spPr>
      </p:cxnSp>
      <p:sp>
        <p:nvSpPr>
          <p:cNvPr id="239" name="Google Shape;239;p5"/>
          <p:cNvSpPr/>
          <p:nvPr/>
        </p:nvSpPr>
        <p:spPr>
          <a:xfrm>
            <a:off x="3977639" y="2478024"/>
            <a:ext cx="365761" cy="22860"/>
          </a:xfrm>
          <a:custGeom>
            <a:rect b="b" l="l" r="r" t="t"/>
            <a:pathLst>
              <a:path extrusionOk="0" h="22860" w="365761">
                <a:moveTo>
                  <a:pt x="0" y="0"/>
                </a:moveTo>
                <a:lnTo>
                  <a:pt x="45720" y="22860"/>
                </a:lnTo>
                <a:lnTo>
                  <a:pt x="91440" y="0"/>
                </a:lnTo>
                <a:lnTo>
                  <a:pt x="137161" y="22860"/>
                </a:lnTo>
                <a:lnTo>
                  <a:pt x="182881" y="0"/>
                </a:lnTo>
                <a:lnTo>
                  <a:pt x="228601" y="22860"/>
                </a:lnTo>
                <a:lnTo>
                  <a:pt x="274320" y="0"/>
                </a:lnTo>
                <a:lnTo>
                  <a:pt x="320040" y="22860"/>
                </a:lnTo>
                <a:lnTo>
                  <a:pt x="365761" y="0"/>
                </a:lnTo>
              </a:path>
            </a:pathLst>
          </a:custGeom>
          <a:noFill/>
          <a:ln cap="flat" cmpd="sng" w="11425">
            <a:solidFill>
              <a:srgbClr val="B423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240" name="Google Shape;240;p5"/>
          <p:cNvCxnSpPr/>
          <p:nvPr/>
        </p:nvCxnSpPr>
        <p:spPr>
          <a:xfrm>
            <a:off x="411480" y="3099815"/>
            <a:ext cx="3977640" cy="0"/>
          </a:xfrm>
          <a:prstGeom prst="straightConnector1">
            <a:avLst/>
          </a:prstGeom>
          <a:noFill/>
          <a:ln cap="flat" cmpd="sng" w="9525">
            <a:solidFill>
              <a:srgbClr val="DCE1E5"/>
            </a:solidFill>
            <a:prstDash val="solid"/>
            <a:round/>
            <a:headEnd len="sm" w="sm" type="none"/>
            <a:tailEnd len="sm" w="sm" type="none"/>
          </a:ln>
        </p:spPr>
      </p:cxnSp>
      <p:sp>
        <p:nvSpPr>
          <p:cNvPr id="241" name="Google Shape;241;p5"/>
          <p:cNvSpPr txBox="1"/>
          <p:nvPr/>
        </p:nvSpPr>
        <p:spPr>
          <a:xfrm>
            <a:off x="411480" y="3191256"/>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3</a:t>
            </a:r>
            <a:endParaRPr/>
          </a:p>
        </p:txBody>
      </p:sp>
      <p:sp>
        <p:nvSpPr>
          <p:cNvPr id="242" name="Google Shape;242;p5"/>
          <p:cNvSpPr txBox="1"/>
          <p:nvPr/>
        </p:nvSpPr>
        <p:spPr>
          <a:xfrm>
            <a:off x="758952" y="3191256"/>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Ledger files by code</a:t>
            </a:r>
            <a:endParaRPr/>
          </a:p>
        </p:txBody>
      </p:sp>
      <p:sp>
        <p:nvSpPr>
          <p:cNvPr id="243" name="Google Shape;243;p5"/>
          <p:cNvSpPr txBox="1"/>
          <p:nvPr/>
        </p:nvSpPr>
        <p:spPr>
          <a:xfrm>
            <a:off x="758952" y="3428999"/>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Code maps columns from header words and value shapes; Gemini only for headers it cannot place; confirmed once per layout.</a:t>
            </a:r>
            <a:endParaRPr/>
          </a:p>
        </p:txBody>
      </p:sp>
      <p:sp>
        <p:nvSpPr>
          <p:cNvPr id="244" name="Google Shape;244;p5"/>
          <p:cNvSpPr/>
          <p:nvPr/>
        </p:nvSpPr>
        <p:spPr>
          <a:xfrm>
            <a:off x="3452774" y="3200399"/>
            <a:ext cx="936345"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Once per layout</a:t>
            </a:r>
            <a:endParaRPr/>
          </a:p>
        </p:txBody>
      </p:sp>
      <p:cxnSp>
        <p:nvCxnSpPr>
          <p:cNvPr id="245" name="Google Shape;245;p5"/>
          <p:cNvCxnSpPr/>
          <p:nvPr/>
        </p:nvCxnSpPr>
        <p:spPr>
          <a:xfrm>
            <a:off x="411480" y="3886200"/>
            <a:ext cx="3977640" cy="0"/>
          </a:xfrm>
          <a:prstGeom prst="straightConnector1">
            <a:avLst/>
          </a:prstGeom>
          <a:noFill/>
          <a:ln cap="flat" cmpd="sng" w="9525">
            <a:solidFill>
              <a:srgbClr val="DCE1E5"/>
            </a:solidFill>
            <a:prstDash val="solid"/>
            <a:round/>
            <a:headEnd len="sm" w="sm" type="none"/>
            <a:tailEnd len="sm" w="sm" type="none"/>
          </a:ln>
        </p:spPr>
      </p:cxnSp>
      <p:sp>
        <p:nvSpPr>
          <p:cNvPr id="246" name="Google Shape;246;p5"/>
          <p:cNvSpPr txBox="1"/>
          <p:nvPr/>
        </p:nvSpPr>
        <p:spPr>
          <a:xfrm>
            <a:off x="411480" y="397764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4</a:t>
            </a:r>
            <a:endParaRPr/>
          </a:p>
        </p:txBody>
      </p:sp>
      <p:sp>
        <p:nvSpPr>
          <p:cNvPr id="247" name="Google Shape;247;p5"/>
          <p:cNvSpPr txBox="1"/>
          <p:nvPr/>
        </p:nvSpPr>
        <p:spPr>
          <a:xfrm>
            <a:off x="758952" y="3977640"/>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Forensics</a:t>
            </a:r>
            <a:endParaRPr/>
          </a:p>
        </p:txBody>
      </p:sp>
      <p:sp>
        <p:nvSpPr>
          <p:cNvPr id="248" name="Google Shape;248;p5"/>
          <p:cNvSpPr txBox="1"/>
          <p:nvPr/>
        </p:nvSpPr>
        <p:spPr>
          <a:xfrm>
            <a:off x="758952" y="4215384"/>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Running balances, totals, PDF revision history, odd fonts in amount columns, statement continuity, a supplier's new account.</a:t>
            </a:r>
            <a:endParaRPr/>
          </a:p>
        </p:txBody>
      </p:sp>
      <p:sp>
        <p:nvSpPr>
          <p:cNvPr id="249" name="Google Shape;249;p5"/>
          <p:cNvSpPr/>
          <p:nvPr/>
        </p:nvSpPr>
        <p:spPr>
          <a:xfrm>
            <a:off x="2684678" y="3986784"/>
            <a:ext cx="30431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A01</a:t>
            </a:r>
            <a:endParaRPr/>
          </a:p>
        </p:txBody>
      </p:sp>
      <p:sp>
        <p:nvSpPr>
          <p:cNvPr id="250" name="Google Shape;250;p5"/>
          <p:cNvSpPr/>
          <p:nvPr/>
        </p:nvSpPr>
        <p:spPr>
          <a:xfrm>
            <a:off x="3034710" y="3986784"/>
            <a:ext cx="30431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M03</a:t>
            </a:r>
            <a:endParaRPr/>
          </a:p>
        </p:txBody>
      </p:sp>
      <p:sp>
        <p:nvSpPr>
          <p:cNvPr id="251" name="Google Shape;251;p5"/>
          <p:cNvSpPr/>
          <p:nvPr/>
        </p:nvSpPr>
        <p:spPr>
          <a:xfrm>
            <a:off x="3384743" y="3986784"/>
            <a:ext cx="30431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M04</a:t>
            </a:r>
            <a:endParaRPr/>
          </a:p>
        </p:txBody>
      </p:sp>
      <p:sp>
        <p:nvSpPr>
          <p:cNvPr id="252" name="Google Shape;252;p5"/>
          <p:cNvSpPr/>
          <p:nvPr/>
        </p:nvSpPr>
        <p:spPr>
          <a:xfrm>
            <a:off x="3734775" y="3986784"/>
            <a:ext cx="30431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X01</a:t>
            </a:r>
            <a:endParaRPr/>
          </a:p>
        </p:txBody>
      </p:sp>
      <p:sp>
        <p:nvSpPr>
          <p:cNvPr id="253" name="Google Shape;253;p5"/>
          <p:cNvSpPr/>
          <p:nvPr/>
        </p:nvSpPr>
        <p:spPr>
          <a:xfrm>
            <a:off x="4084807" y="3986784"/>
            <a:ext cx="30431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X08</a:t>
            </a:r>
            <a:endParaRPr/>
          </a:p>
        </p:txBody>
      </p:sp>
      <p:cxnSp>
        <p:nvCxnSpPr>
          <p:cNvPr id="254" name="Google Shape;254;p5"/>
          <p:cNvCxnSpPr/>
          <p:nvPr/>
        </p:nvCxnSpPr>
        <p:spPr>
          <a:xfrm>
            <a:off x="4709160" y="1527048"/>
            <a:ext cx="3977640" cy="0"/>
          </a:xfrm>
          <a:prstGeom prst="straightConnector1">
            <a:avLst/>
          </a:prstGeom>
          <a:noFill/>
          <a:ln cap="flat" cmpd="sng" w="9525">
            <a:solidFill>
              <a:srgbClr val="DCE1E5"/>
            </a:solidFill>
            <a:prstDash val="solid"/>
            <a:round/>
            <a:headEnd len="sm" w="sm" type="none"/>
            <a:tailEnd len="sm" w="sm" type="none"/>
          </a:ln>
        </p:spPr>
      </p:cxnSp>
      <p:sp>
        <p:nvSpPr>
          <p:cNvPr id="255" name="Google Shape;255;p5"/>
          <p:cNvSpPr txBox="1"/>
          <p:nvPr/>
        </p:nvSpPr>
        <p:spPr>
          <a:xfrm>
            <a:off x="4709160" y="1618488"/>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5</a:t>
            </a:r>
            <a:endParaRPr/>
          </a:p>
        </p:txBody>
      </p:sp>
      <p:sp>
        <p:nvSpPr>
          <p:cNvPr id="256" name="Google Shape;256;p5"/>
          <p:cNvSpPr txBox="1"/>
          <p:nvPr/>
        </p:nvSpPr>
        <p:spPr>
          <a:xfrm>
            <a:off x="5056632" y="1618488"/>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Self-reconciling months</a:t>
            </a:r>
            <a:endParaRPr/>
          </a:p>
        </p:txBody>
      </p:sp>
      <p:sp>
        <p:nvSpPr>
          <p:cNvPr id="257" name="Google Shape;257;p5"/>
          <p:cNvSpPr txBox="1"/>
          <p:nvPr/>
        </p:nvSpPr>
        <p:spPr>
          <a:xfrm>
            <a:off x="5056632" y="1856231"/>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Exact, split, net-of-tax and ledger matches with reasons; only unique, high-scoring matches are automatic.</a:t>
            </a:r>
            <a:endParaRPr/>
          </a:p>
        </p:txBody>
      </p:sp>
      <p:sp>
        <p:nvSpPr>
          <p:cNvPr id="258" name="Google Shape;258;p5"/>
          <p:cNvSpPr/>
          <p:nvPr/>
        </p:nvSpPr>
        <p:spPr>
          <a:xfrm>
            <a:off x="7697784" y="1627631"/>
            <a:ext cx="989015"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Any upload order</a:t>
            </a:r>
            <a:endParaRPr/>
          </a:p>
        </p:txBody>
      </p:sp>
      <p:cxnSp>
        <p:nvCxnSpPr>
          <p:cNvPr id="259" name="Google Shape;259;p5"/>
          <p:cNvCxnSpPr/>
          <p:nvPr/>
        </p:nvCxnSpPr>
        <p:spPr>
          <a:xfrm>
            <a:off x="4709160" y="2313432"/>
            <a:ext cx="3977640" cy="0"/>
          </a:xfrm>
          <a:prstGeom prst="straightConnector1">
            <a:avLst/>
          </a:prstGeom>
          <a:noFill/>
          <a:ln cap="flat" cmpd="sng" w="9525">
            <a:solidFill>
              <a:srgbClr val="DCE1E5"/>
            </a:solidFill>
            <a:prstDash val="solid"/>
            <a:round/>
            <a:headEnd len="sm" w="sm" type="none"/>
            <a:tailEnd len="sm" w="sm" type="none"/>
          </a:ln>
        </p:spPr>
      </p:cxnSp>
      <p:sp>
        <p:nvSpPr>
          <p:cNvPr id="260" name="Google Shape;260;p5"/>
          <p:cNvSpPr txBox="1"/>
          <p:nvPr/>
        </p:nvSpPr>
        <p:spPr>
          <a:xfrm>
            <a:off x="4709160" y="2404872"/>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6</a:t>
            </a:r>
            <a:endParaRPr/>
          </a:p>
        </p:txBody>
      </p:sp>
      <p:sp>
        <p:nvSpPr>
          <p:cNvPr id="261" name="Google Shape;261;p5"/>
          <p:cNvSpPr txBox="1"/>
          <p:nvPr/>
        </p:nvSpPr>
        <p:spPr>
          <a:xfrm>
            <a:off x="5056632" y="2404872"/>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Short review queue</a:t>
            </a:r>
            <a:endParaRPr/>
          </a:p>
        </p:txBody>
      </p:sp>
      <p:sp>
        <p:nvSpPr>
          <p:cNvPr id="262" name="Google Shape;262;p5"/>
          <p:cNvSpPr txBox="1"/>
          <p:nvPr/>
        </p:nvSpPr>
        <p:spPr>
          <a:xfrm>
            <a:off x="5056632" y="2642615"/>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Proposed matches, missing documents, possible copies and uncertain values, each with the evidence and only the fixes that make sense.</a:t>
            </a:r>
            <a:endParaRPr/>
          </a:p>
        </p:txBody>
      </p:sp>
      <p:sp>
        <p:nvSpPr>
          <p:cNvPr id="263" name="Google Shape;263;p5"/>
          <p:cNvSpPr/>
          <p:nvPr/>
        </p:nvSpPr>
        <p:spPr>
          <a:xfrm>
            <a:off x="7645115" y="2414015"/>
            <a:ext cx="1041684"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Every fix audited</a:t>
            </a:r>
            <a:endParaRPr/>
          </a:p>
        </p:txBody>
      </p:sp>
      <p:cxnSp>
        <p:nvCxnSpPr>
          <p:cNvPr id="264" name="Google Shape;264;p5"/>
          <p:cNvCxnSpPr/>
          <p:nvPr/>
        </p:nvCxnSpPr>
        <p:spPr>
          <a:xfrm>
            <a:off x="4709160" y="3099815"/>
            <a:ext cx="3977640" cy="0"/>
          </a:xfrm>
          <a:prstGeom prst="straightConnector1">
            <a:avLst/>
          </a:prstGeom>
          <a:noFill/>
          <a:ln cap="flat" cmpd="sng" w="9525">
            <a:solidFill>
              <a:srgbClr val="DCE1E5"/>
            </a:solidFill>
            <a:prstDash val="solid"/>
            <a:round/>
            <a:headEnd len="sm" w="sm" type="none"/>
            <a:tailEnd len="sm" w="sm" type="none"/>
          </a:ln>
        </p:spPr>
      </p:cxnSp>
      <p:sp>
        <p:nvSpPr>
          <p:cNvPr id="265" name="Google Shape;265;p5"/>
          <p:cNvSpPr txBox="1"/>
          <p:nvPr/>
        </p:nvSpPr>
        <p:spPr>
          <a:xfrm>
            <a:off x="4709160" y="3191256"/>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E5A47"/>
                </a:solidFill>
                <a:latin typeface="Archivo"/>
                <a:ea typeface="Archivo"/>
                <a:cs typeface="Archivo"/>
                <a:sym typeface="Archivo"/>
              </a:rPr>
              <a:t>7</a:t>
            </a:r>
            <a:endParaRPr/>
          </a:p>
        </p:txBody>
      </p:sp>
      <p:sp>
        <p:nvSpPr>
          <p:cNvPr id="266" name="Google Shape;266;p5"/>
          <p:cNvSpPr txBox="1"/>
          <p:nvPr/>
        </p:nvSpPr>
        <p:spPr>
          <a:xfrm>
            <a:off x="5056632" y="3191256"/>
            <a:ext cx="21945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Explainable risk</a:t>
            </a:r>
            <a:endParaRPr/>
          </a:p>
        </p:txBody>
      </p:sp>
      <p:sp>
        <p:nvSpPr>
          <p:cNvPr id="267" name="Google Shape;267;p5"/>
          <p:cNvSpPr txBox="1"/>
          <p:nvPr/>
        </p:nvSpPr>
        <p:spPr>
          <a:xfrm>
            <a:off x="5056632" y="3428999"/>
            <a:ext cx="363016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A policy file sets each month's level; Gemini explains it and orders the next steps; a grounding guard checks every number it writes.</a:t>
            </a:r>
            <a:endParaRPr/>
          </a:p>
        </p:txBody>
      </p:sp>
      <p:sp>
        <p:nvSpPr>
          <p:cNvPr id="268" name="Google Shape;268;p5"/>
          <p:cNvSpPr/>
          <p:nvPr/>
        </p:nvSpPr>
        <p:spPr>
          <a:xfrm>
            <a:off x="6793992" y="3191256"/>
            <a:ext cx="574243" cy="173736"/>
          </a:xfrm>
          <a:prstGeom prst="roundRect">
            <a:avLst>
              <a:gd fmla="val 26315" name="adj"/>
            </a:avLst>
          </a:prstGeom>
          <a:solidFill>
            <a:srgbClr val="FDEC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B42318"/>
                </a:solidFill>
                <a:latin typeface="Archivo Medium"/>
                <a:ea typeface="Archivo Medium"/>
                <a:cs typeface="Archivo Medium"/>
                <a:sym typeface="Archivo Medium"/>
              </a:rPr>
              <a:t>Critical</a:t>
            </a:r>
            <a:endParaRPr/>
          </a:p>
        </p:txBody>
      </p:sp>
      <p:sp>
        <p:nvSpPr>
          <p:cNvPr id="269" name="Google Shape;269;p5"/>
          <p:cNvSpPr/>
          <p:nvPr/>
        </p:nvSpPr>
        <p:spPr>
          <a:xfrm>
            <a:off x="7404811" y="3191256"/>
            <a:ext cx="360273" cy="173736"/>
          </a:xfrm>
          <a:prstGeom prst="roundRect">
            <a:avLst>
              <a:gd fmla="val 26315" name="adj"/>
            </a:avLst>
          </a:prstGeom>
          <a:solidFill>
            <a:srgbClr val="FEF0E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A6420A"/>
                </a:solidFill>
                <a:latin typeface="Archivo Medium"/>
                <a:ea typeface="Archivo Medium"/>
                <a:cs typeface="Archivo Medium"/>
                <a:sym typeface="Archivo Medium"/>
              </a:rPr>
              <a:t>High</a:t>
            </a:r>
            <a:endParaRPr/>
          </a:p>
        </p:txBody>
      </p:sp>
      <p:sp>
        <p:nvSpPr>
          <p:cNvPr id="270" name="Google Shape;270;p5"/>
          <p:cNvSpPr/>
          <p:nvPr/>
        </p:nvSpPr>
        <p:spPr>
          <a:xfrm>
            <a:off x="7801660" y="3191256"/>
            <a:ext cx="467258" cy="173736"/>
          </a:xfrm>
          <a:prstGeom prst="roundRect">
            <a:avLst>
              <a:gd fmla="val 26315" name="adj"/>
            </a:avLst>
          </a:prstGeom>
          <a:solidFill>
            <a:srgbClr val="FFF5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7F5A00"/>
                </a:solidFill>
                <a:latin typeface="Archivo Medium"/>
                <a:ea typeface="Archivo Medium"/>
                <a:cs typeface="Archivo Medium"/>
                <a:sym typeface="Archivo Medium"/>
              </a:rPr>
              <a:t>Medium</a:t>
            </a:r>
            <a:endParaRPr/>
          </a:p>
        </p:txBody>
      </p:sp>
      <p:sp>
        <p:nvSpPr>
          <p:cNvPr id="271" name="Google Shape;271;p5"/>
          <p:cNvSpPr/>
          <p:nvPr/>
        </p:nvSpPr>
        <p:spPr>
          <a:xfrm>
            <a:off x="8305495" y="3191256"/>
            <a:ext cx="306781" cy="173736"/>
          </a:xfrm>
          <a:prstGeom prst="roundRect">
            <a:avLst>
              <a:gd fmla="val 26315" name="adj"/>
            </a:avLst>
          </a:prstGeom>
          <a:solidFill>
            <a:srgbClr val="E8EFF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2F5C93"/>
                </a:solidFill>
                <a:latin typeface="Archivo Medium"/>
                <a:ea typeface="Archivo Medium"/>
                <a:cs typeface="Archivo Medium"/>
                <a:sym typeface="Archivo Medium"/>
              </a:rPr>
              <a:t>Low</a:t>
            </a:r>
            <a:endParaRPr/>
          </a:p>
        </p:txBody>
      </p:sp>
      <p:cxnSp>
        <p:nvCxnSpPr>
          <p:cNvPr id="272" name="Google Shape;272;p5"/>
          <p:cNvCxnSpPr/>
          <p:nvPr/>
        </p:nvCxnSpPr>
        <p:spPr>
          <a:xfrm>
            <a:off x="4709160" y="3886200"/>
            <a:ext cx="3977640" cy="0"/>
          </a:xfrm>
          <a:prstGeom prst="straightConnector1">
            <a:avLst/>
          </a:prstGeom>
          <a:noFill/>
          <a:ln cap="flat" cmpd="sng" w="9525">
            <a:solidFill>
              <a:srgbClr val="DCE1E5"/>
            </a:solidFill>
            <a:prstDash val="solid"/>
            <a:round/>
            <a:headEnd len="sm" w="sm" type="none"/>
            <a:tailEnd len="sm" w="sm" type="none"/>
          </a:ln>
        </p:spPr>
      </p:cxnSp>
      <p:sp>
        <p:nvSpPr>
          <p:cNvPr id="273" name="Google Shape;273;p5"/>
          <p:cNvSpPr txBox="1"/>
          <p:nvPr/>
        </p:nvSpPr>
        <p:spPr>
          <a:xfrm>
            <a:off x="4709160" y="3977640"/>
            <a:ext cx="3977639"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Around it</a:t>
            </a:r>
            <a:endParaRPr/>
          </a:p>
        </p:txBody>
      </p:sp>
      <p:sp>
        <p:nvSpPr>
          <p:cNvPr id="274" name="Google Shape;274;p5"/>
          <p:cNvSpPr txBox="1"/>
          <p:nvPr/>
        </p:nvSpPr>
        <p:spPr>
          <a:xfrm>
            <a:off x="4709160" y="4197096"/>
            <a:ext cx="3977639"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16212B"/>
                </a:solidFill>
                <a:latin typeface="Archivo"/>
                <a:ea typeface="Archivo"/>
                <a:cs typeface="Archivo"/>
                <a:sym typeface="Archivo"/>
              </a:rPr>
              <a:t>Dashboard against what the owner expected, money-flow Sankey and P&amp;L; Transactions with each line's IFRS and US GAAP class; a Finance Assistant that cites its sources; labels people confirm; every run traced; a public demo account and a guided tour.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6"/>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80" name="Google Shape;280;p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281" name="Google Shape;281;p6"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282" name="Google Shape;282;p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6"/>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Process flow diagram</a:t>
            </a:r>
            <a:endParaRPr/>
          </a:p>
        </p:txBody>
      </p:sp>
      <p:sp>
        <p:nvSpPr>
          <p:cNvPr id="284" name="Google Shape;284;p6"/>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One upload, from any file to a month you can trust</a:t>
            </a:r>
            <a:endParaRPr/>
          </a:p>
        </p:txBody>
      </p:sp>
      <p:sp>
        <p:nvSpPr>
          <p:cNvPr id="285" name="Google Shape;285;p6"/>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06</a:t>
            </a:r>
            <a:endParaRPr/>
          </a:p>
        </p:txBody>
      </p:sp>
      <p:sp>
        <p:nvSpPr>
          <p:cNvPr id="286" name="Google Shape;286;p6"/>
          <p:cNvSpPr/>
          <p:nvPr/>
        </p:nvSpPr>
        <p:spPr>
          <a:xfrm>
            <a:off x="411480" y="1783080"/>
            <a:ext cx="1481328" cy="1143000"/>
          </a:xfrm>
          <a:prstGeom prst="roundRect">
            <a:avLst>
              <a:gd fmla="val 9600"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6"/>
          <p:cNvSpPr txBox="1"/>
          <p:nvPr/>
        </p:nvSpPr>
        <p:spPr>
          <a:xfrm>
            <a:off x="539496" y="1892808"/>
            <a:ext cx="2743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a:t>
            </a:r>
            <a:endParaRPr/>
          </a:p>
        </p:txBody>
      </p:sp>
      <p:sp>
        <p:nvSpPr>
          <p:cNvPr id="288" name="Google Shape;288;p6"/>
          <p:cNvSpPr txBox="1"/>
          <p:nvPr/>
        </p:nvSpPr>
        <p:spPr>
          <a:xfrm>
            <a:off x="539496" y="2075688"/>
            <a:ext cx="1252728" cy="27432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Upload anything</a:t>
            </a:r>
            <a:endParaRPr/>
          </a:p>
        </p:txBody>
      </p:sp>
      <p:sp>
        <p:nvSpPr>
          <p:cNvPr id="289" name="Google Shape;289;p6"/>
          <p:cNvSpPr txBox="1"/>
          <p:nvPr/>
        </p:nvSpPr>
        <p:spPr>
          <a:xfrm>
            <a:off x="539496" y="2350008"/>
            <a:ext cx="1252728"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Statements, invoices, receipts, ledger export, any order</a:t>
            </a:r>
            <a:endParaRPr/>
          </a:p>
        </p:txBody>
      </p:sp>
      <p:cxnSp>
        <p:nvCxnSpPr>
          <p:cNvPr id="290" name="Google Shape;290;p6"/>
          <p:cNvCxnSpPr/>
          <p:nvPr/>
        </p:nvCxnSpPr>
        <p:spPr>
          <a:xfrm>
            <a:off x="1920240" y="2354580"/>
            <a:ext cx="246888" cy="0"/>
          </a:xfrm>
          <a:prstGeom prst="straightConnector1">
            <a:avLst/>
          </a:prstGeom>
          <a:noFill/>
          <a:ln cap="flat" cmpd="sng" w="13950">
            <a:solidFill>
              <a:srgbClr val="828E99"/>
            </a:solidFill>
            <a:prstDash val="solid"/>
            <a:round/>
            <a:headEnd len="sm" w="sm" type="none"/>
            <a:tailEnd len="med" w="med" type="triangle"/>
          </a:ln>
        </p:spPr>
      </p:cxnSp>
      <p:sp>
        <p:nvSpPr>
          <p:cNvPr id="291" name="Google Shape;291;p6"/>
          <p:cNvSpPr/>
          <p:nvPr/>
        </p:nvSpPr>
        <p:spPr>
          <a:xfrm>
            <a:off x="411480" y="3035808"/>
            <a:ext cx="462320" cy="182880"/>
          </a:xfrm>
          <a:prstGeom prst="roundRect">
            <a:avLst>
              <a:gd fmla="val 25000" name="adj"/>
            </a:avLst>
          </a:prstGeom>
          <a:solidFill>
            <a:srgbClr val="E7F2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0E5A47"/>
                </a:solidFill>
                <a:latin typeface="Archivo Medium"/>
                <a:ea typeface="Archivo Medium"/>
                <a:cs typeface="Archivo Medium"/>
                <a:sym typeface="Archivo Medium"/>
              </a:rPr>
              <a:t>Person</a:t>
            </a:r>
            <a:endParaRPr/>
          </a:p>
        </p:txBody>
      </p:sp>
      <p:sp>
        <p:nvSpPr>
          <p:cNvPr id="292" name="Google Shape;292;p6"/>
          <p:cNvSpPr/>
          <p:nvPr/>
        </p:nvSpPr>
        <p:spPr>
          <a:xfrm>
            <a:off x="2194560" y="1783080"/>
            <a:ext cx="1481328" cy="1143000"/>
          </a:xfrm>
          <a:prstGeom prst="roundRect">
            <a:avLst>
              <a:gd fmla="val 9600" name="adj"/>
            </a:avLst>
          </a:prstGeom>
          <a:solidFill>
            <a:srgbClr val="FFFFFF"/>
          </a:solidFill>
          <a:ln cap="flat" cmpd="sng" w="15875">
            <a:solidFill>
              <a:srgbClr val="6B4E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6"/>
          <p:cNvSpPr txBox="1"/>
          <p:nvPr/>
        </p:nvSpPr>
        <p:spPr>
          <a:xfrm>
            <a:off x="2322576" y="1892808"/>
            <a:ext cx="2743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2</a:t>
            </a:r>
            <a:endParaRPr/>
          </a:p>
        </p:txBody>
      </p:sp>
      <p:sp>
        <p:nvSpPr>
          <p:cNvPr id="294" name="Google Shape;294;p6"/>
          <p:cNvSpPr txBox="1"/>
          <p:nvPr/>
        </p:nvSpPr>
        <p:spPr>
          <a:xfrm>
            <a:off x="2322576" y="2075688"/>
            <a:ext cx="1252728" cy="27432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Read twice</a:t>
            </a:r>
            <a:endParaRPr/>
          </a:p>
        </p:txBody>
      </p:sp>
      <p:sp>
        <p:nvSpPr>
          <p:cNvPr id="295" name="Google Shape;295;p6"/>
          <p:cNvSpPr txBox="1"/>
          <p:nvPr/>
        </p:nvSpPr>
        <p:spPr>
          <a:xfrm>
            <a:off x="2322576" y="2350008"/>
            <a:ext cx="1252728"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Gemini on the page image; text layer or OCR as the witness</a:t>
            </a:r>
            <a:endParaRPr/>
          </a:p>
        </p:txBody>
      </p:sp>
      <p:cxnSp>
        <p:nvCxnSpPr>
          <p:cNvPr id="296" name="Google Shape;296;p6"/>
          <p:cNvCxnSpPr/>
          <p:nvPr/>
        </p:nvCxnSpPr>
        <p:spPr>
          <a:xfrm>
            <a:off x="3703320" y="2354580"/>
            <a:ext cx="246888" cy="0"/>
          </a:xfrm>
          <a:prstGeom prst="straightConnector1">
            <a:avLst/>
          </a:prstGeom>
          <a:noFill/>
          <a:ln cap="flat" cmpd="sng" w="13950">
            <a:solidFill>
              <a:srgbClr val="828E99"/>
            </a:solidFill>
            <a:prstDash val="solid"/>
            <a:round/>
            <a:headEnd len="sm" w="sm" type="none"/>
            <a:tailEnd len="med" w="med" type="triangle"/>
          </a:ln>
        </p:spPr>
      </p:cxnSp>
      <p:sp>
        <p:nvSpPr>
          <p:cNvPr id="297" name="Google Shape;297;p6"/>
          <p:cNvSpPr/>
          <p:nvPr/>
        </p:nvSpPr>
        <p:spPr>
          <a:xfrm>
            <a:off x="2194560" y="3035808"/>
            <a:ext cx="462320"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4A2FCC"/>
                </a:solidFill>
                <a:latin typeface="Archivo Medium"/>
                <a:ea typeface="Archivo Medium"/>
                <a:cs typeface="Archivo Medium"/>
                <a:sym typeface="Archivo Medium"/>
              </a:rPr>
              <a:t>Gemini</a:t>
            </a:r>
            <a:endParaRPr/>
          </a:p>
        </p:txBody>
      </p:sp>
      <p:sp>
        <p:nvSpPr>
          <p:cNvPr id="298" name="Google Shape;298;p6"/>
          <p:cNvSpPr/>
          <p:nvPr/>
        </p:nvSpPr>
        <p:spPr>
          <a:xfrm>
            <a:off x="2702600" y="3035808"/>
            <a:ext cx="725667"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4A2FCC"/>
                </a:solidFill>
                <a:latin typeface="Archivo Medium"/>
                <a:ea typeface="Archivo Medium"/>
                <a:cs typeface="Archivo Medium"/>
                <a:sym typeface="Archivo Medium"/>
              </a:rPr>
              <a:t>Document AI</a:t>
            </a:r>
            <a:endParaRPr/>
          </a:p>
        </p:txBody>
      </p:sp>
      <p:sp>
        <p:nvSpPr>
          <p:cNvPr id="299" name="Google Shape;299;p6"/>
          <p:cNvSpPr/>
          <p:nvPr/>
        </p:nvSpPr>
        <p:spPr>
          <a:xfrm>
            <a:off x="3977640" y="1783080"/>
            <a:ext cx="1481328" cy="1143000"/>
          </a:xfrm>
          <a:prstGeom prst="roundRect">
            <a:avLst>
              <a:gd fmla="val 9600"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6"/>
          <p:cNvSpPr txBox="1"/>
          <p:nvPr/>
        </p:nvSpPr>
        <p:spPr>
          <a:xfrm>
            <a:off x="4105656" y="1892808"/>
            <a:ext cx="2743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3</a:t>
            </a:r>
            <a:endParaRPr/>
          </a:p>
        </p:txBody>
      </p:sp>
      <p:sp>
        <p:nvSpPr>
          <p:cNvPr id="301" name="Google Shape;301;p6"/>
          <p:cNvSpPr txBox="1"/>
          <p:nvPr/>
        </p:nvSpPr>
        <p:spPr>
          <a:xfrm>
            <a:off x="4105656" y="2075688"/>
            <a:ext cx="1252728" cy="27432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Check</a:t>
            </a:r>
            <a:endParaRPr/>
          </a:p>
        </p:txBody>
      </p:sp>
      <p:sp>
        <p:nvSpPr>
          <p:cNvPr id="302" name="Google Shape;302;p6"/>
          <p:cNvSpPr txBox="1"/>
          <p:nvPr/>
        </p:nvSpPr>
        <p:spPr>
          <a:xfrm>
            <a:off x="4105656" y="2350008"/>
            <a:ext cx="1252728"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Copies held, balances, revisions, fonts</a:t>
            </a:r>
            <a:endParaRPr/>
          </a:p>
        </p:txBody>
      </p:sp>
      <p:cxnSp>
        <p:nvCxnSpPr>
          <p:cNvPr id="303" name="Google Shape;303;p6"/>
          <p:cNvCxnSpPr/>
          <p:nvPr/>
        </p:nvCxnSpPr>
        <p:spPr>
          <a:xfrm>
            <a:off x="5486400" y="2354580"/>
            <a:ext cx="246888" cy="0"/>
          </a:xfrm>
          <a:prstGeom prst="straightConnector1">
            <a:avLst/>
          </a:prstGeom>
          <a:noFill/>
          <a:ln cap="flat" cmpd="sng" w="13950">
            <a:solidFill>
              <a:srgbClr val="828E99"/>
            </a:solidFill>
            <a:prstDash val="solid"/>
            <a:round/>
            <a:headEnd len="sm" w="sm" type="none"/>
            <a:tailEnd len="med" w="med" type="triangle"/>
          </a:ln>
        </p:spPr>
      </p:cxnSp>
      <p:sp>
        <p:nvSpPr>
          <p:cNvPr id="304" name="Google Shape;304;p6"/>
          <p:cNvSpPr/>
          <p:nvPr/>
        </p:nvSpPr>
        <p:spPr>
          <a:xfrm>
            <a:off x="3977640" y="3035808"/>
            <a:ext cx="356981"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Medium"/>
                <a:ea typeface="Archivo Medium"/>
                <a:cs typeface="Archivo Medium"/>
                <a:sym typeface="Archivo Medium"/>
              </a:rPr>
              <a:t>Code</a:t>
            </a:r>
            <a:endParaRPr/>
          </a:p>
        </p:txBody>
      </p:sp>
      <p:sp>
        <p:nvSpPr>
          <p:cNvPr id="305" name="Google Shape;305;p6"/>
          <p:cNvSpPr/>
          <p:nvPr/>
        </p:nvSpPr>
        <p:spPr>
          <a:xfrm>
            <a:off x="5760720" y="1783080"/>
            <a:ext cx="1481328" cy="1143000"/>
          </a:xfrm>
          <a:prstGeom prst="roundRect">
            <a:avLst>
              <a:gd fmla="val 9600"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6"/>
          <p:cNvSpPr txBox="1"/>
          <p:nvPr/>
        </p:nvSpPr>
        <p:spPr>
          <a:xfrm>
            <a:off x="5888736" y="1892808"/>
            <a:ext cx="27432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4</a:t>
            </a:r>
            <a:endParaRPr/>
          </a:p>
        </p:txBody>
      </p:sp>
      <p:sp>
        <p:nvSpPr>
          <p:cNvPr id="307" name="Google Shape;307;p6"/>
          <p:cNvSpPr txBox="1"/>
          <p:nvPr/>
        </p:nvSpPr>
        <p:spPr>
          <a:xfrm>
            <a:off x="5888736" y="2075688"/>
            <a:ext cx="1252728" cy="27432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Reconcile</a:t>
            </a:r>
            <a:endParaRPr/>
          </a:p>
        </p:txBody>
      </p:sp>
      <p:sp>
        <p:nvSpPr>
          <p:cNvPr id="308" name="Google Shape;308;p6"/>
          <p:cNvSpPr txBox="1"/>
          <p:nvPr/>
        </p:nvSpPr>
        <p:spPr>
          <a:xfrm>
            <a:off x="5888736" y="2350008"/>
            <a:ext cx="1252728"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Bank lines to invoices, receipts and ledger; same result in any order</a:t>
            </a:r>
            <a:endParaRPr/>
          </a:p>
        </p:txBody>
      </p:sp>
      <p:sp>
        <p:nvSpPr>
          <p:cNvPr id="309" name="Google Shape;309;p6"/>
          <p:cNvSpPr/>
          <p:nvPr/>
        </p:nvSpPr>
        <p:spPr>
          <a:xfrm>
            <a:off x="5760720" y="3035808"/>
            <a:ext cx="356981"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Medium"/>
                <a:ea typeface="Archivo Medium"/>
                <a:cs typeface="Archivo Medium"/>
                <a:sym typeface="Archivo Medium"/>
              </a:rPr>
              <a:t>Code</a:t>
            </a:r>
            <a:endParaRPr/>
          </a:p>
        </p:txBody>
      </p:sp>
      <p:cxnSp>
        <p:nvCxnSpPr>
          <p:cNvPr id="310" name="Google Shape;310;p6"/>
          <p:cNvCxnSpPr/>
          <p:nvPr/>
        </p:nvCxnSpPr>
        <p:spPr>
          <a:xfrm>
            <a:off x="731520" y="3273552"/>
            <a:ext cx="0" cy="201168"/>
          </a:xfrm>
          <a:prstGeom prst="straightConnector1">
            <a:avLst/>
          </a:prstGeom>
          <a:noFill/>
          <a:ln cap="flat" cmpd="sng" w="12700">
            <a:solidFill>
              <a:srgbClr val="828E99"/>
            </a:solidFill>
            <a:prstDash val="dash"/>
            <a:round/>
            <a:headEnd len="sm" w="sm" type="none"/>
            <a:tailEnd len="med" w="med" type="triangle"/>
          </a:ln>
        </p:spPr>
      </p:cxnSp>
      <p:sp>
        <p:nvSpPr>
          <p:cNvPr id="311" name="Google Shape;311;p6"/>
          <p:cNvSpPr/>
          <p:nvPr/>
        </p:nvSpPr>
        <p:spPr>
          <a:xfrm>
            <a:off x="411480" y="3474720"/>
            <a:ext cx="1481328" cy="566928"/>
          </a:xfrm>
          <a:prstGeom prst="roundRect">
            <a:avLst>
              <a:gd fmla="val 16129" name="adj"/>
            </a:avLst>
          </a:prstGeom>
          <a:solidFill>
            <a:srgbClr val="F8F9FA"/>
          </a:solidFill>
          <a:ln cap="flat" cmpd="sng" w="9525">
            <a:solidFill>
              <a:srgbClr val="DCE1E5"/>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6"/>
          <p:cNvSpPr txBox="1"/>
          <p:nvPr/>
        </p:nvSpPr>
        <p:spPr>
          <a:xfrm>
            <a:off x="521208" y="3547872"/>
            <a:ext cx="1298448"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16212B"/>
                </a:solidFill>
                <a:latin typeface="Archivo Medium"/>
                <a:ea typeface="Archivo Medium"/>
                <a:cs typeface="Archivo Medium"/>
                <a:sym typeface="Archivo Medium"/>
              </a:rPr>
              <a:t>Same file again? </a:t>
            </a:r>
            <a:r>
              <a:rPr b="0" i="0" lang="en-US" sz="850" u="none" cap="none" strike="noStrike">
                <a:solidFill>
                  <a:srgbClr val="56636F"/>
                </a:solidFill>
                <a:latin typeface="Archivo"/>
                <a:ea typeface="Archivo"/>
                <a:cs typeface="Archivo"/>
                <a:sym typeface="Archivo"/>
              </a:rPr>
              <a:t>Recorded, never read, costs nothing</a:t>
            </a:r>
            <a:endParaRPr/>
          </a:p>
        </p:txBody>
      </p:sp>
      <p:sp>
        <p:nvSpPr>
          <p:cNvPr id="313" name="Google Shape;313;p6"/>
          <p:cNvSpPr/>
          <p:nvPr/>
        </p:nvSpPr>
        <p:spPr>
          <a:xfrm>
            <a:off x="7543800" y="1554480"/>
            <a:ext cx="1188720" cy="475488"/>
          </a:xfrm>
          <a:prstGeom prst="roundRect">
            <a:avLst>
              <a:gd fmla="val 19230"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6"/>
          <p:cNvSpPr/>
          <p:nvPr/>
        </p:nvSpPr>
        <p:spPr>
          <a:xfrm>
            <a:off x="7662672" y="1737360"/>
            <a:ext cx="100584" cy="100584"/>
          </a:xfrm>
          <a:prstGeom prst="ellipse">
            <a:avLst/>
          </a:prstGeom>
          <a:solidFill>
            <a:srgbClr val="0E5A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6"/>
          <p:cNvSpPr txBox="1"/>
          <p:nvPr/>
        </p:nvSpPr>
        <p:spPr>
          <a:xfrm>
            <a:off x="7836408" y="1618488"/>
            <a:ext cx="868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Review queue</a:t>
            </a:r>
            <a:endParaRPr/>
          </a:p>
        </p:txBody>
      </p:sp>
      <p:sp>
        <p:nvSpPr>
          <p:cNvPr id="316" name="Google Shape;316;p6"/>
          <p:cNvSpPr txBox="1"/>
          <p:nvPr/>
        </p:nvSpPr>
        <p:spPr>
          <a:xfrm>
            <a:off x="7836408" y="1801367"/>
            <a:ext cx="868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What AI left open</a:t>
            </a:r>
            <a:endParaRPr/>
          </a:p>
        </p:txBody>
      </p:sp>
      <p:cxnSp>
        <p:nvCxnSpPr>
          <p:cNvPr id="317" name="Google Shape;317;p6"/>
          <p:cNvCxnSpPr/>
          <p:nvPr/>
        </p:nvCxnSpPr>
        <p:spPr>
          <a:xfrm flipH="1" rot="10800000">
            <a:off x="7269480" y="1792224"/>
            <a:ext cx="246888" cy="562356"/>
          </a:xfrm>
          <a:prstGeom prst="straightConnector1">
            <a:avLst/>
          </a:prstGeom>
          <a:noFill/>
          <a:ln cap="flat" cmpd="sng" w="12700">
            <a:solidFill>
              <a:srgbClr val="828E99"/>
            </a:solidFill>
            <a:prstDash val="solid"/>
            <a:round/>
            <a:headEnd len="sm" w="sm" type="none"/>
            <a:tailEnd len="med" w="med" type="triangle"/>
          </a:ln>
        </p:spPr>
      </p:cxnSp>
      <p:sp>
        <p:nvSpPr>
          <p:cNvPr id="318" name="Google Shape;318;p6"/>
          <p:cNvSpPr/>
          <p:nvPr/>
        </p:nvSpPr>
        <p:spPr>
          <a:xfrm>
            <a:off x="7543800" y="2121408"/>
            <a:ext cx="1188720" cy="475488"/>
          </a:xfrm>
          <a:prstGeom prst="roundRect">
            <a:avLst>
              <a:gd fmla="val 19230"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6"/>
          <p:cNvSpPr/>
          <p:nvPr/>
        </p:nvSpPr>
        <p:spPr>
          <a:xfrm>
            <a:off x="7662672" y="2304288"/>
            <a:ext cx="100584" cy="100584"/>
          </a:xfrm>
          <a:prstGeom prst="ellipse">
            <a:avLst/>
          </a:prstGeom>
          <a:solidFill>
            <a:srgbClr val="B4231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6"/>
          <p:cNvSpPr txBox="1"/>
          <p:nvPr/>
        </p:nvSpPr>
        <p:spPr>
          <a:xfrm>
            <a:off x="7836408" y="2185415"/>
            <a:ext cx="868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Fraud risk</a:t>
            </a:r>
            <a:endParaRPr/>
          </a:p>
        </p:txBody>
      </p:sp>
      <p:sp>
        <p:nvSpPr>
          <p:cNvPr id="321" name="Google Shape;321;p6"/>
          <p:cNvSpPr txBox="1"/>
          <p:nvPr/>
        </p:nvSpPr>
        <p:spPr>
          <a:xfrm>
            <a:off x="7836408" y="2368296"/>
            <a:ext cx="868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Evidence, next steps</a:t>
            </a:r>
            <a:endParaRPr/>
          </a:p>
        </p:txBody>
      </p:sp>
      <p:cxnSp>
        <p:nvCxnSpPr>
          <p:cNvPr id="322" name="Google Shape;322;p6"/>
          <p:cNvCxnSpPr/>
          <p:nvPr/>
        </p:nvCxnSpPr>
        <p:spPr>
          <a:xfrm>
            <a:off x="7269480" y="2354580"/>
            <a:ext cx="246888" cy="4572"/>
          </a:xfrm>
          <a:prstGeom prst="straightConnector1">
            <a:avLst/>
          </a:prstGeom>
          <a:noFill/>
          <a:ln cap="flat" cmpd="sng" w="12700">
            <a:solidFill>
              <a:srgbClr val="828E99"/>
            </a:solidFill>
            <a:prstDash val="solid"/>
            <a:round/>
            <a:headEnd len="sm" w="sm" type="none"/>
            <a:tailEnd len="med" w="med" type="triangle"/>
          </a:ln>
        </p:spPr>
      </p:cxnSp>
      <p:sp>
        <p:nvSpPr>
          <p:cNvPr id="323" name="Google Shape;323;p6"/>
          <p:cNvSpPr/>
          <p:nvPr/>
        </p:nvSpPr>
        <p:spPr>
          <a:xfrm>
            <a:off x="7543800" y="2688336"/>
            <a:ext cx="1188720" cy="475488"/>
          </a:xfrm>
          <a:prstGeom prst="roundRect">
            <a:avLst>
              <a:gd fmla="val 19230"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6"/>
          <p:cNvSpPr/>
          <p:nvPr/>
        </p:nvSpPr>
        <p:spPr>
          <a:xfrm>
            <a:off x="7662672" y="2871216"/>
            <a:ext cx="100584" cy="100584"/>
          </a:xfrm>
          <a:prstGeom prst="ellipse">
            <a:avLst/>
          </a:prstGeom>
          <a:solidFill>
            <a:srgbClr val="3B465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6"/>
          <p:cNvSpPr txBox="1"/>
          <p:nvPr/>
        </p:nvSpPr>
        <p:spPr>
          <a:xfrm>
            <a:off x="7836408" y="2752344"/>
            <a:ext cx="868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16212B"/>
                </a:solidFill>
                <a:latin typeface="Archivo Medium"/>
                <a:ea typeface="Archivo Medium"/>
                <a:cs typeface="Archivo Medium"/>
                <a:sym typeface="Archivo Medium"/>
              </a:rPr>
              <a:t>Dashboard</a:t>
            </a:r>
            <a:endParaRPr/>
          </a:p>
        </p:txBody>
      </p:sp>
      <p:sp>
        <p:nvSpPr>
          <p:cNvPr id="326" name="Google Shape;326;p6"/>
          <p:cNvSpPr txBox="1"/>
          <p:nvPr/>
        </p:nvSpPr>
        <p:spPr>
          <a:xfrm>
            <a:off x="7836408" y="2935224"/>
            <a:ext cx="868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Where money went</a:t>
            </a:r>
            <a:endParaRPr/>
          </a:p>
        </p:txBody>
      </p:sp>
      <p:cxnSp>
        <p:nvCxnSpPr>
          <p:cNvPr id="327" name="Google Shape;327;p6"/>
          <p:cNvCxnSpPr/>
          <p:nvPr/>
        </p:nvCxnSpPr>
        <p:spPr>
          <a:xfrm>
            <a:off x="7269480" y="2354580"/>
            <a:ext cx="246888" cy="571500"/>
          </a:xfrm>
          <a:prstGeom prst="straightConnector1">
            <a:avLst/>
          </a:prstGeom>
          <a:noFill/>
          <a:ln cap="flat" cmpd="sng" w="12700">
            <a:solidFill>
              <a:srgbClr val="828E99"/>
            </a:solidFill>
            <a:prstDash val="solid"/>
            <a:round/>
            <a:headEnd len="sm" w="sm" type="none"/>
            <a:tailEnd len="med" w="med" type="triangle"/>
          </a:ln>
        </p:spPr>
      </p:cxnSp>
      <p:sp>
        <p:nvSpPr>
          <p:cNvPr id="328" name="Google Shape;328;p6"/>
          <p:cNvSpPr/>
          <p:nvPr/>
        </p:nvSpPr>
        <p:spPr>
          <a:xfrm>
            <a:off x="6501384" y="3182111"/>
            <a:ext cx="1636776" cy="521209"/>
          </a:xfrm>
          <a:custGeom>
            <a:rect b="b" l="l" r="r" t="t"/>
            <a:pathLst>
              <a:path extrusionOk="0" h="521209" w="1636776">
                <a:moveTo>
                  <a:pt x="1636776" y="0"/>
                </a:moveTo>
                <a:lnTo>
                  <a:pt x="1636776" y="521209"/>
                </a:lnTo>
                <a:lnTo>
                  <a:pt x="0" y="521209"/>
                </a:lnTo>
                <a:lnTo>
                  <a:pt x="0" y="109729"/>
                </a:lnTo>
              </a:path>
            </a:pathLst>
          </a:custGeom>
          <a:noFill/>
          <a:ln cap="flat" cmpd="sng" w="13950">
            <a:solidFill>
              <a:srgbClr val="2E8B6A"/>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6"/>
          <p:cNvSpPr txBox="1"/>
          <p:nvPr/>
        </p:nvSpPr>
        <p:spPr>
          <a:xfrm>
            <a:off x="6592824" y="3749039"/>
            <a:ext cx="201168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0E5A47"/>
                </a:solidFill>
                <a:latin typeface="Archivo Medium"/>
                <a:ea typeface="Archivo Medium"/>
                <a:cs typeface="Archivo Medium"/>
                <a:sym typeface="Archivo Medium"/>
              </a:rPr>
              <a:t>Each fix reconciles the month again</a:t>
            </a:r>
            <a:endParaRPr/>
          </a:p>
        </p:txBody>
      </p:sp>
      <p:cxnSp>
        <p:nvCxnSpPr>
          <p:cNvPr id="330" name="Google Shape;330;p6"/>
          <p:cNvCxnSpPr/>
          <p:nvPr/>
        </p:nvCxnSpPr>
        <p:spPr>
          <a:xfrm>
            <a:off x="411480" y="4297680"/>
            <a:ext cx="8321040" cy="0"/>
          </a:xfrm>
          <a:prstGeom prst="straightConnector1">
            <a:avLst/>
          </a:prstGeom>
          <a:noFill/>
          <a:ln cap="flat" cmpd="sng" w="9525">
            <a:solidFill>
              <a:srgbClr val="DCE1E5"/>
            </a:solidFill>
            <a:prstDash val="solid"/>
            <a:round/>
            <a:headEnd len="sm" w="sm" type="none"/>
            <a:tailEnd len="sm" w="sm" type="none"/>
          </a:ln>
        </p:spPr>
      </p:cxnSp>
      <p:sp>
        <p:nvSpPr>
          <p:cNvPr id="331" name="Google Shape;331;p6"/>
          <p:cNvSpPr txBox="1"/>
          <p:nvPr/>
        </p:nvSpPr>
        <p:spPr>
          <a:xfrm>
            <a:off x="411480" y="4389120"/>
            <a:ext cx="10972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Who does the work</a:t>
            </a:r>
            <a:endParaRPr/>
          </a:p>
        </p:txBody>
      </p:sp>
      <p:sp>
        <p:nvSpPr>
          <p:cNvPr id="332" name="Google Shape;332;p6"/>
          <p:cNvSpPr/>
          <p:nvPr/>
        </p:nvSpPr>
        <p:spPr>
          <a:xfrm>
            <a:off x="1554480" y="4379976"/>
            <a:ext cx="462320"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4A2FCC"/>
                </a:solidFill>
                <a:latin typeface="Archivo Medium"/>
                <a:ea typeface="Archivo Medium"/>
                <a:cs typeface="Archivo Medium"/>
                <a:sym typeface="Archivo Medium"/>
              </a:rPr>
              <a:t>Gemini</a:t>
            </a:r>
            <a:endParaRPr/>
          </a:p>
        </p:txBody>
      </p:sp>
      <p:sp>
        <p:nvSpPr>
          <p:cNvPr id="333" name="Google Shape;333;p6"/>
          <p:cNvSpPr txBox="1"/>
          <p:nvPr/>
        </p:nvSpPr>
        <p:spPr>
          <a:xfrm>
            <a:off x="2071664" y="4398264"/>
            <a:ext cx="13716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reads and explains</a:t>
            </a:r>
            <a:endParaRPr/>
          </a:p>
        </p:txBody>
      </p:sp>
      <p:sp>
        <p:nvSpPr>
          <p:cNvPr id="334" name="Google Shape;334;p6"/>
          <p:cNvSpPr/>
          <p:nvPr/>
        </p:nvSpPr>
        <p:spPr>
          <a:xfrm>
            <a:off x="3397544" y="4379976"/>
            <a:ext cx="356981"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Medium"/>
                <a:ea typeface="Archivo Medium"/>
                <a:cs typeface="Archivo Medium"/>
                <a:sym typeface="Archivo Medium"/>
              </a:rPr>
              <a:t>Code</a:t>
            </a:r>
            <a:endParaRPr/>
          </a:p>
        </p:txBody>
      </p:sp>
      <p:sp>
        <p:nvSpPr>
          <p:cNvPr id="335" name="Google Shape;335;p6"/>
          <p:cNvSpPr txBox="1"/>
          <p:nvPr/>
        </p:nvSpPr>
        <p:spPr>
          <a:xfrm>
            <a:off x="3809390" y="4398264"/>
            <a:ext cx="13716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decides every number</a:t>
            </a:r>
            <a:endParaRPr/>
          </a:p>
        </p:txBody>
      </p:sp>
      <p:sp>
        <p:nvSpPr>
          <p:cNvPr id="336" name="Google Shape;336;p6"/>
          <p:cNvSpPr/>
          <p:nvPr/>
        </p:nvSpPr>
        <p:spPr>
          <a:xfrm>
            <a:off x="5135270" y="4379976"/>
            <a:ext cx="462320" cy="182880"/>
          </a:xfrm>
          <a:prstGeom prst="roundRect">
            <a:avLst>
              <a:gd fmla="val 25000" name="adj"/>
            </a:avLst>
          </a:prstGeom>
          <a:solidFill>
            <a:srgbClr val="E7F2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0E5A47"/>
                </a:solidFill>
                <a:latin typeface="Archivo Medium"/>
                <a:ea typeface="Archivo Medium"/>
                <a:cs typeface="Archivo Medium"/>
                <a:sym typeface="Archivo Medium"/>
              </a:rPr>
              <a:t>Person</a:t>
            </a:r>
            <a:endParaRPr/>
          </a:p>
        </p:txBody>
      </p:sp>
      <p:sp>
        <p:nvSpPr>
          <p:cNvPr id="337" name="Google Shape;337;p6"/>
          <p:cNvSpPr txBox="1"/>
          <p:nvPr/>
        </p:nvSpPr>
        <p:spPr>
          <a:xfrm>
            <a:off x="5652455" y="4398264"/>
            <a:ext cx="13716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resolves exceptions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7"/>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43" name="Google Shape;343;p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344" name="Google Shape;344;p7"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345" name="Google Shape;345;p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7"/>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Wireframes and mock diagrams</a:t>
            </a:r>
            <a:endParaRPr/>
          </a:p>
        </p:txBody>
      </p:sp>
      <p:sp>
        <p:nvSpPr>
          <p:cNvPr id="347" name="Google Shape;347;p7"/>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43 screens designed first, at phone, tablet and desktop widths</a:t>
            </a:r>
            <a:endParaRPr/>
          </a:p>
        </p:txBody>
      </p:sp>
      <p:sp>
        <p:nvSpPr>
          <p:cNvPr id="348" name="Google Shape;348;p7"/>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07</a:t>
            </a:r>
            <a:endParaRPr/>
          </a:p>
        </p:txBody>
      </p:sp>
      <p:pic>
        <p:nvPicPr>
          <p:cNvPr descr="evidence.png" id="349" name="Google Shape;349;p7"/>
          <p:cNvPicPr preferRelativeResize="0"/>
          <p:nvPr/>
        </p:nvPicPr>
        <p:blipFill rotWithShape="1">
          <a:blip r:embed="rId5">
            <a:alphaModFix/>
          </a:blip>
          <a:srcRect b="0" l="0" r="0" t="0"/>
          <a:stretch/>
        </p:blipFill>
        <p:spPr>
          <a:xfrm>
            <a:off x="411480" y="1755648"/>
            <a:ext cx="4681728" cy="2926080"/>
          </a:xfrm>
          <a:prstGeom prst="roundRect">
            <a:avLst>
              <a:gd fmla="val 3125" name="adj"/>
            </a:avLst>
          </a:prstGeom>
          <a:noFill/>
          <a:ln cap="flat" cmpd="sng" w="9525">
            <a:solidFill>
              <a:srgbClr val="DCE1E5"/>
            </a:solidFill>
            <a:prstDash val="solid"/>
            <a:round/>
            <a:headEnd len="sm" w="sm" type="none"/>
            <a:tailEnd len="sm" w="sm" type="none"/>
          </a:ln>
        </p:spPr>
      </p:pic>
      <p:sp>
        <p:nvSpPr>
          <p:cNvPr id="350" name="Google Shape;350;p7"/>
          <p:cNvSpPr txBox="1"/>
          <p:nvPr/>
        </p:nvSpPr>
        <p:spPr>
          <a:xfrm>
            <a:off x="411480" y="4727448"/>
            <a:ext cx="4681728"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Evidence viewer: the lamp on the edited credit, both readings, the broken balance</a:t>
            </a:r>
            <a:endParaRPr/>
          </a:p>
        </p:txBody>
      </p:sp>
      <p:pic>
        <p:nvPicPr>
          <p:cNvPr descr="review_mobile.png" id="351" name="Google Shape;351;p7"/>
          <p:cNvPicPr preferRelativeResize="0"/>
          <p:nvPr/>
        </p:nvPicPr>
        <p:blipFill rotWithShape="1">
          <a:blip r:embed="rId6">
            <a:alphaModFix/>
          </a:blip>
          <a:srcRect b="0" l="0" r="0" t="0"/>
          <a:stretch/>
        </p:blipFill>
        <p:spPr>
          <a:xfrm>
            <a:off x="5321808" y="1755648"/>
            <a:ext cx="1352099" cy="2926080"/>
          </a:xfrm>
          <a:prstGeom prst="roundRect">
            <a:avLst>
              <a:gd fmla="val 9467" name="adj"/>
            </a:avLst>
          </a:prstGeom>
          <a:noFill/>
          <a:ln cap="flat" cmpd="sng" w="9525">
            <a:solidFill>
              <a:srgbClr val="DCE1E5"/>
            </a:solidFill>
            <a:prstDash val="solid"/>
            <a:round/>
            <a:headEnd len="sm" w="sm" type="none"/>
            <a:tailEnd len="sm" w="sm" type="none"/>
          </a:ln>
        </p:spPr>
      </p:pic>
      <p:sp>
        <p:nvSpPr>
          <p:cNvPr id="352" name="Google Shape;352;p7"/>
          <p:cNvSpPr txBox="1"/>
          <p:nvPr/>
        </p:nvSpPr>
        <p:spPr>
          <a:xfrm>
            <a:off x="5321808" y="4727448"/>
            <a:ext cx="1443538"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Review queue, 390 px</a:t>
            </a:r>
            <a:endParaRPr/>
          </a:p>
        </p:txBody>
      </p:sp>
      <p:sp>
        <p:nvSpPr>
          <p:cNvPr id="353" name="Google Shape;353;p7"/>
          <p:cNvSpPr txBox="1"/>
          <p:nvPr/>
        </p:nvSpPr>
        <p:spPr>
          <a:xfrm>
            <a:off x="6948226" y="1755648"/>
            <a:ext cx="1784293"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Evidence first</a:t>
            </a:r>
            <a:endParaRPr/>
          </a:p>
        </p:txBody>
      </p:sp>
      <p:sp>
        <p:nvSpPr>
          <p:cNvPr id="354" name="Google Shape;354;p7"/>
          <p:cNvSpPr txBox="1"/>
          <p:nvPr/>
        </p:nvSpPr>
        <p:spPr>
          <a:xfrm>
            <a:off x="6948226" y="2139696"/>
            <a:ext cx="1784293"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Every figure is one tap from the page and box it came from.</a:t>
            </a:r>
            <a:endParaRPr/>
          </a:p>
        </p:txBody>
      </p:sp>
      <p:cxnSp>
        <p:nvCxnSpPr>
          <p:cNvPr id="355" name="Google Shape;355;p7"/>
          <p:cNvCxnSpPr/>
          <p:nvPr/>
        </p:nvCxnSpPr>
        <p:spPr>
          <a:xfrm>
            <a:off x="6948226" y="2642616"/>
            <a:ext cx="1784294" cy="0"/>
          </a:xfrm>
          <a:prstGeom prst="straightConnector1">
            <a:avLst/>
          </a:prstGeom>
          <a:noFill/>
          <a:ln cap="flat" cmpd="sng" w="9525">
            <a:solidFill>
              <a:srgbClr val="DCE1E5"/>
            </a:solidFill>
            <a:prstDash val="solid"/>
            <a:round/>
            <a:headEnd len="sm" w="sm" type="none"/>
            <a:tailEnd len="sm" w="sm" type="none"/>
          </a:ln>
        </p:spPr>
      </p:cxnSp>
      <p:sp>
        <p:nvSpPr>
          <p:cNvPr id="356" name="Google Shape;356;p7"/>
          <p:cNvSpPr txBox="1"/>
          <p:nvPr/>
        </p:nvSpPr>
        <p:spPr>
          <a:xfrm>
            <a:off x="6948226" y="2734056"/>
            <a:ext cx="1784293"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Shape before colour</a:t>
            </a:r>
            <a:endParaRPr/>
          </a:p>
        </p:txBody>
      </p:sp>
      <p:sp>
        <p:nvSpPr>
          <p:cNvPr id="357" name="Google Shape;357;p7"/>
          <p:cNvSpPr txBox="1"/>
          <p:nvPr/>
        </p:nvSpPr>
        <p:spPr>
          <a:xfrm>
            <a:off x="6948226" y="3118104"/>
            <a:ext cx="1784293"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Double, dotted and wavy rules say agreed, one reading, conflict.</a:t>
            </a:r>
            <a:endParaRPr/>
          </a:p>
        </p:txBody>
      </p:sp>
      <p:cxnSp>
        <p:nvCxnSpPr>
          <p:cNvPr id="358" name="Google Shape;358;p7"/>
          <p:cNvCxnSpPr/>
          <p:nvPr/>
        </p:nvCxnSpPr>
        <p:spPr>
          <a:xfrm>
            <a:off x="6948226" y="3621024"/>
            <a:ext cx="1784294" cy="0"/>
          </a:xfrm>
          <a:prstGeom prst="straightConnector1">
            <a:avLst/>
          </a:prstGeom>
          <a:noFill/>
          <a:ln cap="flat" cmpd="sng" w="9525">
            <a:solidFill>
              <a:srgbClr val="DCE1E5"/>
            </a:solidFill>
            <a:prstDash val="solid"/>
            <a:round/>
            <a:headEnd len="sm" w="sm" type="none"/>
            <a:tailEnd len="sm" w="sm" type="none"/>
          </a:ln>
        </p:spPr>
      </p:cxnSp>
      <p:sp>
        <p:nvSpPr>
          <p:cNvPr id="359" name="Google Shape;359;p7"/>
          <p:cNvSpPr txBox="1"/>
          <p:nvPr/>
        </p:nvSpPr>
        <p:spPr>
          <a:xfrm>
            <a:off x="6948226" y="3712464"/>
            <a:ext cx="1784293" cy="38404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Works at 360 px</a:t>
            </a:r>
            <a:endParaRPr/>
          </a:p>
        </p:txBody>
      </p:sp>
      <p:sp>
        <p:nvSpPr>
          <p:cNvPr id="360" name="Google Shape;360;p7"/>
          <p:cNvSpPr txBox="1"/>
          <p:nvPr/>
        </p:nvSpPr>
        <p:spPr>
          <a:xfrm>
            <a:off x="6948226" y="4096512"/>
            <a:ext cx="1784293"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Photograph a receipt or settle a review item on a phone.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8"/>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366" name="Google Shape;366;p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367" name="Google Shape;367;p8"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368" name="Google Shape;368;p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8"/>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Architecture diagram of the proposed solution</a:t>
            </a:r>
            <a:endParaRPr/>
          </a:p>
        </p:txBody>
      </p:sp>
      <p:sp>
        <p:nvSpPr>
          <p:cNvPr id="370" name="Google Shape;370;p8"/>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Two ADK workflows on Cloud Run, fed by Cloud Tasks, with Gemini as reader and explainer</a:t>
            </a:r>
            <a:endParaRPr/>
          </a:p>
        </p:txBody>
      </p:sp>
      <p:sp>
        <p:nvSpPr>
          <p:cNvPr id="371" name="Google Shape;371;p8"/>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08</a:t>
            </a:r>
            <a:endParaRPr/>
          </a:p>
        </p:txBody>
      </p:sp>
      <p:sp>
        <p:nvSpPr>
          <p:cNvPr id="372" name="Google Shape;372;p8"/>
          <p:cNvSpPr/>
          <p:nvPr/>
        </p:nvSpPr>
        <p:spPr>
          <a:xfrm>
            <a:off x="411480" y="1783080"/>
            <a:ext cx="1234440" cy="2697480"/>
          </a:xfrm>
          <a:prstGeom prst="roundRect">
            <a:avLst>
              <a:gd fmla="val 8888" name="adj"/>
            </a:avLst>
          </a:prstGeom>
          <a:solidFill>
            <a:srgbClr val="F8F9FA"/>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8"/>
          <p:cNvSpPr txBox="1"/>
          <p:nvPr/>
        </p:nvSpPr>
        <p:spPr>
          <a:xfrm>
            <a:off x="521208" y="1874519"/>
            <a:ext cx="12344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Medium"/>
                <a:ea typeface="Archivo Medium"/>
                <a:cs typeface="Archivo Medium"/>
                <a:sym typeface="Archivo Medium"/>
              </a:rPr>
              <a:t>Users</a:t>
            </a:r>
            <a:endParaRPr/>
          </a:p>
        </p:txBody>
      </p:sp>
      <p:sp>
        <p:nvSpPr>
          <p:cNvPr id="374" name="Google Shape;374;p8"/>
          <p:cNvSpPr/>
          <p:nvPr/>
        </p:nvSpPr>
        <p:spPr>
          <a:xfrm>
            <a:off x="502920" y="2148840"/>
            <a:ext cx="1051560" cy="658368"/>
          </a:xfrm>
          <a:prstGeom prst="roundRect">
            <a:avLst>
              <a:gd fmla="val 11111"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8"/>
          <p:cNvSpPr txBox="1"/>
          <p:nvPr/>
        </p:nvSpPr>
        <p:spPr>
          <a:xfrm>
            <a:off x="594360" y="2212848"/>
            <a:ext cx="914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React SPA</a:t>
            </a:r>
            <a:endParaRPr/>
          </a:p>
        </p:txBody>
      </p:sp>
      <p:sp>
        <p:nvSpPr>
          <p:cNvPr id="376" name="Google Shape;376;p8"/>
          <p:cNvSpPr txBox="1"/>
          <p:nvPr/>
        </p:nvSpPr>
        <p:spPr>
          <a:xfrm>
            <a:off x="594360" y="2404872"/>
            <a:ext cx="91440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Owner or accountant, browser or phone</a:t>
            </a:r>
            <a:endParaRPr/>
          </a:p>
        </p:txBody>
      </p:sp>
      <p:sp>
        <p:nvSpPr>
          <p:cNvPr id="377" name="Google Shape;377;p8"/>
          <p:cNvSpPr/>
          <p:nvPr/>
        </p:nvSpPr>
        <p:spPr>
          <a:xfrm>
            <a:off x="502920" y="2971800"/>
            <a:ext cx="1051560" cy="502920"/>
          </a:xfrm>
          <a:prstGeom prst="roundRect">
            <a:avLst>
              <a:gd fmla="val 14545"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8"/>
          <p:cNvSpPr txBox="1"/>
          <p:nvPr/>
        </p:nvSpPr>
        <p:spPr>
          <a:xfrm>
            <a:off x="594360" y="3035808"/>
            <a:ext cx="914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Firebase Auth</a:t>
            </a:r>
            <a:endParaRPr/>
          </a:p>
        </p:txBody>
      </p:sp>
      <p:sp>
        <p:nvSpPr>
          <p:cNvPr id="379" name="Google Shape;379;p8"/>
          <p:cNvSpPr txBox="1"/>
          <p:nvPr/>
        </p:nvSpPr>
        <p:spPr>
          <a:xfrm>
            <a:off x="594360" y="3227832"/>
            <a:ext cx="914400" cy="228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ID token</a:t>
            </a:r>
            <a:endParaRPr/>
          </a:p>
        </p:txBody>
      </p:sp>
      <p:sp>
        <p:nvSpPr>
          <p:cNvPr id="380" name="Google Shape;380;p8"/>
          <p:cNvSpPr/>
          <p:nvPr/>
        </p:nvSpPr>
        <p:spPr>
          <a:xfrm>
            <a:off x="502920" y="3639311"/>
            <a:ext cx="1051560" cy="658368"/>
          </a:xfrm>
          <a:prstGeom prst="roundRect">
            <a:avLst>
              <a:gd fmla="val 11111"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8"/>
          <p:cNvSpPr txBox="1"/>
          <p:nvPr/>
        </p:nvSpPr>
        <p:spPr>
          <a:xfrm>
            <a:off x="594360" y="3703320"/>
            <a:ext cx="914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Firebase Hosting</a:t>
            </a:r>
            <a:endParaRPr/>
          </a:p>
        </p:txBody>
      </p:sp>
      <p:sp>
        <p:nvSpPr>
          <p:cNvPr id="382" name="Google Shape;382;p8"/>
          <p:cNvSpPr txBox="1"/>
          <p:nvPr/>
        </p:nvSpPr>
        <p:spPr>
          <a:xfrm>
            <a:off x="594360" y="3895344"/>
            <a:ext cx="91440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SPA and /api in front of Cloud Run</a:t>
            </a:r>
            <a:endParaRPr/>
          </a:p>
        </p:txBody>
      </p:sp>
      <p:sp>
        <p:nvSpPr>
          <p:cNvPr id="383" name="Google Shape;383;p8"/>
          <p:cNvSpPr/>
          <p:nvPr/>
        </p:nvSpPr>
        <p:spPr>
          <a:xfrm>
            <a:off x="1828800" y="1783080"/>
            <a:ext cx="4206240" cy="2697480"/>
          </a:xfrm>
          <a:prstGeom prst="roundRect">
            <a:avLst>
              <a:gd fmla="val 4067" name="adj"/>
            </a:avLst>
          </a:prstGeom>
          <a:noFill/>
          <a:ln cap="flat" cmpd="sng" w="9525">
            <a:solidFill>
              <a:srgbClr val="2E8B6A"/>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8"/>
          <p:cNvSpPr txBox="1"/>
          <p:nvPr/>
        </p:nvSpPr>
        <p:spPr>
          <a:xfrm>
            <a:off x="1938528" y="1874519"/>
            <a:ext cx="42062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0E5A47"/>
                </a:solidFill>
                <a:latin typeface="Archivo Medium"/>
                <a:ea typeface="Archivo Medium"/>
                <a:cs typeface="Archivo Medium"/>
                <a:sym typeface="Archivo Medium"/>
              </a:rPr>
              <a:t>Google Cloud, asia-southeast1: runtime and state</a:t>
            </a:r>
            <a:endParaRPr/>
          </a:p>
        </p:txBody>
      </p:sp>
      <p:sp>
        <p:nvSpPr>
          <p:cNvPr id="385" name="Google Shape;385;p8"/>
          <p:cNvSpPr/>
          <p:nvPr/>
        </p:nvSpPr>
        <p:spPr>
          <a:xfrm>
            <a:off x="1965960" y="2148840"/>
            <a:ext cx="1783080" cy="868680"/>
          </a:xfrm>
          <a:prstGeom prst="roundRect">
            <a:avLst>
              <a:gd fmla="val 8421"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8"/>
          <p:cNvSpPr txBox="1"/>
          <p:nvPr/>
        </p:nvSpPr>
        <p:spPr>
          <a:xfrm>
            <a:off x="2057400" y="2212848"/>
            <a:ext cx="1645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kredibel-web</a:t>
            </a:r>
            <a:endParaRPr/>
          </a:p>
        </p:txBody>
      </p:sp>
      <p:sp>
        <p:nvSpPr>
          <p:cNvPr id="387" name="Google Shape;387;p8"/>
          <p:cNvSpPr txBox="1"/>
          <p:nvPr/>
        </p:nvSpPr>
        <p:spPr>
          <a:xfrm>
            <a:off x="2057400" y="2404872"/>
            <a:ext cx="1645920" cy="594359"/>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Cloud Run, public. REST API, SHA-256 copies, page split, review actions, assistant</a:t>
            </a:r>
            <a:endParaRPr/>
          </a:p>
        </p:txBody>
      </p:sp>
      <p:sp>
        <p:nvSpPr>
          <p:cNvPr id="388" name="Google Shape;388;p8"/>
          <p:cNvSpPr/>
          <p:nvPr/>
        </p:nvSpPr>
        <p:spPr>
          <a:xfrm>
            <a:off x="4114800" y="2148840"/>
            <a:ext cx="1783080" cy="868680"/>
          </a:xfrm>
          <a:prstGeom prst="roundRect">
            <a:avLst>
              <a:gd fmla="val 8421"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8"/>
          <p:cNvSpPr txBox="1"/>
          <p:nvPr/>
        </p:nvSpPr>
        <p:spPr>
          <a:xfrm>
            <a:off x="4206240" y="2212848"/>
            <a:ext cx="1645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kredibel-worker</a:t>
            </a:r>
            <a:endParaRPr/>
          </a:p>
        </p:txBody>
      </p:sp>
      <p:sp>
        <p:nvSpPr>
          <p:cNvPr id="390" name="Google Shape;390;p8"/>
          <p:cNvSpPr txBox="1"/>
          <p:nvPr/>
        </p:nvSpPr>
        <p:spPr>
          <a:xfrm>
            <a:off x="4206240" y="2404872"/>
            <a:ext cx="1645920" cy="594359"/>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Cloud Run, IAM only. ADK document_workflow and month_workflow</a:t>
            </a:r>
            <a:endParaRPr/>
          </a:p>
        </p:txBody>
      </p:sp>
      <p:sp>
        <p:nvSpPr>
          <p:cNvPr id="391" name="Google Shape;391;p8"/>
          <p:cNvSpPr/>
          <p:nvPr/>
        </p:nvSpPr>
        <p:spPr>
          <a:xfrm>
            <a:off x="3131820" y="3154680"/>
            <a:ext cx="1783080" cy="502920"/>
          </a:xfrm>
          <a:prstGeom prst="roundRect">
            <a:avLst>
              <a:gd fmla="val 14545"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8"/>
          <p:cNvSpPr txBox="1"/>
          <p:nvPr/>
        </p:nvSpPr>
        <p:spPr>
          <a:xfrm>
            <a:off x="3223260" y="3218688"/>
            <a:ext cx="1645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Cloud Tasks</a:t>
            </a:r>
            <a:endParaRPr/>
          </a:p>
        </p:txBody>
      </p:sp>
      <p:sp>
        <p:nvSpPr>
          <p:cNvPr id="393" name="Google Shape;393;p8"/>
          <p:cNvSpPr txBox="1"/>
          <p:nvPr/>
        </p:nvSpPr>
        <p:spPr>
          <a:xfrm>
            <a:off x="3223260" y="3410712"/>
            <a:ext cx="1645920" cy="22860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one task per document and month</a:t>
            </a:r>
            <a:endParaRPr/>
          </a:p>
        </p:txBody>
      </p:sp>
      <p:sp>
        <p:nvSpPr>
          <p:cNvPr id="394" name="Google Shape;394;p8"/>
          <p:cNvSpPr/>
          <p:nvPr/>
        </p:nvSpPr>
        <p:spPr>
          <a:xfrm>
            <a:off x="1965960" y="3794760"/>
            <a:ext cx="1783080" cy="548640"/>
          </a:xfrm>
          <a:prstGeom prst="roundRect">
            <a:avLst>
              <a:gd fmla="val 13333"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8"/>
          <p:cNvSpPr txBox="1"/>
          <p:nvPr/>
        </p:nvSpPr>
        <p:spPr>
          <a:xfrm>
            <a:off x="2057400" y="3858768"/>
            <a:ext cx="1645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Firestore</a:t>
            </a:r>
            <a:endParaRPr/>
          </a:p>
        </p:txBody>
      </p:sp>
      <p:sp>
        <p:nvSpPr>
          <p:cNvPr id="396" name="Google Shape;396;p8"/>
          <p:cNvSpPr txBox="1"/>
          <p:nvPr/>
        </p:nvSpPr>
        <p:spPr>
          <a:xfrm>
            <a:off x="2057400" y="4050792"/>
            <a:ext cx="1645920" cy="27432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records, matches, vectors, live progress</a:t>
            </a:r>
            <a:endParaRPr/>
          </a:p>
        </p:txBody>
      </p:sp>
      <p:sp>
        <p:nvSpPr>
          <p:cNvPr id="397" name="Google Shape;397;p8"/>
          <p:cNvSpPr/>
          <p:nvPr/>
        </p:nvSpPr>
        <p:spPr>
          <a:xfrm>
            <a:off x="4114800" y="3794760"/>
            <a:ext cx="1783080" cy="548640"/>
          </a:xfrm>
          <a:prstGeom prst="roundRect">
            <a:avLst>
              <a:gd fmla="val 13333"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8"/>
          <p:cNvSpPr txBox="1"/>
          <p:nvPr/>
        </p:nvSpPr>
        <p:spPr>
          <a:xfrm>
            <a:off x="4206240" y="3858768"/>
            <a:ext cx="1645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Cloud Storage</a:t>
            </a:r>
            <a:endParaRPr/>
          </a:p>
        </p:txBody>
      </p:sp>
      <p:sp>
        <p:nvSpPr>
          <p:cNvPr id="399" name="Google Shape;399;p8"/>
          <p:cNvSpPr txBox="1"/>
          <p:nvPr/>
        </p:nvSpPr>
        <p:spPr>
          <a:xfrm>
            <a:off x="4206240" y="4050792"/>
            <a:ext cx="1645920" cy="274320"/>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originals, page images, reading cache</a:t>
            </a:r>
            <a:endParaRPr/>
          </a:p>
        </p:txBody>
      </p:sp>
      <p:sp>
        <p:nvSpPr>
          <p:cNvPr id="400" name="Google Shape;400;p8"/>
          <p:cNvSpPr/>
          <p:nvPr/>
        </p:nvSpPr>
        <p:spPr>
          <a:xfrm>
            <a:off x="6217920" y="1783080"/>
            <a:ext cx="2514600" cy="2697480"/>
          </a:xfrm>
          <a:prstGeom prst="roundRect">
            <a:avLst>
              <a:gd fmla="val 4363"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8"/>
          <p:cNvSpPr txBox="1"/>
          <p:nvPr/>
        </p:nvSpPr>
        <p:spPr>
          <a:xfrm>
            <a:off x="6327648" y="1874519"/>
            <a:ext cx="2514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4A2FCC"/>
                </a:solidFill>
                <a:latin typeface="Archivo Medium"/>
                <a:ea typeface="Archivo Medium"/>
                <a:cs typeface="Archivo Medium"/>
                <a:sym typeface="Archivo Medium"/>
              </a:rPr>
              <a:t>Gemini Enterprise Agent Platform</a:t>
            </a:r>
            <a:endParaRPr/>
          </a:p>
        </p:txBody>
      </p:sp>
      <p:sp>
        <p:nvSpPr>
          <p:cNvPr id="402" name="Google Shape;402;p8"/>
          <p:cNvSpPr/>
          <p:nvPr/>
        </p:nvSpPr>
        <p:spPr>
          <a:xfrm>
            <a:off x="6327648" y="2148840"/>
            <a:ext cx="2295144" cy="658368"/>
          </a:xfrm>
          <a:prstGeom prst="roundRect">
            <a:avLst>
              <a:gd fmla="val 11111" name="adj"/>
            </a:avLst>
          </a:prstGeom>
          <a:solidFill>
            <a:srgbClr val="FFFFFF"/>
          </a:solidFill>
          <a:ln cap="flat" cmpd="sng" w="9525">
            <a:solidFill>
              <a:srgbClr val="E2DB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8"/>
          <p:cNvSpPr txBox="1"/>
          <p:nvPr/>
        </p:nvSpPr>
        <p:spPr>
          <a:xfrm>
            <a:off x="6419088" y="2212848"/>
            <a:ext cx="2157984"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Gemini Flash</a:t>
            </a:r>
            <a:endParaRPr/>
          </a:p>
        </p:txBody>
      </p:sp>
      <p:sp>
        <p:nvSpPr>
          <p:cNvPr id="404" name="Google Shape;404;p8"/>
          <p:cNvSpPr txBox="1"/>
          <p:nvPr/>
        </p:nvSpPr>
        <p:spPr>
          <a:xfrm>
            <a:off x="6419088" y="2404872"/>
            <a:ext cx="2157984"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reads page images, explains each month, assistant</a:t>
            </a:r>
            <a:endParaRPr/>
          </a:p>
        </p:txBody>
      </p:sp>
      <p:sp>
        <p:nvSpPr>
          <p:cNvPr id="405" name="Google Shape;405;p8"/>
          <p:cNvSpPr/>
          <p:nvPr/>
        </p:nvSpPr>
        <p:spPr>
          <a:xfrm>
            <a:off x="6327648" y="2898648"/>
            <a:ext cx="2295144" cy="566928"/>
          </a:xfrm>
          <a:prstGeom prst="roundRect">
            <a:avLst>
              <a:gd fmla="val 12903" name="adj"/>
            </a:avLst>
          </a:prstGeom>
          <a:solidFill>
            <a:srgbClr val="FFFFFF"/>
          </a:solidFill>
          <a:ln cap="flat" cmpd="sng" w="9525">
            <a:solidFill>
              <a:srgbClr val="E2DB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8"/>
          <p:cNvSpPr txBox="1"/>
          <p:nvPr/>
        </p:nvSpPr>
        <p:spPr>
          <a:xfrm>
            <a:off x="6419088" y="2962656"/>
            <a:ext cx="2157984"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Gemini Flash-Lite</a:t>
            </a:r>
            <a:endParaRPr/>
          </a:p>
        </p:txBody>
      </p:sp>
      <p:sp>
        <p:nvSpPr>
          <p:cNvPr id="407" name="Google Shape;407;p8"/>
          <p:cNvSpPr txBox="1"/>
          <p:nvPr/>
        </p:nvSpPr>
        <p:spPr>
          <a:xfrm>
            <a:off x="6419088" y="3154680"/>
            <a:ext cx="2157984" cy="29260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750" u="none" cap="none" strike="noStrike">
                <a:solidFill>
                  <a:srgbClr val="56636F"/>
                </a:solidFill>
                <a:latin typeface="Archivo"/>
                <a:ea typeface="Archivo"/>
                <a:cs typeface="Archivo"/>
                <a:sym typeface="Archivo"/>
              </a:rPr>
              <a:t>classify, map columns, categorize</a:t>
            </a:r>
            <a:endParaRPr/>
          </a:p>
        </p:txBody>
      </p:sp>
      <p:sp>
        <p:nvSpPr>
          <p:cNvPr id="408" name="Google Shape;408;p8"/>
          <p:cNvSpPr/>
          <p:nvPr/>
        </p:nvSpPr>
        <p:spPr>
          <a:xfrm>
            <a:off x="6327648" y="3557015"/>
            <a:ext cx="2295144" cy="384048"/>
          </a:xfrm>
          <a:prstGeom prst="roundRect">
            <a:avLst>
              <a:gd fmla="val 19047" name="adj"/>
            </a:avLst>
          </a:prstGeom>
          <a:solidFill>
            <a:srgbClr val="FFFFFF"/>
          </a:solidFill>
          <a:ln cap="flat" cmpd="sng" w="9525">
            <a:solidFill>
              <a:srgbClr val="E2DB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8"/>
          <p:cNvSpPr txBox="1"/>
          <p:nvPr/>
        </p:nvSpPr>
        <p:spPr>
          <a:xfrm>
            <a:off x="6419088" y="3621023"/>
            <a:ext cx="2157984"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16212B"/>
                </a:solidFill>
                <a:latin typeface="Archivo Medium"/>
                <a:ea typeface="Archivo Medium"/>
                <a:cs typeface="Archivo Medium"/>
                <a:sym typeface="Archivo Medium"/>
              </a:rPr>
              <a:t>gemini-embedding-001</a:t>
            </a:r>
            <a:endParaRPr/>
          </a:p>
        </p:txBody>
      </p:sp>
      <p:sp>
        <p:nvSpPr>
          <p:cNvPr id="410" name="Google Shape;410;p8"/>
          <p:cNvSpPr/>
          <p:nvPr/>
        </p:nvSpPr>
        <p:spPr>
          <a:xfrm>
            <a:off x="6327648" y="4005072"/>
            <a:ext cx="2295144" cy="384048"/>
          </a:xfrm>
          <a:prstGeom prst="roundRect">
            <a:avLst>
              <a:gd fmla="val 19047" name="adj"/>
            </a:avLst>
          </a:prstGeom>
          <a:solidFill>
            <a:srgbClr val="FFFFFF"/>
          </a:solidFill>
          <a:ln cap="flat" cmpd="sng" w="9525">
            <a:solidFill>
              <a:srgbClr val="E2DB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8"/>
          <p:cNvSpPr txBox="1"/>
          <p:nvPr/>
        </p:nvSpPr>
        <p:spPr>
          <a:xfrm>
            <a:off x="6419088" y="4069080"/>
            <a:ext cx="2157984"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16212B"/>
                </a:solidFill>
                <a:latin typeface="Archivo Medium"/>
                <a:ea typeface="Archivo Medium"/>
                <a:cs typeface="Archivo Medium"/>
                <a:sym typeface="Archivo Medium"/>
              </a:rPr>
              <a:t>Document AI OCR (us)</a:t>
            </a:r>
            <a:endParaRPr/>
          </a:p>
        </p:txBody>
      </p:sp>
      <p:cxnSp>
        <p:nvCxnSpPr>
          <p:cNvPr id="412" name="Google Shape;412;p8"/>
          <p:cNvCxnSpPr/>
          <p:nvPr/>
        </p:nvCxnSpPr>
        <p:spPr>
          <a:xfrm>
            <a:off x="1554480" y="2478024"/>
            <a:ext cx="393192" cy="36576"/>
          </a:xfrm>
          <a:prstGeom prst="straightConnector1">
            <a:avLst/>
          </a:prstGeom>
          <a:noFill/>
          <a:ln cap="flat" cmpd="sng" w="12700">
            <a:solidFill>
              <a:srgbClr val="828E99"/>
            </a:solidFill>
            <a:prstDash val="solid"/>
            <a:round/>
            <a:headEnd len="sm" w="sm" type="none"/>
            <a:tailEnd len="med" w="med" type="triangle"/>
          </a:ln>
        </p:spPr>
      </p:cxnSp>
      <p:sp>
        <p:nvSpPr>
          <p:cNvPr id="413" name="Google Shape;413;p8"/>
          <p:cNvSpPr/>
          <p:nvPr/>
        </p:nvSpPr>
        <p:spPr>
          <a:xfrm>
            <a:off x="2857500" y="3017520"/>
            <a:ext cx="256032" cy="384048"/>
          </a:xfrm>
          <a:custGeom>
            <a:rect b="b" l="l" r="r" t="t"/>
            <a:pathLst>
              <a:path extrusionOk="0" h="384048" w="256032">
                <a:moveTo>
                  <a:pt x="0" y="0"/>
                </a:moveTo>
                <a:lnTo>
                  <a:pt x="0" y="384048"/>
                </a:lnTo>
                <a:lnTo>
                  <a:pt x="256032" y="384048"/>
                </a:lnTo>
              </a:path>
            </a:pathLst>
          </a:custGeom>
          <a:noFill/>
          <a:ln cap="flat" cmpd="sng" w="12700">
            <a:solidFill>
              <a:srgbClr val="828E99"/>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8"/>
          <p:cNvSpPr/>
          <p:nvPr/>
        </p:nvSpPr>
        <p:spPr>
          <a:xfrm>
            <a:off x="4933188" y="3035808"/>
            <a:ext cx="73152" cy="365760"/>
          </a:xfrm>
          <a:custGeom>
            <a:rect b="b" l="l" r="r" t="t"/>
            <a:pathLst>
              <a:path extrusionOk="0" h="365760" w="73152">
                <a:moveTo>
                  <a:pt x="0" y="365760"/>
                </a:moveTo>
                <a:lnTo>
                  <a:pt x="73152" y="365760"/>
                </a:lnTo>
                <a:lnTo>
                  <a:pt x="73152" y="0"/>
                </a:lnTo>
              </a:path>
            </a:pathLst>
          </a:custGeom>
          <a:noFill/>
          <a:ln cap="flat" cmpd="sng" w="12700">
            <a:solidFill>
              <a:srgbClr val="828E99"/>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415" name="Google Shape;415;p8"/>
          <p:cNvCxnSpPr/>
          <p:nvPr/>
        </p:nvCxnSpPr>
        <p:spPr>
          <a:xfrm>
            <a:off x="5916168" y="2478024"/>
            <a:ext cx="393191" cy="0"/>
          </a:xfrm>
          <a:prstGeom prst="straightConnector1">
            <a:avLst/>
          </a:prstGeom>
          <a:noFill/>
          <a:ln cap="flat" cmpd="sng" w="13950">
            <a:solidFill>
              <a:srgbClr val="6B4EFF"/>
            </a:solidFill>
            <a:prstDash val="solid"/>
            <a:round/>
            <a:headEnd len="sm" w="sm" type="none"/>
            <a:tailEnd len="med" w="med" type="triangle"/>
          </a:ln>
        </p:spPr>
      </p:cxnSp>
      <p:cxnSp>
        <p:nvCxnSpPr>
          <p:cNvPr id="416" name="Google Shape;416;p8"/>
          <p:cNvCxnSpPr/>
          <p:nvPr/>
        </p:nvCxnSpPr>
        <p:spPr>
          <a:xfrm>
            <a:off x="5452110" y="3017520"/>
            <a:ext cx="0" cy="758952"/>
          </a:xfrm>
          <a:prstGeom prst="straightConnector1">
            <a:avLst/>
          </a:prstGeom>
          <a:noFill/>
          <a:ln cap="flat" cmpd="sng" w="12700">
            <a:solidFill>
              <a:srgbClr val="828E99"/>
            </a:solidFill>
            <a:prstDash val="solid"/>
            <a:round/>
            <a:headEnd len="sm" w="sm" type="none"/>
            <a:tailEnd len="med" w="med" type="triangle"/>
          </a:ln>
        </p:spPr>
      </p:cxnSp>
      <p:cxnSp>
        <p:nvCxnSpPr>
          <p:cNvPr id="417" name="Google Shape;417;p8"/>
          <p:cNvCxnSpPr/>
          <p:nvPr/>
        </p:nvCxnSpPr>
        <p:spPr>
          <a:xfrm>
            <a:off x="2411729" y="3017520"/>
            <a:ext cx="0" cy="758952"/>
          </a:xfrm>
          <a:prstGeom prst="straightConnector1">
            <a:avLst/>
          </a:prstGeom>
          <a:noFill/>
          <a:ln cap="flat" cmpd="sng" w="12700">
            <a:solidFill>
              <a:srgbClr val="828E99"/>
            </a:solidFill>
            <a:prstDash val="solid"/>
            <a:round/>
            <a:headEnd len="sm" w="sm" type="none"/>
            <a:tailEnd len="med" w="med" type="triangle"/>
          </a:ln>
        </p:spPr>
      </p:cxnSp>
      <p:sp>
        <p:nvSpPr>
          <p:cNvPr id="418" name="Google Shape;418;p8"/>
          <p:cNvSpPr/>
          <p:nvPr/>
        </p:nvSpPr>
        <p:spPr>
          <a:xfrm>
            <a:off x="1673352" y="2240280"/>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1</a:t>
            </a:r>
            <a:endParaRPr/>
          </a:p>
        </p:txBody>
      </p:sp>
      <p:sp>
        <p:nvSpPr>
          <p:cNvPr id="419" name="Google Shape;419;p8"/>
          <p:cNvSpPr/>
          <p:nvPr/>
        </p:nvSpPr>
        <p:spPr>
          <a:xfrm>
            <a:off x="2903220" y="3063239"/>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2</a:t>
            </a:r>
            <a:endParaRPr/>
          </a:p>
        </p:txBody>
      </p:sp>
      <p:sp>
        <p:nvSpPr>
          <p:cNvPr id="420" name="Google Shape;420;p8"/>
          <p:cNvSpPr/>
          <p:nvPr/>
        </p:nvSpPr>
        <p:spPr>
          <a:xfrm>
            <a:off x="5052059" y="3063239"/>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3</a:t>
            </a:r>
            <a:endParaRPr/>
          </a:p>
        </p:txBody>
      </p:sp>
      <p:sp>
        <p:nvSpPr>
          <p:cNvPr id="421" name="Google Shape;421;p8"/>
          <p:cNvSpPr/>
          <p:nvPr/>
        </p:nvSpPr>
        <p:spPr>
          <a:xfrm>
            <a:off x="5943600" y="2240280"/>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4</a:t>
            </a:r>
            <a:endParaRPr/>
          </a:p>
        </p:txBody>
      </p:sp>
      <p:sp>
        <p:nvSpPr>
          <p:cNvPr id="422" name="Google Shape;422;p8"/>
          <p:cNvSpPr/>
          <p:nvPr/>
        </p:nvSpPr>
        <p:spPr>
          <a:xfrm>
            <a:off x="5497830" y="3520439"/>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5</a:t>
            </a:r>
            <a:endParaRPr/>
          </a:p>
        </p:txBody>
      </p:sp>
      <p:sp>
        <p:nvSpPr>
          <p:cNvPr id="423" name="Google Shape;423;p8"/>
          <p:cNvSpPr/>
          <p:nvPr/>
        </p:nvSpPr>
        <p:spPr>
          <a:xfrm>
            <a:off x="411480" y="4599431"/>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1</a:t>
            </a:r>
            <a:endParaRPr/>
          </a:p>
        </p:txBody>
      </p:sp>
      <p:sp>
        <p:nvSpPr>
          <p:cNvPr id="424" name="Google Shape;424;p8"/>
          <p:cNvSpPr txBox="1"/>
          <p:nvPr/>
        </p:nvSpPr>
        <p:spPr>
          <a:xfrm>
            <a:off x="640080" y="4608575"/>
            <a:ext cx="1197864"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16212B"/>
                </a:solidFill>
                <a:latin typeface="Archivo"/>
                <a:ea typeface="Archivo"/>
                <a:cs typeface="Archivo"/>
                <a:sym typeface="Archivo"/>
              </a:rPr>
              <a:t>Upload with ID token</a:t>
            </a:r>
            <a:endParaRPr/>
          </a:p>
        </p:txBody>
      </p:sp>
      <p:sp>
        <p:nvSpPr>
          <p:cNvPr id="425" name="Google Shape;425;p8"/>
          <p:cNvSpPr/>
          <p:nvPr/>
        </p:nvSpPr>
        <p:spPr>
          <a:xfrm>
            <a:off x="1956816" y="4599431"/>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2</a:t>
            </a:r>
            <a:endParaRPr/>
          </a:p>
        </p:txBody>
      </p:sp>
      <p:sp>
        <p:nvSpPr>
          <p:cNvPr id="426" name="Google Shape;426;p8"/>
          <p:cNvSpPr txBox="1"/>
          <p:nvPr/>
        </p:nvSpPr>
        <p:spPr>
          <a:xfrm>
            <a:off x="2185416" y="4608575"/>
            <a:ext cx="1091793"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16212B"/>
                </a:solidFill>
                <a:latin typeface="Archivo"/>
                <a:ea typeface="Archivo"/>
                <a:cs typeface="Archivo"/>
                <a:sym typeface="Archivo"/>
              </a:rPr>
              <a:t>Queue the document</a:t>
            </a:r>
            <a:endParaRPr/>
          </a:p>
        </p:txBody>
      </p:sp>
      <p:sp>
        <p:nvSpPr>
          <p:cNvPr id="427" name="Google Shape;427;p8"/>
          <p:cNvSpPr/>
          <p:nvPr/>
        </p:nvSpPr>
        <p:spPr>
          <a:xfrm>
            <a:off x="3396081" y="4599431"/>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3</a:t>
            </a:r>
            <a:endParaRPr/>
          </a:p>
        </p:txBody>
      </p:sp>
      <p:sp>
        <p:nvSpPr>
          <p:cNvPr id="428" name="Google Shape;428;p8"/>
          <p:cNvSpPr txBox="1"/>
          <p:nvPr/>
        </p:nvSpPr>
        <p:spPr>
          <a:xfrm>
            <a:off x="3624681" y="4608575"/>
            <a:ext cx="985723"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16212B"/>
                </a:solidFill>
                <a:latin typeface="Archivo"/>
                <a:ea typeface="Archivo"/>
                <a:cs typeface="Archivo"/>
                <a:sym typeface="Archivo"/>
              </a:rPr>
              <a:t>Run the workflow</a:t>
            </a:r>
            <a:endParaRPr/>
          </a:p>
        </p:txBody>
      </p:sp>
      <p:sp>
        <p:nvSpPr>
          <p:cNvPr id="429" name="Google Shape;429;p8"/>
          <p:cNvSpPr/>
          <p:nvPr/>
        </p:nvSpPr>
        <p:spPr>
          <a:xfrm>
            <a:off x="4729276" y="4599431"/>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4</a:t>
            </a:r>
            <a:endParaRPr/>
          </a:p>
        </p:txBody>
      </p:sp>
      <p:sp>
        <p:nvSpPr>
          <p:cNvPr id="430" name="Google Shape;430;p8"/>
          <p:cNvSpPr txBox="1"/>
          <p:nvPr/>
        </p:nvSpPr>
        <p:spPr>
          <a:xfrm>
            <a:off x="4957876" y="4608575"/>
            <a:ext cx="985723"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16212B"/>
                </a:solidFill>
                <a:latin typeface="Archivo"/>
                <a:ea typeface="Archivo"/>
                <a:cs typeface="Archivo"/>
                <a:sym typeface="Archivo"/>
              </a:rPr>
              <a:t>Read and explain</a:t>
            </a:r>
            <a:endParaRPr/>
          </a:p>
        </p:txBody>
      </p:sp>
      <p:sp>
        <p:nvSpPr>
          <p:cNvPr id="431" name="Google Shape;431;p8"/>
          <p:cNvSpPr/>
          <p:nvPr/>
        </p:nvSpPr>
        <p:spPr>
          <a:xfrm>
            <a:off x="6062472" y="4599431"/>
            <a:ext cx="173736" cy="173736"/>
          </a:xfrm>
          <a:prstGeom prst="ellipse">
            <a:avLst/>
          </a:prstGeom>
          <a:solidFill>
            <a:srgbClr val="6B4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50" u="none" cap="none" strike="noStrike">
                <a:solidFill>
                  <a:srgbClr val="FFFFFF"/>
                </a:solidFill>
                <a:latin typeface="Archivo"/>
                <a:ea typeface="Archivo"/>
                <a:cs typeface="Archivo"/>
                <a:sym typeface="Archivo"/>
              </a:rPr>
              <a:t>5</a:t>
            </a:r>
            <a:endParaRPr/>
          </a:p>
        </p:txBody>
      </p:sp>
      <p:sp>
        <p:nvSpPr>
          <p:cNvPr id="432" name="Google Shape;432;p8"/>
          <p:cNvSpPr txBox="1"/>
          <p:nvPr/>
        </p:nvSpPr>
        <p:spPr>
          <a:xfrm>
            <a:off x="6291072" y="4608575"/>
            <a:ext cx="1993392"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16212B"/>
                </a:solidFill>
                <a:latin typeface="Archivo"/>
                <a:ea typeface="Archivo"/>
                <a:cs typeface="Archivo"/>
                <a:sym typeface="Archivo"/>
              </a:rPr>
              <a:t>Write results; the app updates live</a:t>
            </a:r>
            <a:endParaRPr/>
          </a:p>
        </p:txBody>
      </p:sp>
      <p:sp>
        <p:nvSpPr>
          <p:cNvPr id="433" name="Google Shape;433;p8"/>
          <p:cNvSpPr txBox="1"/>
          <p:nvPr/>
        </p:nvSpPr>
        <p:spPr>
          <a:xfrm>
            <a:off x="411480" y="4864607"/>
            <a:ext cx="83210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16212B"/>
                </a:solidFill>
                <a:latin typeface="Archivo Medium"/>
                <a:ea typeface="Archivo Medium"/>
                <a:cs typeface="Archivo Medium"/>
                <a:sym typeface="Archivo Medium"/>
              </a:rPr>
              <a:t>Delivery and operations: </a:t>
            </a:r>
            <a:r>
              <a:rPr b="0" i="0" lang="en-US" sz="800" u="none" cap="none" strike="noStrike">
                <a:solidFill>
                  <a:srgbClr val="56636F"/>
                </a:solidFill>
                <a:latin typeface="Archivo"/>
                <a:ea typeface="Archivo"/>
                <a:cs typeface="Archivo"/>
                <a:sym typeface="Archivo"/>
              </a:rPr>
              <a:t>Cloud Build, Artifact Registry, Secret Manager, Cloud Trace (ADK spans), Cloud Logging, Cloud Monitoring with budget alerts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9" name="Google Shape;439;p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440" name="Google Shape;440;p9"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441" name="Google Shape;441;p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9"/>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Technologies to be used in the solution</a:t>
            </a:r>
            <a:endParaRPr/>
          </a:p>
        </p:txBody>
      </p:sp>
      <p:sp>
        <p:nvSpPr>
          <p:cNvPr id="443" name="Google Shape;443;p9"/>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Google Cloud for every managed service and model; open source only inside our containers</a:t>
            </a:r>
            <a:endParaRPr/>
          </a:p>
        </p:txBody>
      </p:sp>
      <p:sp>
        <p:nvSpPr>
          <p:cNvPr id="444" name="Google Shape;444;p9"/>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09</a:t>
            </a:r>
            <a:endParaRPr/>
          </a:p>
        </p:txBody>
      </p:sp>
      <p:cxnSp>
        <p:nvCxnSpPr>
          <p:cNvPr id="445" name="Google Shape;445;p9"/>
          <p:cNvCxnSpPr/>
          <p:nvPr/>
        </p:nvCxnSpPr>
        <p:spPr>
          <a:xfrm>
            <a:off x="411480" y="1755648"/>
            <a:ext cx="3977640" cy="0"/>
          </a:xfrm>
          <a:prstGeom prst="straightConnector1">
            <a:avLst/>
          </a:prstGeom>
          <a:noFill/>
          <a:ln cap="flat" cmpd="sng" w="9525">
            <a:solidFill>
              <a:srgbClr val="DCE1E5"/>
            </a:solidFill>
            <a:prstDash val="solid"/>
            <a:round/>
            <a:headEnd len="sm" w="sm" type="none"/>
            <a:tailEnd len="sm" w="sm" type="none"/>
          </a:ln>
        </p:spPr>
      </p:cxnSp>
      <p:sp>
        <p:nvSpPr>
          <p:cNvPr id="446" name="Google Shape;446;p9"/>
          <p:cNvSpPr txBox="1"/>
          <p:nvPr/>
        </p:nvSpPr>
        <p:spPr>
          <a:xfrm>
            <a:off x="411480" y="1865376"/>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Agents</a:t>
            </a:r>
            <a:endParaRPr/>
          </a:p>
        </p:txBody>
      </p:sp>
      <p:sp>
        <p:nvSpPr>
          <p:cNvPr id="447" name="Google Shape;447;p9"/>
          <p:cNvSpPr txBox="1"/>
          <p:nvPr/>
        </p:nvSpPr>
        <p:spPr>
          <a:xfrm>
            <a:off x="1371600" y="1865376"/>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Agent Development Kit 2.x graph workflows, one per document and one per month; traces in Cloud Trace</a:t>
            </a:r>
            <a:endParaRPr/>
          </a:p>
        </p:txBody>
      </p:sp>
      <p:cxnSp>
        <p:nvCxnSpPr>
          <p:cNvPr id="448" name="Google Shape;448;p9"/>
          <p:cNvCxnSpPr/>
          <p:nvPr/>
        </p:nvCxnSpPr>
        <p:spPr>
          <a:xfrm>
            <a:off x="4754880" y="1755648"/>
            <a:ext cx="3977640" cy="0"/>
          </a:xfrm>
          <a:prstGeom prst="straightConnector1">
            <a:avLst/>
          </a:prstGeom>
          <a:noFill/>
          <a:ln cap="flat" cmpd="sng" w="9525">
            <a:solidFill>
              <a:srgbClr val="DCE1E5"/>
            </a:solidFill>
            <a:prstDash val="solid"/>
            <a:round/>
            <a:headEnd len="sm" w="sm" type="none"/>
            <a:tailEnd len="sm" w="sm" type="none"/>
          </a:ln>
        </p:spPr>
      </p:cxnSp>
      <p:sp>
        <p:nvSpPr>
          <p:cNvPr id="449" name="Google Shape;449;p9"/>
          <p:cNvSpPr txBox="1"/>
          <p:nvPr/>
        </p:nvSpPr>
        <p:spPr>
          <a:xfrm>
            <a:off x="4754880" y="1865376"/>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Models</a:t>
            </a:r>
            <a:endParaRPr/>
          </a:p>
        </p:txBody>
      </p:sp>
      <p:sp>
        <p:nvSpPr>
          <p:cNvPr id="450" name="Google Shape;450;p9"/>
          <p:cNvSpPr txBox="1"/>
          <p:nvPr/>
        </p:nvSpPr>
        <p:spPr>
          <a:xfrm>
            <a:off x="5715000" y="1865376"/>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Gemini Flash and Flash-Lite, gemini-embedding-001, on Gemini Enterprise Agent Platform</a:t>
            </a:r>
            <a:endParaRPr/>
          </a:p>
        </p:txBody>
      </p:sp>
      <p:cxnSp>
        <p:nvCxnSpPr>
          <p:cNvPr id="451" name="Google Shape;451;p9"/>
          <p:cNvCxnSpPr/>
          <p:nvPr/>
        </p:nvCxnSpPr>
        <p:spPr>
          <a:xfrm>
            <a:off x="411480" y="2359152"/>
            <a:ext cx="3977640" cy="0"/>
          </a:xfrm>
          <a:prstGeom prst="straightConnector1">
            <a:avLst/>
          </a:prstGeom>
          <a:noFill/>
          <a:ln cap="flat" cmpd="sng" w="9525">
            <a:solidFill>
              <a:srgbClr val="DCE1E5"/>
            </a:solidFill>
            <a:prstDash val="solid"/>
            <a:round/>
            <a:headEnd len="sm" w="sm" type="none"/>
            <a:tailEnd len="sm" w="sm" type="none"/>
          </a:ln>
        </p:spPr>
      </p:cxnSp>
      <p:sp>
        <p:nvSpPr>
          <p:cNvPr id="452" name="Google Shape;452;p9"/>
          <p:cNvSpPr txBox="1"/>
          <p:nvPr/>
        </p:nvSpPr>
        <p:spPr>
          <a:xfrm>
            <a:off x="411480" y="2468880"/>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Documents</a:t>
            </a:r>
            <a:endParaRPr/>
          </a:p>
        </p:txBody>
      </p:sp>
      <p:sp>
        <p:nvSpPr>
          <p:cNvPr id="453" name="Google Shape;453;p9"/>
          <p:cNvSpPr txBox="1"/>
          <p:nvPr/>
        </p:nvSpPr>
        <p:spPr>
          <a:xfrm>
            <a:off x="1371600" y="2468880"/>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Gemini on page images, Document AI Enterprise OCR for scans and photos</a:t>
            </a:r>
            <a:endParaRPr/>
          </a:p>
        </p:txBody>
      </p:sp>
      <p:cxnSp>
        <p:nvCxnSpPr>
          <p:cNvPr id="454" name="Google Shape;454;p9"/>
          <p:cNvCxnSpPr/>
          <p:nvPr/>
        </p:nvCxnSpPr>
        <p:spPr>
          <a:xfrm>
            <a:off x="4754880" y="2359152"/>
            <a:ext cx="3977640" cy="0"/>
          </a:xfrm>
          <a:prstGeom prst="straightConnector1">
            <a:avLst/>
          </a:prstGeom>
          <a:noFill/>
          <a:ln cap="flat" cmpd="sng" w="9525">
            <a:solidFill>
              <a:srgbClr val="DCE1E5"/>
            </a:solidFill>
            <a:prstDash val="solid"/>
            <a:round/>
            <a:headEnd len="sm" w="sm" type="none"/>
            <a:tailEnd len="sm" w="sm" type="none"/>
          </a:ln>
        </p:spPr>
      </p:cxnSp>
      <p:sp>
        <p:nvSpPr>
          <p:cNvPr id="455" name="Google Shape;455;p9"/>
          <p:cNvSpPr txBox="1"/>
          <p:nvPr/>
        </p:nvSpPr>
        <p:spPr>
          <a:xfrm>
            <a:off x="4754880" y="2468880"/>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Runtime</a:t>
            </a:r>
            <a:endParaRPr/>
          </a:p>
        </p:txBody>
      </p:sp>
      <p:sp>
        <p:nvSpPr>
          <p:cNvPr id="456" name="Google Shape;456;p9"/>
          <p:cNvSpPr txBox="1"/>
          <p:nvPr/>
        </p:nvSpPr>
        <p:spPr>
          <a:xfrm>
            <a:off x="5715000" y="2468880"/>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Cloud Run (web and worker), Cloud Tasks, Firebase Hosting</a:t>
            </a:r>
            <a:endParaRPr/>
          </a:p>
        </p:txBody>
      </p:sp>
      <p:cxnSp>
        <p:nvCxnSpPr>
          <p:cNvPr id="457" name="Google Shape;457;p9"/>
          <p:cNvCxnSpPr/>
          <p:nvPr/>
        </p:nvCxnSpPr>
        <p:spPr>
          <a:xfrm>
            <a:off x="411480" y="2962656"/>
            <a:ext cx="3977640" cy="0"/>
          </a:xfrm>
          <a:prstGeom prst="straightConnector1">
            <a:avLst/>
          </a:prstGeom>
          <a:noFill/>
          <a:ln cap="flat" cmpd="sng" w="9525">
            <a:solidFill>
              <a:srgbClr val="DCE1E5"/>
            </a:solidFill>
            <a:prstDash val="solid"/>
            <a:round/>
            <a:headEnd len="sm" w="sm" type="none"/>
            <a:tailEnd len="sm" w="sm" type="none"/>
          </a:ln>
        </p:spPr>
      </p:cxnSp>
      <p:sp>
        <p:nvSpPr>
          <p:cNvPr id="458" name="Google Shape;458;p9"/>
          <p:cNvSpPr txBox="1"/>
          <p:nvPr/>
        </p:nvSpPr>
        <p:spPr>
          <a:xfrm>
            <a:off x="411480" y="3072384"/>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Data</a:t>
            </a:r>
            <a:endParaRPr/>
          </a:p>
        </p:txBody>
      </p:sp>
      <p:sp>
        <p:nvSpPr>
          <p:cNvPr id="459" name="Google Shape;459;p9"/>
          <p:cNvSpPr txBox="1"/>
          <p:nvPr/>
        </p:nvSpPr>
        <p:spPr>
          <a:xfrm>
            <a:off x="1371600" y="3072384"/>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Firestore with vector search, Cloud Storage</a:t>
            </a:r>
            <a:endParaRPr/>
          </a:p>
        </p:txBody>
      </p:sp>
      <p:cxnSp>
        <p:nvCxnSpPr>
          <p:cNvPr id="460" name="Google Shape;460;p9"/>
          <p:cNvCxnSpPr/>
          <p:nvPr/>
        </p:nvCxnSpPr>
        <p:spPr>
          <a:xfrm>
            <a:off x="4754880" y="2962656"/>
            <a:ext cx="3977640" cy="0"/>
          </a:xfrm>
          <a:prstGeom prst="straightConnector1">
            <a:avLst/>
          </a:prstGeom>
          <a:noFill/>
          <a:ln cap="flat" cmpd="sng" w="9525">
            <a:solidFill>
              <a:srgbClr val="DCE1E5"/>
            </a:solidFill>
            <a:prstDash val="solid"/>
            <a:round/>
            <a:headEnd len="sm" w="sm" type="none"/>
            <a:tailEnd len="sm" w="sm" type="none"/>
          </a:ln>
        </p:spPr>
      </p:cxnSp>
      <p:sp>
        <p:nvSpPr>
          <p:cNvPr id="461" name="Google Shape;461;p9"/>
          <p:cNvSpPr txBox="1"/>
          <p:nvPr/>
        </p:nvSpPr>
        <p:spPr>
          <a:xfrm>
            <a:off x="4754880" y="3072384"/>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Identity</a:t>
            </a:r>
            <a:endParaRPr/>
          </a:p>
        </p:txBody>
      </p:sp>
      <p:sp>
        <p:nvSpPr>
          <p:cNvPr id="462" name="Google Shape;462;p9"/>
          <p:cNvSpPr txBox="1"/>
          <p:nvPr/>
        </p:nvSpPr>
        <p:spPr>
          <a:xfrm>
            <a:off x="5715000" y="3072384"/>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Firebase Authentication (Google or email), IAM-only worker with OIDC, Secret Manager</a:t>
            </a:r>
            <a:endParaRPr/>
          </a:p>
        </p:txBody>
      </p:sp>
      <p:cxnSp>
        <p:nvCxnSpPr>
          <p:cNvPr id="463" name="Google Shape;463;p9"/>
          <p:cNvCxnSpPr/>
          <p:nvPr/>
        </p:nvCxnSpPr>
        <p:spPr>
          <a:xfrm>
            <a:off x="411480" y="3566160"/>
            <a:ext cx="3977640" cy="0"/>
          </a:xfrm>
          <a:prstGeom prst="straightConnector1">
            <a:avLst/>
          </a:prstGeom>
          <a:noFill/>
          <a:ln cap="flat" cmpd="sng" w="9525">
            <a:solidFill>
              <a:srgbClr val="DCE1E5"/>
            </a:solidFill>
            <a:prstDash val="solid"/>
            <a:round/>
            <a:headEnd len="sm" w="sm" type="none"/>
            <a:tailEnd len="sm" w="sm" type="none"/>
          </a:ln>
        </p:spPr>
      </p:cxnSp>
      <p:sp>
        <p:nvSpPr>
          <p:cNvPr id="464" name="Google Shape;464;p9"/>
          <p:cNvSpPr txBox="1"/>
          <p:nvPr/>
        </p:nvSpPr>
        <p:spPr>
          <a:xfrm>
            <a:off x="411480" y="3675887"/>
            <a:ext cx="914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Delivery</a:t>
            </a:r>
            <a:endParaRPr/>
          </a:p>
        </p:txBody>
      </p:sp>
      <p:sp>
        <p:nvSpPr>
          <p:cNvPr id="465" name="Google Shape;465;p9"/>
          <p:cNvSpPr txBox="1"/>
          <p:nvPr/>
        </p:nvSpPr>
        <p:spPr>
          <a:xfrm>
            <a:off x="1371600" y="3675887"/>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Cloud Build, Artifact Registry, Cloud Scheduler, Cloud Logging, Cloud Monitoring</a:t>
            </a:r>
            <a:endParaRPr/>
          </a:p>
        </p:txBody>
      </p:sp>
      <p:cxnSp>
        <p:nvCxnSpPr>
          <p:cNvPr id="466" name="Google Shape;466;p9"/>
          <p:cNvCxnSpPr/>
          <p:nvPr/>
        </p:nvCxnSpPr>
        <p:spPr>
          <a:xfrm>
            <a:off x="4754880" y="3566160"/>
            <a:ext cx="3977640" cy="0"/>
          </a:xfrm>
          <a:prstGeom prst="straightConnector1">
            <a:avLst/>
          </a:prstGeom>
          <a:noFill/>
          <a:ln cap="flat" cmpd="sng" w="9525">
            <a:solidFill>
              <a:srgbClr val="DCE1E5"/>
            </a:solidFill>
            <a:prstDash val="solid"/>
            <a:round/>
            <a:headEnd len="sm" w="sm" type="none"/>
            <a:tailEnd len="sm" w="sm" type="none"/>
          </a:ln>
        </p:spPr>
      </p:cxnSp>
      <p:sp>
        <p:nvSpPr>
          <p:cNvPr id="467" name="Google Shape;467;p9"/>
          <p:cNvSpPr/>
          <p:nvPr/>
        </p:nvSpPr>
        <p:spPr>
          <a:xfrm>
            <a:off x="4754880" y="3675887"/>
            <a:ext cx="725667" cy="182880"/>
          </a:xfrm>
          <a:prstGeom prst="roundRect">
            <a:avLst>
              <a:gd fmla="val 25000" name="adj"/>
            </a:avLst>
          </a:prstGeom>
          <a:solidFill>
            <a:srgbClr val="FFF5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7F5A00"/>
                </a:solidFill>
                <a:latin typeface="Archivo Medium"/>
                <a:ea typeface="Archivo Medium"/>
                <a:cs typeface="Archivo Medium"/>
                <a:sym typeface="Archivo Medium"/>
              </a:rPr>
              <a:t>Planned, P1</a:t>
            </a:r>
            <a:endParaRPr/>
          </a:p>
        </p:txBody>
      </p:sp>
      <p:sp>
        <p:nvSpPr>
          <p:cNvPr id="468" name="Google Shape;468;p9"/>
          <p:cNvSpPr txBox="1"/>
          <p:nvPr/>
        </p:nvSpPr>
        <p:spPr>
          <a:xfrm>
            <a:off x="5715000" y="3675887"/>
            <a:ext cx="301752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Model Armor screening, Agent Platform Sessions and Memory Bank for the assistant</a:t>
            </a:r>
            <a:endParaRPr/>
          </a:p>
        </p:txBody>
      </p:sp>
      <p:cxnSp>
        <p:nvCxnSpPr>
          <p:cNvPr id="469" name="Google Shape;469;p9"/>
          <p:cNvCxnSpPr/>
          <p:nvPr/>
        </p:nvCxnSpPr>
        <p:spPr>
          <a:xfrm>
            <a:off x="411480" y="4169664"/>
            <a:ext cx="8321040" cy="0"/>
          </a:xfrm>
          <a:prstGeom prst="straightConnector1">
            <a:avLst/>
          </a:prstGeom>
          <a:noFill/>
          <a:ln cap="flat" cmpd="sng" w="9525">
            <a:solidFill>
              <a:srgbClr val="DCE1E5"/>
            </a:solidFill>
            <a:prstDash val="solid"/>
            <a:round/>
            <a:headEnd len="sm" w="sm" type="none"/>
            <a:tailEnd len="sm" w="sm" type="none"/>
          </a:ln>
        </p:spPr>
      </p:cxnSp>
      <p:sp>
        <p:nvSpPr>
          <p:cNvPr id="470" name="Google Shape;470;p9"/>
          <p:cNvSpPr txBox="1"/>
          <p:nvPr/>
        </p:nvSpPr>
        <p:spPr>
          <a:xfrm>
            <a:off x="411480" y="4306824"/>
            <a:ext cx="14630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Open source inside</a:t>
            </a:r>
            <a:endParaRPr/>
          </a:p>
        </p:txBody>
      </p:sp>
      <p:sp>
        <p:nvSpPr>
          <p:cNvPr id="471" name="Google Shape;471;p9"/>
          <p:cNvSpPr/>
          <p:nvPr/>
        </p:nvSpPr>
        <p:spPr>
          <a:xfrm>
            <a:off x="1920240" y="4297680"/>
            <a:ext cx="514990"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FastAPI</a:t>
            </a:r>
            <a:endParaRPr/>
          </a:p>
        </p:txBody>
      </p:sp>
      <p:sp>
        <p:nvSpPr>
          <p:cNvPr id="472" name="Google Shape;472;p9"/>
          <p:cNvSpPr/>
          <p:nvPr/>
        </p:nvSpPr>
        <p:spPr>
          <a:xfrm>
            <a:off x="2490094" y="4297680"/>
            <a:ext cx="567659"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Pydantic</a:t>
            </a:r>
            <a:endParaRPr/>
          </a:p>
        </p:txBody>
      </p:sp>
      <p:sp>
        <p:nvSpPr>
          <p:cNvPr id="473" name="Google Shape;473;p9"/>
          <p:cNvSpPr/>
          <p:nvPr/>
        </p:nvSpPr>
        <p:spPr>
          <a:xfrm>
            <a:off x="3112617" y="4297680"/>
            <a:ext cx="514990"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pikepdf</a:t>
            </a:r>
            <a:endParaRPr/>
          </a:p>
        </p:txBody>
      </p:sp>
      <p:sp>
        <p:nvSpPr>
          <p:cNvPr id="474" name="Google Shape;474;p9"/>
          <p:cNvSpPr/>
          <p:nvPr/>
        </p:nvSpPr>
        <p:spPr>
          <a:xfrm>
            <a:off x="3682471" y="4297680"/>
            <a:ext cx="567659"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React 19</a:t>
            </a:r>
            <a:endParaRPr/>
          </a:p>
        </p:txBody>
      </p:sp>
      <p:sp>
        <p:nvSpPr>
          <p:cNvPr id="475" name="Google Shape;475;p9"/>
          <p:cNvSpPr/>
          <p:nvPr/>
        </p:nvSpPr>
        <p:spPr>
          <a:xfrm>
            <a:off x="4304995" y="4297680"/>
            <a:ext cx="356981"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Vite</a:t>
            </a:r>
            <a:endParaRPr/>
          </a:p>
        </p:txBody>
      </p:sp>
      <p:sp>
        <p:nvSpPr>
          <p:cNvPr id="476" name="Google Shape;476;p9"/>
          <p:cNvSpPr/>
          <p:nvPr/>
        </p:nvSpPr>
        <p:spPr>
          <a:xfrm>
            <a:off x="4716840" y="4297680"/>
            <a:ext cx="725667"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Tailwind v4</a:t>
            </a:r>
            <a:endParaRPr/>
          </a:p>
        </p:txBody>
      </p:sp>
      <p:sp>
        <p:nvSpPr>
          <p:cNvPr id="477" name="Google Shape;477;p9"/>
          <p:cNvSpPr/>
          <p:nvPr/>
        </p:nvSpPr>
        <p:spPr>
          <a:xfrm>
            <a:off x="5497372" y="4297680"/>
            <a:ext cx="883676"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TanStack Query</a:t>
            </a:r>
            <a:endParaRPr/>
          </a:p>
        </p:txBody>
      </p:sp>
      <p:sp>
        <p:nvSpPr>
          <p:cNvPr id="478" name="Google Shape;478;p9"/>
          <p:cNvSpPr/>
          <p:nvPr/>
        </p:nvSpPr>
        <p:spPr>
          <a:xfrm>
            <a:off x="6435912" y="4297680"/>
            <a:ext cx="620328"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d3-sankey</a:t>
            </a:r>
            <a:endParaRPr/>
          </a:p>
        </p:txBody>
      </p:sp>
      <p:sp>
        <p:nvSpPr>
          <p:cNvPr id="479" name="Google Shape;479;p9"/>
          <p:cNvSpPr/>
          <p:nvPr/>
        </p:nvSpPr>
        <p:spPr>
          <a:xfrm>
            <a:off x="7111105" y="4297680"/>
            <a:ext cx="620328"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Storybook</a:t>
            </a:r>
            <a:endParaRPr/>
          </a:p>
        </p:txBody>
      </p:sp>
      <p:sp>
        <p:nvSpPr>
          <p:cNvPr id="480" name="Google Shape;480;p9"/>
          <p:cNvSpPr/>
          <p:nvPr/>
        </p:nvSpPr>
        <p:spPr>
          <a:xfrm>
            <a:off x="7786298" y="4297680"/>
            <a:ext cx="672998"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Playwright</a:t>
            </a:r>
            <a:endParaRPr/>
          </a:p>
        </p:txBody>
      </p:sp>
      <p:sp>
        <p:nvSpPr>
          <p:cNvPr id="481" name="Google Shape;481;p9"/>
          <p:cNvSpPr txBox="1"/>
          <p:nvPr/>
        </p:nvSpPr>
        <p:spPr>
          <a:xfrm>
            <a:off x="411480" y="4709160"/>
            <a:ext cx="83210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Model IDs are configuration, never literals in code; prompts are versioned files; every limit lives in a plan contract enforced on the server.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10"/>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87" name="Google Shape;487;p1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488" name="Google Shape;488;p10"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489" name="Google Shape;489;p1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10"/>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How we use Gemini</a:t>
            </a:r>
            <a:endParaRPr/>
          </a:p>
        </p:txBody>
      </p:sp>
      <p:sp>
        <p:nvSpPr>
          <p:cNvPr id="491" name="Google Shape;491;p10"/>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Gemini reads and explains. Code decides every number</a:t>
            </a:r>
            <a:endParaRPr/>
          </a:p>
        </p:txBody>
      </p:sp>
      <p:sp>
        <p:nvSpPr>
          <p:cNvPr id="492" name="Google Shape;492;p10"/>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10</a:t>
            </a:r>
            <a:endParaRPr/>
          </a:p>
        </p:txBody>
      </p:sp>
      <p:sp>
        <p:nvSpPr>
          <p:cNvPr id="493" name="Google Shape;493;p10"/>
          <p:cNvSpPr/>
          <p:nvPr/>
        </p:nvSpPr>
        <p:spPr>
          <a:xfrm>
            <a:off x="411480" y="1527048"/>
            <a:ext cx="3931920" cy="3127248"/>
          </a:xfrm>
          <a:prstGeom prst="roundRect">
            <a:avLst>
              <a:gd fmla="val 4093" name="adj"/>
            </a:avLst>
          </a:prstGeom>
          <a:solidFill>
            <a:srgbClr val="FFFFFF"/>
          </a:solidFill>
          <a:ln cap="flat" cmpd="sng" w="9525">
            <a:solidFill>
              <a:srgbClr val="DCE1E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10"/>
          <p:cNvSpPr txBox="1"/>
          <p:nvPr/>
        </p:nvSpPr>
        <p:spPr>
          <a:xfrm>
            <a:off x="612648" y="1645919"/>
            <a:ext cx="2743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4A2FCC"/>
                </a:solidFill>
                <a:latin typeface="Archivo SemiBold"/>
                <a:ea typeface="Archivo SemiBold"/>
                <a:cs typeface="Archivo SemiBold"/>
                <a:sym typeface="Archivo SemiBold"/>
              </a:rPr>
              <a:t>Where Gemini works</a:t>
            </a:r>
            <a:endParaRPr/>
          </a:p>
        </p:txBody>
      </p:sp>
      <p:sp>
        <p:nvSpPr>
          <p:cNvPr id="495" name="Google Shape;495;p10"/>
          <p:cNvSpPr txBox="1"/>
          <p:nvPr/>
        </p:nvSpPr>
        <p:spPr>
          <a:xfrm>
            <a:off x="612648" y="1965960"/>
            <a:ext cx="260604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Read each page image into values, citing the layout chunk of every value</a:t>
            </a:r>
            <a:endParaRPr/>
          </a:p>
        </p:txBody>
      </p:sp>
      <p:sp>
        <p:nvSpPr>
          <p:cNvPr id="496" name="Google Shape;496;p10"/>
          <p:cNvSpPr/>
          <p:nvPr/>
        </p:nvSpPr>
        <p:spPr>
          <a:xfrm>
            <a:off x="3767328" y="1965960"/>
            <a:ext cx="393192"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4A2FCC"/>
                </a:solidFill>
                <a:latin typeface="Archivo Medium"/>
                <a:ea typeface="Archivo Medium"/>
                <a:cs typeface="Archivo Medium"/>
                <a:sym typeface="Archivo Medium"/>
              </a:rPr>
              <a:t>Flash</a:t>
            </a:r>
            <a:endParaRPr/>
          </a:p>
        </p:txBody>
      </p:sp>
      <p:sp>
        <p:nvSpPr>
          <p:cNvPr id="497" name="Google Shape;497;p10"/>
          <p:cNvSpPr txBox="1"/>
          <p:nvPr/>
        </p:nvSpPr>
        <p:spPr>
          <a:xfrm>
            <a:off x="612648" y="2395728"/>
            <a:ext cx="260604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Classify each document</a:t>
            </a:r>
            <a:endParaRPr/>
          </a:p>
        </p:txBody>
      </p:sp>
      <p:sp>
        <p:nvSpPr>
          <p:cNvPr id="498" name="Google Shape;498;p10"/>
          <p:cNvSpPr/>
          <p:nvPr/>
        </p:nvSpPr>
        <p:spPr>
          <a:xfrm>
            <a:off x="3520439" y="2395728"/>
            <a:ext cx="640080"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4A2FCC"/>
                </a:solidFill>
                <a:latin typeface="Archivo Medium"/>
                <a:ea typeface="Archivo Medium"/>
                <a:cs typeface="Archivo Medium"/>
                <a:sym typeface="Archivo Medium"/>
              </a:rPr>
              <a:t>Flash-Lite</a:t>
            </a:r>
            <a:endParaRPr/>
          </a:p>
        </p:txBody>
      </p:sp>
      <p:sp>
        <p:nvSpPr>
          <p:cNvPr id="499" name="Google Shape;499;p10"/>
          <p:cNvSpPr txBox="1"/>
          <p:nvPr/>
        </p:nvSpPr>
        <p:spPr>
          <a:xfrm>
            <a:off x="612648" y="2825496"/>
            <a:ext cx="260604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Propose ledger columns only when code cannot place a header</a:t>
            </a:r>
            <a:endParaRPr/>
          </a:p>
        </p:txBody>
      </p:sp>
      <p:sp>
        <p:nvSpPr>
          <p:cNvPr id="500" name="Google Shape;500;p10"/>
          <p:cNvSpPr/>
          <p:nvPr/>
        </p:nvSpPr>
        <p:spPr>
          <a:xfrm>
            <a:off x="3520439" y="2825496"/>
            <a:ext cx="640080"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4A2FCC"/>
                </a:solidFill>
                <a:latin typeface="Archivo Medium"/>
                <a:ea typeface="Archivo Medium"/>
                <a:cs typeface="Archivo Medium"/>
                <a:sym typeface="Archivo Medium"/>
              </a:rPr>
              <a:t>Flash-Lite</a:t>
            </a:r>
            <a:endParaRPr/>
          </a:p>
        </p:txBody>
      </p:sp>
      <p:sp>
        <p:nvSpPr>
          <p:cNvPr id="501" name="Google Shape;501;p10"/>
          <p:cNvSpPr txBox="1"/>
          <p:nvPr/>
        </p:nvSpPr>
        <p:spPr>
          <a:xfrm>
            <a:off x="612648" y="3255263"/>
            <a:ext cx="260604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Categorize bank lines in cached batches of 100</a:t>
            </a:r>
            <a:endParaRPr/>
          </a:p>
        </p:txBody>
      </p:sp>
      <p:sp>
        <p:nvSpPr>
          <p:cNvPr id="502" name="Google Shape;502;p10"/>
          <p:cNvSpPr/>
          <p:nvPr/>
        </p:nvSpPr>
        <p:spPr>
          <a:xfrm>
            <a:off x="3520439" y="3255263"/>
            <a:ext cx="640080"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4A2FCC"/>
                </a:solidFill>
                <a:latin typeface="Archivo Medium"/>
                <a:ea typeface="Archivo Medium"/>
                <a:cs typeface="Archivo Medium"/>
                <a:sym typeface="Archivo Medium"/>
              </a:rPr>
              <a:t>Flash-Lite</a:t>
            </a:r>
            <a:endParaRPr/>
          </a:p>
        </p:txBody>
      </p:sp>
      <p:sp>
        <p:nvSpPr>
          <p:cNvPr id="503" name="Google Shape;503;p10"/>
          <p:cNvSpPr txBox="1"/>
          <p:nvPr/>
        </p:nvSpPr>
        <p:spPr>
          <a:xfrm>
            <a:off x="612648" y="3685031"/>
            <a:ext cx="260604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Explain each month's risk and order the next steps</a:t>
            </a:r>
            <a:endParaRPr/>
          </a:p>
        </p:txBody>
      </p:sp>
      <p:sp>
        <p:nvSpPr>
          <p:cNvPr id="504" name="Google Shape;504;p10"/>
          <p:cNvSpPr/>
          <p:nvPr/>
        </p:nvSpPr>
        <p:spPr>
          <a:xfrm>
            <a:off x="3767328" y="3685031"/>
            <a:ext cx="393192"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4A2FCC"/>
                </a:solidFill>
                <a:latin typeface="Archivo Medium"/>
                <a:ea typeface="Archivo Medium"/>
                <a:cs typeface="Archivo Medium"/>
                <a:sym typeface="Archivo Medium"/>
              </a:rPr>
              <a:t>Flash</a:t>
            </a:r>
            <a:endParaRPr/>
          </a:p>
        </p:txBody>
      </p:sp>
      <p:sp>
        <p:nvSpPr>
          <p:cNvPr id="505" name="Google Shape;505;p10"/>
          <p:cNvSpPr txBox="1"/>
          <p:nvPr/>
        </p:nvSpPr>
        <p:spPr>
          <a:xfrm>
            <a:off x="612648" y="4114799"/>
            <a:ext cx="260604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Answer questions from the books, quoting the pages used</a:t>
            </a:r>
            <a:endParaRPr/>
          </a:p>
        </p:txBody>
      </p:sp>
      <p:sp>
        <p:nvSpPr>
          <p:cNvPr id="506" name="Google Shape;506;p10"/>
          <p:cNvSpPr/>
          <p:nvPr/>
        </p:nvSpPr>
        <p:spPr>
          <a:xfrm>
            <a:off x="3125419" y="4114799"/>
            <a:ext cx="1035100" cy="182880"/>
          </a:xfrm>
          <a:prstGeom prst="roundRect">
            <a:avLst>
              <a:gd fmla="val 25000" name="adj"/>
            </a:avLst>
          </a:prstGeom>
          <a:solidFill>
            <a:srgbClr val="F1EE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750" u="none" cap="none" strike="noStrike">
                <a:solidFill>
                  <a:srgbClr val="4A2FCC"/>
                </a:solidFill>
                <a:latin typeface="Archivo Medium"/>
                <a:ea typeface="Archivo Medium"/>
                <a:cs typeface="Archivo Medium"/>
                <a:sym typeface="Archivo Medium"/>
              </a:rPr>
              <a:t>Flash + embeddings</a:t>
            </a:r>
            <a:endParaRPr/>
          </a:p>
        </p:txBody>
      </p:sp>
      <p:sp>
        <p:nvSpPr>
          <p:cNvPr id="507" name="Google Shape;507;p10"/>
          <p:cNvSpPr txBox="1"/>
          <p:nvPr/>
        </p:nvSpPr>
        <p:spPr>
          <a:xfrm>
            <a:off x="4800600" y="1572768"/>
            <a:ext cx="39319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Where code decides</a:t>
            </a:r>
            <a:endParaRPr/>
          </a:p>
        </p:txBody>
      </p:sp>
      <p:sp>
        <p:nvSpPr>
          <p:cNvPr id="508" name="Google Shape;508;p10"/>
          <p:cNvSpPr/>
          <p:nvPr/>
        </p:nvSpPr>
        <p:spPr>
          <a:xfrm>
            <a:off x="4800600" y="1962759"/>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10"/>
          <p:cNvSpPr txBox="1"/>
          <p:nvPr/>
        </p:nvSpPr>
        <p:spPr>
          <a:xfrm>
            <a:off x="5029200" y="1920240"/>
            <a:ext cx="370332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Grounds every value in the page's own words; the model never marks itself right</a:t>
            </a:r>
            <a:endParaRPr/>
          </a:p>
        </p:txBody>
      </p:sp>
      <p:sp>
        <p:nvSpPr>
          <p:cNvPr id="510" name="Google Shape;510;p10"/>
          <p:cNvSpPr/>
          <p:nvPr/>
        </p:nvSpPr>
        <p:spPr>
          <a:xfrm>
            <a:off x="4800600" y="2383383"/>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10"/>
          <p:cNvSpPr txBox="1"/>
          <p:nvPr/>
        </p:nvSpPr>
        <p:spPr>
          <a:xfrm>
            <a:off x="5029200" y="2340864"/>
            <a:ext cx="370332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Duplicates by SHA-256 and by content; held, never deleted</a:t>
            </a:r>
            <a:endParaRPr/>
          </a:p>
        </p:txBody>
      </p:sp>
      <p:sp>
        <p:nvSpPr>
          <p:cNvPr id="512" name="Google Shape;512;p10"/>
          <p:cNvSpPr/>
          <p:nvPr/>
        </p:nvSpPr>
        <p:spPr>
          <a:xfrm>
            <a:off x="4800600" y="2804007"/>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10"/>
          <p:cNvSpPr txBox="1"/>
          <p:nvPr/>
        </p:nvSpPr>
        <p:spPr>
          <a:xfrm>
            <a:off x="5029200" y="2761488"/>
            <a:ext cx="370332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Forensics, matching and totals in Decimal; same data, same result</a:t>
            </a:r>
            <a:endParaRPr/>
          </a:p>
        </p:txBody>
      </p:sp>
      <p:sp>
        <p:nvSpPr>
          <p:cNvPr id="514" name="Google Shape;514;p10"/>
          <p:cNvSpPr/>
          <p:nvPr/>
        </p:nvSpPr>
        <p:spPr>
          <a:xfrm>
            <a:off x="4800600" y="3224631"/>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10"/>
          <p:cNvSpPr txBox="1"/>
          <p:nvPr/>
        </p:nvSpPr>
        <p:spPr>
          <a:xfrm>
            <a:off x="5029200" y="3182112"/>
            <a:ext cx="370332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Risk levels from a versioned policy file</a:t>
            </a:r>
            <a:endParaRPr/>
          </a:p>
        </p:txBody>
      </p:sp>
      <p:sp>
        <p:nvSpPr>
          <p:cNvPr id="516" name="Google Shape;516;p10"/>
          <p:cNvSpPr/>
          <p:nvPr/>
        </p:nvSpPr>
        <p:spPr>
          <a:xfrm>
            <a:off x="4800600" y="3645255"/>
            <a:ext cx="118872" cy="101041"/>
          </a:xfrm>
          <a:custGeom>
            <a:rect b="b" l="l" r="r" t="t"/>
            <a:pathLst>
              <a:path extrusionOk="0" h="101041" w="118872">
                <a:moveTo>
                  <a:pt x="0" y="59436"/>
                </a:moveTo>
                <a:lnTo>
                  <a:pt x="42793" y="101041"/>
                </a:lnTo>
                <a:lnTo>
                  <a:pt x="118872" y="0"/>
                </a:lnTo>
              </a:path>
            </a:pathLst>
          </a:custGeom>
          <a:noFill/>
          <a:ln cap="rnd" cmpd="sng" w="19050">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10"/>
          <p:cNvSpPr txBox="1"/>
          <p:nvPr/>
        </p:nvSpPr>
        <p:spPr>
          <a:xfrm>
            <a:off x="5029200" y="3602736"/>
            <a:ext cx="3703320" cy="384048"/>
          </a:xfrm>
          <a:prstGeom prst="rect">
            <a:avLst/>
          </a:prstGeom>
          <a:noFill/>
          <a:ln>
            <a:noFill/>
          </a:ln>
        </p:spPr>
        <p:txBody>
          <a:bodyPr anchorCtr="0" anchor="t" bIns="0" lIns="0" spcFirstLastPara="1" rIns="0" wrap="square" tIns="0">
            <a:noAutofit/>
          </a:bodyPr>
          <a:lstStyle/>
          <a:p>
            <a:pPr indent="0" lvl="0" marL="0" marR="0" rtl="0" algn="l">
              <a:lnSpc>
                <a:spcPct val="103000"/>
              </a:lnSpc>
              <a:spcBef>
                <a:spcPts val="0"/>
              </a:spcBef>
              <a:spcAft>
                <a:spcPts val="0"/>
              </a:spcAft>
              <a:buNone/>
            </a:pPr>
            <a:r>
              <a:rPr b="0" i="0" lang="en-US" sz="900" u="none" cap="none" strike="noStrike">
                <a:solidFill>
                  <a:srgbClr val="16212B"/>
                </a:solidFill>
                <a:latin typeface="Archivo"/>
                <a:ea typeface="Archivo"/>
                <a:cs typeface="Archivo"/>
                <a:sym typeface="Archivo"/>
              </a:rPr>
              <a:t>A grounding guard checks each number Gemini writes before you see it</a:t>
            </a:r>
            <a:endParaRPr/>
          </a:p>
        </p:txBody>
      </p:sp>
      <p:cxnSp>
        <p:nvCxnSpPr>
          <p:cNvPr id="518" name="Google Shape;518;p10"/>
          <p:cNvCxnSpPr/>
          <p:nvPr/>
        </p:nvCxnSpPr>
        <p:spPr>
          <a:xfrm>
            <a:off x="4800600" y="4050792"/>
            <a:ext cx="3931920" cy="0"/>
          </a:xfrm>
          <a:prstGeom prst="straightConnector1">
            <a:avLst/>
          </a:prstGeom>
          <a:noFill/>
          <a:ln cap="flat" cmpd="sng" w="9525">
            <a:solidFill>
              <a:srgbClr val="DCE1E5"/>
            </a:solidFill>
            <a:prstDash val="solid"/>
            <a:round/>
            <a:headEnd len="sm" w="sm" type="none"/>
            <a:tailEnd len="sm" w="sm" type="none"/>
          </a:ln>
        </p:spPr>
      </p:cxnSp>
      <p:sp>
        <p:nvSpPr>
          <p:cNvPr id="519" name="Google Shape;519;p10"/>
          <p:cNvSpPr txBox="1"/>
          <p:nvPr/>
        </p:nvSpPr>
        <p:spPr>
          <a:xfrm>
            <a:off x="4800600" y="4142232"/>
            <a:ext cx="393192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Medium"/>
                <a:ea typeface="Archivo Medium"/>
                <a:cs typeface="Archivo Medium"/>
                <a:sym typeface="Archivo Medium"/>
              </a:rPr>
              <a:t>Documents are adversarial. </a:t>
            </a:r>
            <a:r>
              <a:rPr b="0" i="0" lang="en-US" sz="900" u="none" cap="none" strike="noStrike">
                <a:solidFill>
                  <a:srgbClr val="56636F"/>
                </a:solidFill>
                <a:latin typeface="Archivo"/>
                <a:ea typeface="Archivo"/>
                <a:cs typeface="Archivo"/>
                <a:sym typeface="Archivo"/>
              </a:rPr>
              <a:t>Page text is data, never instructions; structured outputs only; prompts live in versioned files.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11"/>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525" name="Google Shape;525;p1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526" name="Google Shape;526;p11"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527" name="Google Shape;527;p1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11"/>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Estimated implementation cost</a:t>
            </a:r>
            <a:endParaRPr/>
          </a:p>
        </p:txBody>
      </p:sp>
      <p:sp>
        <p:nvSpPr>
          <p:cNvPr id="529" name="Google Shape;529;p11"/>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About USD 0.45 to read and check a half-year of books</a:t>
            </a:r>
            <a:endParaRPr/>
          </a:p>
        </p:txBody>
      </p:sp>
      <p:sp>
        <p:nvSpPr>
          <p:cNvPr id="530" name="Google Shape;530;p11"/>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11</a:t>
            </a:r>
            <a:endParaRPr/>
          </a:p>
        </p:txBody>
      </p:sp>
      <p:sp>
        <p:nvSpPr>
          <p:cNvPr id="531" name="Google Shape;531;p11"/>
          <p:cNvSpPr txBox="1"/>
          <p:nvPr/>
        </p:nvSpPr>
        <p:spPr>
          <a:xfrm>
            <a:off x="411480" y="1527048"/>
            <a:ext cx="46634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50" u="none" cap="none" strike="noStrike">
                <a:solidFill>
                  <a:srgbClr val="56636F"/>
                </a:solidFill>
                <a:latin typeface="Archivo Medium"/>
                <a:ea typeface="Archivo Medium"/>
                <a:cs typeface="Archivo Medium"/>
                <a:sym typeface="Archivo Medium"/>
              </a:rPr>
              <a:t>Reading the statements and invoices of a half-year (scenario S1), USD</a:t>
            </a:r>
            <a:endParaRPr/>
          </a:p>
        </p:txBody>
      </p:sp>
      <p:graphicFrame>
        <p:nvGraphicFramePr>
          <p:cNvPr id="532" name="Google Shape;532;p11"/>
          <p:cNvGraphicFramePr/>
          <p:nvPr/>
        </p:nvGraphicFramePr>
        <p:xfrm>
          <a:off x="365760" y="1737360"/>
          <a:ext cx="4754880" cy="1828800"/>
        </p:xfrm>
        <a:graphic>
          <a:graphicData uri="http://schemas.openxmlformats.org/drawingml/2006/chart">
            <c:chart r:id="rId5"/>
          </a:graphicData>
        </a:graphic>
      </p:graphicFrame>
      <p:sp>
        <p:nvSpPr>
          <p:cNvPr id="533" name="Google Shape;533;p11"/>
          <p:cNvSpPr txBox="1"/>
          <p:nvPr/>
        </p:nvSpPr>
        <p:spPr>
          <a:xfrm>
            <a:off x="411480" y="3611880"/>
            <a:ext cx="4572000"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850" u="none" cap="none" strike="noStrike">
                <a:solidFill>
                  <a:srgbClr val="56636F"/>
                </a:solidFill>
                <a:latin typeface="Archivo"/>
                <a:ea typeface="Archivo"/>
                <a:cs typeface="Archivo"/>
                <a:sym typeface="Archivo"/>
              </a:rPr>
              <a:t>Gemini reads each page image; the free PDF text layer, or Document AI OCR at USD 1.50 per 1,000 pages for scans, is the witness. Exact duplicates cost nothing.</a:t>
            </a:r>
            <a:endParaRPr/>
          </a:p>
        </p:txBody>
      </p:sp>
      <p:cxnSp>
        <p:nvCxnSpPr>
          <p:cNvPr id="534" name="Google Shape;534;p11"/>
          <p:cNvCxnSpPr/>
          <p:nvPr/>
        </p:nvCxnSpPr>
        <p:spPr>
          <a:xfrm>
            <a:off x="411480" y="4114800"/>
            <a:ext cx="4572000" cy="0"/>
          </a:xfrm>
          <a:prstGeom prst="straightConnector1">
            <a:avLst/>
          </a:prstGeom>
          <a:noFill/>
          <a:ln cap="flat" cmpd="sng" w="9525">
            <a:solidFill>
              <a:srgbClr val="DCE1E5"/>
            </a:solidFill>
            <a:prstDash val="solid"/>
            <a:round/>
            <a:headEnd len="sm" w="sm" type="none"/>
            <a:tailEnd len="sm" w="sm" type="none"/>
          </a:ln>
        </p:spPr>
      </p:cxnSp>
      <p:sp>
        <p:nvSpPr>
          <p:cNvPr id="535" name="Google Shape;535;p11"/>
          <p:cNvSpPr txBox="1"/>
          <p:nvPr/>
        </p:nvSpPr>
        <p:spPr>
          <a:xfrm>
            <a:off x="411480" y="4206240"/>
            <a:ext cx="11887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16212B"/>
                </a:solidFill>
                <a:latin typeface="Archivo"/>
                <a:ea typeface="Archivo"/>
                <a:cs typeface="Archivo"/>
                <a:sym typeface="Archivo"/>
              </a:rPr>
              <a:t>USD 0.43</a:t>
            </a:r>
            <a:endParaRPr/>
          </a:p>
        </p:txBody>
      </p:sp>
      <p:cxnSp>
        <p:nvCxnSpPr>
          <p:cNvPr id="536" name="Google Shape;536;p11"/>
          <p:cNvCxnSpPr/>
          <p:nvPr/>
        </p:nvCxnSpPr>
        <p:spPr>
          <a:xfrm>
            <a:off x="411480" y="4498848"/>
            <a:ext cx="960120" cy="0"/>
          </a:xfrm>
          <a:prstGeom prst="straightConnector1">
            <a:avLst/>
          </a:prstGeom>
          <a:noFill/>
          <a:ln cap="flat" cmpd="sng" w="11425">
            <a:solidFill>
              <a:srgbClr val="17714F"/>
            </a:solidFill>
            <a:prstDash val="solid"/>
            <a:round/>
            <a:headEnd len="sm" w="sm" type="none"/>
            <a:tailEnd len="sm" w="sm" type="none"/>
          </a:ln>
        </p:spPr>
      </p:cxnSp>
      <p:cxnSp>
        <p:nvCxnSpPr>
          <p:cNvPr id="537" name="Google Shape;537;p11"/>
          <p:cNvCxnSpPr/>
          <p:nvPr/>
        </p:nvCxnSpPr>
        <p:spPr>
          <a:xfrm>
            <a:off x="411480" y="4530852"/>
            <a:ext cx="960120" cy="0"/>
          </a:xfrm>
          <a:prstGeom prst="straightConnector1">
            <a:avLst/>
          </a:prstGeom>
          <a:noFill/>
          <a:ln cap="flat" cmpd="sng" w="11425">
            <a:solidFill>
              <a:srgbClr val="17714F"/>
            </a:solidFill>
            <a:prstDash val="solid"/>
            <a:round/>
            <a:headEnd len="sm" w="sm" type="none"/>
            <a:tailEnd len="sm" w="sm" type="none"/>
          </a:ln>
        </p:spPr>
      </p:cxnSp>
      <p:sp>
        <p:nvSpPr>
          <p:cNvPr id="538" name="Google Shape;538;p11"/>
          <p:cNvSpPr txBox="1"/>
          <p:nvPr/>
        </p:nvSpPr>
        <p:spPr>
          <a:xfrm>
            <a:off x="1691639" y="4206240"/>
            <a:ext cx="3291840" cy="4114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16212B"/>
                </a:solidFill>
                <a:latin typeface="Archivo"/>
                <a:ea typeface="Archivo"/>
                <a:cs typeface="Archivo"/>
                <a:sym typeface="Archivo"/>
              </a:rPr>
              <a:t>Measured: one full reading of an earlier 80-document demo company (89 pages).</a:t>
            </a:r>
            <a:endParaRPr/>
          </a:p>
        </p:txBody>
      </p:sp>
      <p:sp>
        <p:nvSpPr>
          <p:cNvPr id="539" name="Google Shape;539;p11"/>
          <p:cNvSpPr txBox="1"/>
          <p:nvPr/>
        </p:nvSpPr>
        <p:spPr>
          <a:xfrm>
            <a:off x="5440680" y="1527048"/>
            <a:ext cx="32918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Unit costs</a:t>
            </a:r>
            <a:endParaRPr/>
          </a:p>
        </p:txBody>
      </p:sp>
      <p:cxnSp>
        <p:nvCxnSpPr>
          <p:cNvPr id="540" name="Google Shape;540;p11"/>
          <p:cNvCxnSpPr/>
          <p:nvPr/>
        </p:nvCxnSpPr>
        <p:spPr>
          <a:xfrm>
            <a:off x="5440680" y="1801368"/>
            <a:ext cx="3291840" cy="0"/>
          </a:xfrm>
          <a:prstGeom prst="straightConnector1">
            <a:avLst/>
          </a:prstGeom>
          <a:noFill/>
          <a:ln cap="flat" cmpd="sng" w="9525">
            <a:solidFill>
              <a:srgbClr val="DCE1E5"/>
            </a:solidFill>
            <a:prstDash val="solid"/>
            <a:round/>
            <a:headEnd len="sm" w="sm" type="none"/>
            <a:tailEnd len="sm" w="sm" type="none"/>
          </a:ln>
        </p:spPr>
      </p:cxnSp>
      <p:sp>
        <p:nvSpPr>
          <p:cNvPr id="541" name="Google Shape;541;p11"/>
          <p:cNvSpPr txBox="1"/>
          <p:nvPr/>
        </p:nvSpPr>
        <p:spPr>
          <a:xfrm>
            <a:off x="5440680" y="1856232"/>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3-page bank statement</a:t>
            </a:r>
            <a:endParaRPr/>
          </a:p>
        </p:txBody>
      </p:sp>
      <p:sp>
        <p:nvSpPr>
          <p:cNvPr id="542" name="Google Shape;542;p11"/>
          <p:cNvSpPr txBox="1"/>
          <p:nvPr/>
        </p:nvSpPr>
        <p:spPr>
          <a:xfrm>
            <a:off x="7818120" y="1856232"/>
            <a:ext cx="91440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00" u="none" cap="none" strike="noStrike">
                <a:solidFill>
                  <a:srgbClr val="16212B"/>
                </a:solidFill>
                <a:latin typeface="Archivo"/>
                <a:ea typeface="Archivo"/>
                <a:cs typeface="Archivo"/>
                <a:sym typeface="Archivo"/>
              </a:rPr>
              <a:t>USD 0.02</a:t>
            </a:r>
            <a:endParaRPr/>
          </a:p>
        </p:txBody>
      </p:sp>
      <p:cxnSp>
        <p:nvCxnSpPr>
          <p:cNvPr id="543" name="Google Shape;543;p11"/>
          <p:cNvCxnSpPr/>
          <p:nvPr/>
        </p:nvCxnSpPr>
        <p:spPr>
          <a:xfrm>
            <a:off x="5440680" y="2075688"/>
            <a:ext cx="3291840" cy="0"/>
          </a:xfrm>
          <a:prstGeom prst="straightConnector1">
            <a:avLst/>
          </a:prstGeom>
          <a:noFill/>
          <a:ln cap="flat" cmpd="sng" w="9525">
            <a:solidFill>
              <a:srgbClr val="DCE1E5"/>
            </a:solidFill>
            <a:prstDash val="solid"/>
            <a:round/>
            <a:headEnd len="sm" w="sm" type="none"/>
            <a:tailEnd len="sm" w="sm" type="none"/>
          </a:ln>
        </p:spPr>
      </p:cxnSp>
      <p:sp>
        <p:nvSpPr>
          <p:cNvPr id="544" name="Google Shape;544;p11"/>
          <p:cNvSpPr txBox="1"/>
          <p:nvPr/>
        </p:nvSpPr>
        <p:spPr>
          <a:xfrm>
            <a:off x="5440680" y="2130552"/>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Invoice</a:t>
            </a:r>
            <a:endParaRPr/>
          </a:p>
        </p:txBody>
      </p:sp>
      <p:sp>
        <p:nvSpPr>
          <p:cNvPr id="545" name="Google Shape;545;p11"/>
          <p:cNvSpPr txBox="1"/>
          <p:nvPr/>
        </p:nvSpPr>
        <p:spPr>
          <a:xfrm>
            <a:off x="7818120" y="2130552"/>
            <a:ext cx="91440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00" u="none" cap="none" strike="noStrike">
                <a:solidFill>
                  <a:srgbClr val="16212B"/>
                </a:solidFill>
                <a:latin typeface="Archivo"/>
                <a:ea typeface="Archivo"/>
                <a:cs typeface="Archivo"/>
                <a:sym typeface="Archivo"/>
              </a:rPr>
              <a:t>USD 0.004</a:t>
            </a:r>
            <a:endParaRPr/>
          </a:p>
        </p:txBody>
      </p:sp>
      <p:cxnSp>
        <p:nvCxnSpPr>
          <p:cNvPr id="546" name="Google Shape;546;p11"/>
          <p:cNvCxnSpPr/>
          <p:nvPr/>
        </p:nvCxnSpPr>
        <p:spPr>
          <a:xfrm>
            <a:off x="5440680" y="2350008"/>
            <a:ext cx="3291840" cy="0"/>
          </a:xfrm>
          <a:prstGeom prst="straightConnector1">
            <a:avLst/>
          </a:prstGeom>
          <a:noFill/>
          <a:ln cap="flat" cmpd="sng" w="9525">
            <a:solidFill>
              <a:srgbClr val="DCE1E5"/>
            </a:solidFill>
            <a:prstDash val="solid"/>
            <a:round/>
            <a:headEnd len="sm" w="sm" type="none"/>
            <a:tailEnd len="sm" w="sm" type="none"/>
          </a:ln>
        </p:spPr>
      </p:cxnSp>
      <p:sp>
        <p:nvSpPr>
          <p:cNvPr id="547" name="Google Shape;547;p11"/>
          <p:cNvSpPr txBox="1"/>
          <p:nvPr/>
        </p:nvSpPr>
        <p:spPr>
          <a:xfrm>
            <a:off x="5440680" y="2404872"/>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Receipt photo</a:t>
            </a:r>
            <a:endParaRPr/>
          </a:p>
        </p:txBody>
      </p:sp>
      <p:sp>
        <p:nvSpPr>
          <p:cNvPr id="548" name="Google Shape;548;p11"/>
          <p:cNvSpPr txBox="1"/>
          <p:nvPr/>
        </p:nvSpPr>
        <p:spPr>
          <a:xfrm>
            <a:off x="7818120" y="2404872"/>
            <a:ext cx="91440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00" u="none" cap="none" strike="noStrike">
                <a:solidFill>
                  <a:srgbClr val="16212B"/>
                </a:solidFill>
                <a:latin typeface="Archivo"/>
                <a:ea typeface="Archivo"/>
                <a:cs typeface="Archivo"/>
                <a:sym typeface="Archivo"/>
              </a:rPr>
              <a:t>USD 0.005</a:t>
            </a:r>
            <a:endParaRPr/>
          </a:p>
        </p:txBody>
      </p:sp>
      <p:cxnSp>
        <p:nvCxnSpPr>
          <p:cNvPr id="549" name="Google Shape;549;p11"/>
          <p:cNvCxnSpPr/>
          <p:nvPr/>
        </p:nvCxnSpPr>
        <p:spPr>
          <a:xfrm>
            <a:off x="5440680" y="2624327"/>
            <a:ext cx="3291840" cy="0"/>
          </a:xfrm>
          <a:prstGeom prst="straightConnector1">
            <a:avLst/>
          </a:prstGeom>
          <a:noFill/>
          <a:ln cap="flat" cmpd="sng" w="9525">
            <a:solidFill>
              <a:srgbClr val="DCE1E5"/>
            </a:solidFill>
            <a:prstDash val="solid"/>
            <a:round/>
            <a:headEnd len="sm" w="sm" type="none"/>
            <a:tailEnd len="sm" w="sm" type="none"/>
          </a:ln>
        </p:spPr>
      </p:cxnSp>
      <p:sp>
        <p:nvSpPr>
          <p:cNvPr id="550" name="Google Shape;550;p11"/>
          <p:cNvSpPr txBox="1"/>
          <p:nvPr/>
        </p:nvSpPr>
        <p:spPr>
          <a:xfrm>
            <a:off x="5440680" y="2679191"/>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Ledger file, new layout</a:t>
            </a:r>
            <a:endParaRPr/>
          </a:p>
        </p:txBody>
      </p:sp>
      <p:sp>
        <p:nvSpPr>
          <p:cNvPr id="551" name="Google Shape;551;p11"/>
          <p:cNvSpPr txBox="1"/>
          <p:nvPr/>
        </p:nvSpPr>
        <p:spPr>
          <a:xfrm>
            <a:off x="7818120" y="2679191"/>
            <a:ext cx="91440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00" u="none" cap="none" strike="noStrike">
                <a:solidFill>
                  <a:srgbClr val="16212B"/>
                </a:solidFill>
                <a:latin typeface="Archivo"/>
                <a:ea typeface="Archivo"/>
                <a:cs typeface="Archivo"/>
                <a:sym typeface="Archivo"/>
              </a:rPr>
              <a:t>USD 0.001</a:t>
            </a:r>
            <a:endParaRPr/>
          </a:p>
        </p:txBody>
      </p:sp>
      <p:cxnSp>
        <p:nvCxnSpPr>
          <p:cNvPr id="552" name="Google Shape;552;p11"/>
          <p:cNvCxnSpPr/>
          <p:nvPr/>
        </p:nvCxnSpPr>
        <p:spPr>
          <a:xfrm>
            <a:off x="5440680" y="2898647"/>
            <a:ext cx="3291840" cy="0"/>
          </a:xfrm>
          <a:prstGeom prst="straightConnector1">
            <a:avLst/>
          </a:prstGeom>
          <a:noFill/>
          <a:ln cap="flat" cmpd="sng" w="9525">
            <a:solidFill>
              <a:srgbClr val="DCE1E5"/>
            </a:solidFill>
            <a:prstDash val="solid"/>
            <a:round/>
            <a:headEnd len="sm" w="sm" type="none"/>
            <a:tailEnd len="sm" w="sm" type="none"/>
          </a:ln>
        </p:spPr>
      </p:cxnSp>
      <p:sp>
        <p:nvSpPr>
          <p:cNvPr id="553" name="Google Shape;553;p11"/>
          <p:cNvSpPr txBox="1"/>
          <p:nvPr/>
        </p:nvSpPr>
        <p:spPr>
          <a:xfrm>
            <a:off x="5440680" y="2953511"/>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Month run</a:t>
            </a:r>
            <a:endParaRPr/>
          </a:p>
        </p:txBody>
      </p:sp>
      <p:sp>
        <p:nvSpPr>
          <p:cNvPr id="554" name="Google Shape;554;p11"/>
          <p:cNvSpPr txBox="1"/>
          <p:nvPr/>
        </p:nvSpPr>
        <p:spPr>
          <a:xfrm>
            <a:off x="7818120" y="2953511"/>
            <a:ext cx="91440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00" u="none" cap="none" strike="noStrike">
                <a:solidFill>
                  <a:srgbClr val="16212B"/>
                </a:solidFill>
                <a:latin typeface="Archivo"/>
                <a:ea typeface="Archivo"/>
                <a:cs typeface="Archivo"/>
                <a:sym typeface="Archivo"/>
              </a:rPr>
              <a:t>USD ≤ 0.005</a:t>
            </a:r>
            <a:endParaRPr/>
          </a:p>
        </p:txBody>
      </p:sp>
      <p:cxnSp>
        <p:nvCxnSpPr>
          <p:cNvPr id="555" name="Google Shape;555;p11"/>
          <p:cNvCxnSpPr/>
          <p:nvPr/>
        </p:nvCxnSpPr>
        <p:spPr>
          <a:xfrm>
            <a:off x="5440680" y="3172967"/>
            <a:ext cx="3291840" cy="0"/>
          </a:xfrm>
          <a:prstGeom prst="straightConnector1">
            <a:avLst/>
          </a:prstGeom>
          <a:noFill/>
          <a:ln cap="flat" cmpd="sng" w="9525">
            <a:solidFill>
              <a:srgbClr val="DCE1E5"/>
            </a:solidFill>
            <a:prstDash val="solid"/>
            <a:round/>
            <a:headEnd len="sm" w="sm" type="none"/>
            <a:tailEnd len="sm" w="sm" type="none"/>
          </a:ln>
        </p:spPr>
      </p:cxnSp>
      <p:sp>
        <p:nvSpPr>
          <p:cNvPr id="556" name="Google Shape;556;p11"/>
          <p:cNvSpPr txBox="1"/>
          <p:nvPr/>
        </p:nvSpPr>
        <p:spPr>
          <a:xfrm>
            <a:off x="5440680" y="3227831"/>
            <a:ext cx="201168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Assistant question</a:t>
            </a:r>
            <a:endParaRPr/>
          </a:p>
        </p:txBody>
      </p:sp>
      <p:sp>
        <p:nvSpPr>
          <p:cNvPr id="557" name="Google Shape;557;p11"/>
          <p:cNvSpPr txBox="1"/>
          <p:nvPr/>
        </p:nvSpPr>
        <p:spPr>
          <a:xfrm>
            <a:off x="7818120" y="3227831"/>
            <a:ext cx="91440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900" u="none" cap="none" strike="noStrike">
                <a:solidFill>
                  <a:srgbClr val="16212B"/>
                </a:solidFill>
                <a:latin typeface="Archivo"/>
                <a:ea typeface="Archivo"/>
                <a:cs typeface="Archivo"/>
                <a:sym typeface="Archivo"/>
              </a:rPr>
              <a:t>USD 0.015</a:t>
            </a:r>
            <a:endParaRPr/>
          </a:p>
        </p:txBody>
      </p:sp>
      <p:cxnSp>
        <p:nvCxnSpPr>
          <p:cNvPr id="558" name="Google Shape;558;p11"/>
          <p:cNvCxnSpPr/>
          <p:nvPr/>
        </p:nvCxnSpPr>
        <p:spPr>
          <a:xfrm>
            <a:off x="5440680" y="3447287"/>
            <a:ext cx="3291840" cy="0"/>
          </a:xfrm>
          <a:prstGeom prst="straightConnector1">
            <a:avLst/>
          </a:prstGeom>
          <a:noFill/>
          <a:ln cap="flat" cmpd="sng" w="9525">
            <a:solidFill>
              <a:srgbClr val="DCE1E5"/>
            </a:solidFill>
            <a:prstDash val="solid"/>
            <a:round/>
            <a:headEnd len="sm" w="sm" type="none"/>
            <a:tailEnd len="sm" w="sm" type="none"/>
          </a:ln>
        </p:spPr>
      </p:cxnSp>
      <p:sp>
        <p:nvSpPr>
          <p:cNvPr id="559" name="Google Shape;559;p11"/>
          <p:cNvSpPr txBox="1"/>
          <p:nvPr/>
        </p:nvSpPr>
        <p:spPr>
          <a:xfrm>
            <a:off x="5440680" y="3630168"/>
            <a:ext cx="32918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Running it</a:t>
            </a:r>
            <a:endParaRPr/>
          </a:p>
        </p:txBody>
      </p:sp>
      <p:sp>
        <p:nvSpPr>
          <p:cNvPr id="560" name="Google Shape;560;p11"/>
          <p:cNvSpPr txBox="1"/>
          <p:nvPr/>
        </p:nvSpPr>
        <p:spPr>
          <a:xfrm>
            <a:off x="5440680" y="3877055"/>
            <a:ext cx="3291840" cy="10058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00" u="none" cap="none" strike="noStrike">
                <a:solidFill>
                  <a:srgbClr val="56636F"/>
                </a:solidFill>
                <a:latin typeface="Archivo"/>
                <a:ea typeface="Archivo"/>
                <a:cs typeface="Archivo"/>
                <a:sym typeface="Archivo"/>
              </a:rPr>
              <a:t>Serverless; Cloud Run scales to zero. Firestore for a half-year import ≈ USD 0.01.</a:t>
            </a:r>
            <a:endParaRPr/>
          </a:p>
          <a:p>
            <a:pPr indent="0" lvl="0" marL="0" marR="0" rtl="0" algn="l">
              <a:lnSpc>
                <a:spcPct val="105000"/>
              </a:lnSpc>
              <a:spcBef>
                <a:spcPts val="400"/>
              </a:spcBef>
              <a:spcAft>
                <a:spcPts val="0"/>
              </a:spcAft>
              <a:buNone/>
            </a:pPr>
            <a:r>
              <a:rPr b="0" i="0" lang="en-US" sz="900" u="none" cap="none" strike="noStrike">
                <a:solidFill>
                  <a:srgbClr val="56636F"/>
                </a:solidFill>
                <a:latin typeface="Archivo"/>
                <a:ea typeface="Archivo"/>
                <a:cs typeface="Archivo"/>
                <a:sym typeface="Archivo"/>
              </a:rPr>
              <a:t>Free trial capped at USD 5 of estimated AI spend per workspace per month.</a:t>
            </a:r>
            <a:endParaRPr/>
          </a:p>
          <a:p>
            <a:pPr indent="0" lvl="0" marL="0" marR="0" rtl="0" algn="l">
              <a:lnSpc>
                <a:spcPct val="105000"/>
              </a:lnSpc>
              <a:spcBef>
                <a:spcPts val="400"/>
              </a:spcBef>
              <a:spcAft>
                <a:spcPts val="0"/>
              </a:spcAft>
              <a:buNone/>
            </a:pPr>
            <a:r>
              <a:rPr b="0" i="0" lang="en-US" sz="900" u="none" cap="none" strike="noStrike">
                <a:solidFill>
                  <a:srgbClr val="56636F"/>
                </a:solidFill>
                <a:latin typeface="Archivo"/>
                <a:ea typeface="Archivo"/>
                <a:cs typeface="Archivo"/>
                <a:sym typeface="Archivo"/>
              </a:rPr>
              <a:t>Expected competition spend ≈ USD 60 to 90.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12"/>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566" name="Google Shape;566;p1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567" name="Google Shape;567;p12"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568" name="Google Shape;568;p1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2"/>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Snapshots of the prototype</a:t>
            </a:r>
            <a:endParaRPr/>
          </a:p>
        </p:txBody>
      </p:sp>
      <p:sp>
        <p:nvSpPr>
          <p:cNvPr id="570" name="Google Shape;570;p12"/>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The working prototype, live on Cloud Run</a:t>
            </a:r>
            <a:endParaRPr/>
          </a:p>
        </p:txBody>
      </p:sp>
      <p:sp>
        <p:nvSpPr>
          <p:cNvPr id="571" name="Google Shape;571;p12"/>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12</a:t>
            </a:r>
            <a:endParaRPr/>
          </a:p>
        </p:txBody>
      </p:sp>
      <p:pic>
        <p:nvPicPr>
          <p:cNvPr descr="dash_hero.png" id="572" name="Google Shape;572;p12"/>
          <p:cNvPicPr preferRelativeResize="0"/>
          <p:nvPr/>
        </p:nvPicPr>
        <p:blipFill rotWithShape="1">
          <a:blip r:embed="rId8">
            <a:alphaModFix/>
          </a:blip>
          <a:srcRect b="0" l="0" r="0" t="0"/>
          <a:stretch/>
        </p:blipFill>
        <p:spPr>
          <a:xfrm>
            <a:off x="411480" y="1527048"/>
            <a:ext cx="3811676" cy="2880360"/>
          </a:xfrm>
          <a:prstGeom prst="roundRect">
            <a:avLst>
              <a:gd fmla="val 3174" name="adj"/>
            </a:avLst>
          </a:prstGeom>
          <a:noFill/>
          <a:ln cap="flat" cmpd="sng" w="9525">
            <a:solidFill>
              <a:srgbClr val="DCE1E5"/>
            </a:solidFill>
            <a:prstDash val="solid"/>
            <a:round/>
            <a:headEnd len="sm" w="sm" type="none"/>
            <a:tailEnd len="sm" w="sm" type="none"/>
          </a:ln>
        </p:spPr>
      </p:pic>
      <p:sp>
        <p:nvSpPr>
          <p:cNvPr id="573" name="Google Shape;573;p12"/>
          <p:cNvSpPr txBox="1"/>
          <p:nvPr/>
        </p:nvSpPr>
        <p:spPr>
          <a:xfrm>
            <a:off x="411480" y="4453128"/>
            <a:ext cx="3811676"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Dashboard: August to October against what the owner expected</a:t>
            </a:r>
            <a:endParaRPr/>
          </a:p>
        </p:txBody>
      </p:sp>
      <p:pic>
        <p:nvPicPr>
          <p:cNvPr descr="document.png" id="574" name="Google Shape;574;p12"/>
          <p:cNvPicPr preferRelativeResize="0"/>
          <p:nvPr/>
        </p:nvPicPr>
        <p:blipFill rotWithShape="1">
          <a:blip r:embed="rId9">
            <a:alphaModFix/>
          </a:blip>
          <a:srcRect b="0" l="0" r="0" t="0"/>
          <a:stretch/>
        </p:blipFill>
        <p:spPr>
          <a:xfrm>
            <a:off x="4451756" y="1527048"/>
            <a:ext cx="4280763" cy="1248156"/>
          </a:xfrm>
          <a:prstGeom prst="roundRect">
            <a:avLst>
              <a:gd fmla="val 5860" name="adj"/>
            </a:avLst>
          </a:prstGeom>
          <a:noFill/>
          <a:ln cap="flat" cmpd="sng" w="9525">
            <a:solidFill>
              <a:srgbClr val="DCE1E5"/>
            </a:solidFill>
            <a:prstDash val="solid"/>
            <a:round/>
            <a:headEnd len="sm" w="sm" type="none"/>
            <a:tailEnd len="sm" w="sm" type="none"/>
          </a:ln>
        </p:spPr>
      </p:pic>
      <p:sp>
        <p:nvSpPr>
          <p:cNvPr id="575" name="Google Shape;575;p12"/>
          <p:cNvSpPr txBox="1"/>
          <p:nvPr/>
        </p:nvSpPr>
        <p:spPr>
          <a:xfrm>
            <a:off x="4451756" y="2811780"/>
            <a:ext cx="4280763"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Document: 423 of 423 values found on the page, and the edit flagged</a:t>
            </a:r>
            <a:endParaRPr/>
          </a:p>
        </p:txBody>
      </p:sp>
      <p:pic>
        <p:nvPicPr>
          <p:cNvPr descr="risk.png" id="576" name="Google Shape;576;p12"/>
          <p:cNvPicPr preferRelativeResize="0"/>
          <p:nvPr/>
        </p:nvPicPr>
        <p:blipFill rotWithShape="1">
          <a:blip r:embed="rId10">
            <a:alphaModFix/>
          </a:blip>
          <a:srcRect b="0" l="0" r="0" t="0"/>
          <a:stretch/>
        </p:blipFill>
        <p:spPr>
          <a:xfrm>
            <a:off x="4451756" y="3159252"/>
            <a:ext cx="4280763" cy="1248156"/>
          </a:xfrm>
          <a:prstGeom prst="roundRect">
            <a:avLst>
              <a:gd fmla="val 5860" name="adj"/>
            </a:avLst>
          </a:prstGeom>
          <a:noFill/>
          <a:ln cap="flat" cmpd="sng" w="9525">
            <a:solidFill>
              <a:srgbClr val="DCE1E5"/>
            </a:solidFill>
            <a:prstDash val="solid"/>
            <a:round/>
            <a:headEnd len="sm" w="sm" type="none"/>
            <a:tailEnd len="sm" w="sm" type="none"/>
          </a:ln>
        </p:spPr>
      </p:pic>
      <p:sp>
        <p:nvSpPr>
          <p:cNvPr id="577" name="Google Shape;577;p12"/>
          <p:cNvSpPr txBox="1"/>
          <p:nvPr/>
        </p:nvSpPr>
        <p:spPr>
          <a:xfrm>
            <a:off x="4451756" y="4443984"/>
            <a:ext cx="4280763"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56636F"/>
                </a:solidFill>
                <a:latin typeface="Archivo"/>
                <a:ea typeface="Archivo"/>
                <a:cs typeface="Archivo"/>
                <a:sym typeface="Archivo"/>
              </a:rPr>
              <a:t>Risk: every finding with its code and its page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3"/>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583" name="Google Shape;583;p1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584" name="Google Shape;584;p13"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585" name="Google Shape;585;p1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3"/>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Prototype performance report and benchmarking</a:t>
            </a:r>
            <a:endParaRPr/>
          </a:p>
        </p:txBody>
      </p:sp>
      <p:sp>
        <p:nvSpPr>
          <p:cNvPr id="587" name="Google Shape;587;p13"/>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Measured in production and on real documents, gated in CI</a:t>
            </a:r>
            <a:endParaRPr/>
          </a:p>
        </p:txBody>
      </p:sp>
      <p:sp>
        <p:nvSpPr>
          <p:cNvPr id="588" name="Google Shape;588;p13"/>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13</a:t>
            </a:r>
            <a:endParaRPr/>
          </a:p>
        </p:txBody>
      </p:sp>
      <p:sp>
        <p:nvSpPr>
          <p:cNvPr id="589" name="Google Shape;589;p13"/>
          <p:cNvSpPr txBox="1"/>
          <p:nvPr/>
        </p:nvSpPr>
        <p:spPr>
          <a:xfrm>
            <a:off x="411480" y="1554480"/>
            <a:ext cx="256032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16212B"/>
                </a:solidFill>
                <a:latin typeface="Archivo SemiBold"/>
                <a:ea typeface="Archivo SemiBold"/>
                <a:cs typeface="Archivo SemiBold"/>
                <a:sym typeface="Archivo SemiBold"/>
              </a:rPr>
              <a:t>718 / 718</a:t>
            </a:r>
            <a:endParaRPr/>
          </a:p>
        </p:txBody>
      </p:sp>
      <p:cxnSp>
        <p:nvCxnSpPr>
          <p:cNvPr id="590" name="Google Shape;590;p13"/>
          <p:cNvCxnSpPr/>
          <p:nvPr/>
        </p:nvCxnSpPr>
        <p:spPr>
          <a:xfrm>
            <a:off x="429768" y="2011680"/>
            <a:ext cx="1691640" cy="0"/>
          </a:xfrm>
          <a:prstGeom prst="straightConnector1">
            <a:avLst/>
          </a:prstGeom>
          <a:noFill/>
          <a:ln cap="flat" cmpd="sng" w="11425">
            <a:solidFill>
              <a:srgbClr val="17714F"/>
            </a:solidFill>
            <a:prstDash val="solid"/>
            <a:round/>
            <a:headEnd len="sm" w="sm" type="none"/>
            <a:tailEnd len="sm" w="sm" type="none"/>
          </a:ln>
        </p:spPr>
      </p:cxnSp>
      <p:cxnSp>
        <p:nvCxnSpPr>
          <p:cNvPr id="591" name="Google Shape;591;p13"/>
          <p:cNvCxnSpPr/>
          <p:nvPr/>
        </p:nvCxnSpPr>
        <p:spPr>
          <a:xfrm>
            <a:off x="429768" y="2043684"/>
            <a:ext cx="1691640" cy="0"/>
          </a:xfrm>
          <a:prstGeom prst="straightConnector1">
            <a:avLst/>
          </a:prstGeom>
          <a:noFill/>
          <a:ln cap="flat" cmpd="sng" w="11425">
            <a:solidFill>
              <a:srgbClr val="17714F"/>
            </a:solidFill>
            <a:prstDash val="solid"/>
            <a:round/>
            <a:headEnd len="sm" w="sm" type="none"/>
            <a:tailEnd len="sm" w="sm" type="none"/>
          </a:ln>
        </p:spPr>
      </p:cxnSp>
      <p:sp>
        <p:nvSpPr>
          <p:cNvPr id="592" name="Google Shape;592;p13"/>
          <p:cNvSpPr txBox="1"/>
          <p:nvPr/>
        </p:nvSpPr>
        <p:spPr>
          <a:xfrm>
            <a:off x="411480" y="2130552"/>
            <a:ext cx="24688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values grounded on a real 13-page bank statement with 178 lines</a:t>
            </a:r>
            <a:endParaRPr/>
          </a:p>
        </p:txBody>
      </p:sp>
      <p:sp>
        <p:nvSpPr>
          <p:cNvPr id="593" name="Google Shape;593;p13"/>
          <p:cNvSpPr txBox="1"/>
          <p:nvPr/>
        </p:nvSpPr>
        <p:spPr>
          <a:xfrm>
            <a:off x="3291840" y="1554480"/>
            <a:ext cx="256032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16212B"/>
                </a:solidFill>
                <a:latin typeface="Archivo SemiBold"/>
                <a:ea typeface="Archivo SemiBold"/>
                <a:cs typeface="Archivo SemiBold"/>
                <a:sym typeface="Archivo SemiBold"/>
              </a:rPr>
              <a:t>95%</a:t>
            </a:r>
            <a:endParaRPr/>
          </a:p>
        </p:txBody>
      </p:sp>
      <p:cxnSp>
        <p:nvCxnSpPr>
          <p:cNvPr id="594" name="Google Shape;594;p13"/>
          <p:cNvCxnSpPr/>
          <p:nvPr/>
        </p:nvCxnSpPr>
        <p:spPr>
          <a:xfrm>
            <a:off x="3310128" y="2011680"/>
            <a:ext cx="1417320" cy="0"/>
          </a:xfrm>
          <a:prstGeom prst="straightConnector1">
            <a:avLst/>
          </a:prstGeom>
          <a:noFill/>
          <a:ln cap="flat" cmpd="sng" w="11425">
            <a:solidFill>
              <a:srgbClr val="17714F"/>
            </a:solidFill>
            <a:prstDash val="solid"/>
            <a:round/>
            <a:headEnd len="sm" w="sm" type="none"/>
            <a:tailEnd len="sm" w="sm" type="none"/>
          </a:ln>
        </p:spPr>
      </p:cxnSp>
      <p:cxnSp>
        <p:nvCxnSpPr>
          <p:cNvPr id="595" name="Google Shape;595;p13"/>
          <p:cNvCxnSpPr/>
          <p:nvPr/>
        </p:nvCxnSpPr>
        <p:spPr>
          <a:xfrm>
            <a:off x="3310128" y="2043684"/>
            <a:ext cx="1417320" cy="0"/>
          </a:xfrm>
          <a:prstGeom prst="straightConnector1">
            <a:avLst/>
          </a:prstGeom>
          <a:noFill/>
          <a:ln cap="flat" cmpd="sng" w="11425">
            <a:solidFill>
              <a:srgbClr val="17714F"/>
            </a:solidFill>
            <a:prstDash val="solid"/>
            <a:round/>
            <a:headEnd len="sm" w="sm" type="none"/>
            <a:tailEnd len="sm" w="sm" type="none"/>
          </a:ln>
        </p:spPr>
      </p:cxnSp>
      <p:sp>
        <p:nvSpPr>
          <p:cNvPr id="596" name="Google Shape;596;p13"/>
          <p:cNvSpPr txBox="1"/>
          <p:nvPr/>
        </p:nvSpPr>
        <p:spPr>
          <a:xfrm>
            <a:off x="3291840" y="2130552"/>
            <a:ext cx="24688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of bank lines matched automatically in the 300-document demo company (295 of 310)</a:t>
            </a:r>
            <a:endParaRPr/>
          </a:p>
        </p:txBody>
      </p:sp>
      <p:sp>
        <p:nvSpPr>
          <p:cNvPr id="597" name="Google Shape;597;p13"/>
          <p:cNvSpPr txBox="1"/>
          <p:nvPr/>
        </p:nvSpPr>
        <p:spPr>
          <a:xfrm>
            <a:off x="6172200" y="1554480"/>
            <a:ext cx="256032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16212B"/>
                </a:solidFill>
                <a:latin typeface="Archivo SemiBold"/>
                <a:ea typeface="Archivo SemiBold"/>
                <a:cs typeface="Archivo SemiBold"/>
                <a:sym typeface="Archivo SemiBold"/>
              </a:rPr>
              <a:t>14×</a:t>
            </a:r>
            <a:endParaRPr/>
          </a:p>
        </p:txBody>
      </p:sp>
      <p:cxnSp>
        <p:nvCxnSpPr>
          <p:cNvPr id="598" name="Google Shape;598;p13"/>
          <p:cNvCxnSpPr/>
          <p:nvPr/>
        </p:nvCxnSpPr>
        <p:spPr>
          <a:xfrm>
            <a:off x="6190488" y="2011680"/>
            <a:ext cx="502920" cy="0"/>
          </a:xfrm>
          <a:prstGeom prst="straightConnector1">
            <a:avLst/>
          </a:prstGeom>
          <a:noFill/>
          <a:ln cap="flat" cmpd="sng" w="11425">
            <a:solidFill>
              <a:srgbClr val="17714F"/>
            </a:solidFill>
            <a:prstDash val="solid"/>
            <a:round/>
            <a:headEnd len="sm" w="sm" type="none"/>
            <a:tailEnd len="sm" w="sm" type="none"/>
          </a:ln>
        </p:spPr>
      </p:cxnSp>
      <p:cxnSp>
        <p:nvCxnSpPr>
          <p:cNvPr id="599" name="Google Shape;599;p13"/>
          <p:cNvCxnSpPr/>
          <p:nvPr/>
        </p:nvCxnSpPr>
        <p:spPr>
          <a:xfrm>
            <a:off x="6190488" y="2043684"/>
            <a:ext cx="502920" cy="0"/>
          </a:xfrm>
          <a:prstGeom prst="straightConnector1">
            <a:avLst/>
          </a:prstGeom>
          <a:noFill/>
          <a:ln cap="flat" cmpd="sng" w="11425">
            <a:solidFill>
              <a:srgbClr val="17714F"/>
            </a:solidFill>
            <a:prstDash val="solid"/>
            <a:round/>
            <a:headEnd len="sm" w="sm" type="none"/>
            <a:tailEnd len="sm" w="sm" type="none"/>
          </a:ln>
        </p:spPr>
      </p:cxnSp>
      <p:sp>
        <p:nvSpPr>
          <p:cNvPr id="600" name="Google Shape;600;p13"/>
          <p:cNvSpPr txBox="1"/>
          <p:nvPr/>
        </p:nvSpPr>
        <p:spPr>
          <a:xfrm>
            <a:off x="6172200" y="2130552"/>
            <a:ext cx="246888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lower reading cost than Form and Invoice Parser for the same documents (USD 0.35 vs 4.90)</a:t>
            </a:r>
            <a:endParaRPr/>
          </a:p>
        </p:txBody>
      </p:sp>
      <p:sp>
        <p:nvSpPr>
          <p:cNvPr id="601" name="Google Shape;601;p13"/>
          <p:cNvSpPr txBox="1"/>
          <p:nvPr/>
        </p:nvSpPr>
        <p:spPr>
          <a:xfrm>
            <a:off x="411480" y="2743200"/>
            <a:ext cx="5486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16212B"/>
                </a:solidFill>
                <a:latin typeface="Archivo SemiBold"/>
                <a:ea typeface="Archivo SemiBold"/>
                <a:cs typeface="Archivo SemiBold"/>
                <a:sym typeface="Archivo SemiBold"/>
              </a:rPr>
              <a:t>Scenario gates, automated tests on synthetic books with known answers</a:t>
            </a:r>
            <a:endParaRPr/>
          </a:p>
        </p:txBody>
      </p:sp>
      <p:cxnSp>
        <p:nvCxnSpPr>
          <p:cNvPr id="602" name="Google Shape;602;p13"/>
          <p:cNvCxnSpPr/>
          <p:nvPr/>
        </p:nvCxnSpPr>
        <p:spPr>
          <a:xfrm>
            <a:off x="411480" y="3035808"/>
            <a:ext cx="8321040" cy="0"/>
          </a:xfrm>
          <a:prstGeom prst="straightConnector1">
            <a:avLst/>
          </a:prstGeom>
          <a:noFill/>
          <a:ln cap="flat" cmpd="sng" w="9525">
            <a:solidFill>
              <a:srgbClr val="DCE1E5"/>
            </a:solidFill>
            <a:prstDash val="solid"/>
            <a:round/>
            <a:headEnd len="sm" w="sm" type="none"/>
            <a:tailEnd len="sm" w="sm" type="none"/>
          </a:ln>
        </p:spPr>
      </p:cxnSp>
      <p:sp>
        <p:nvSpPr>
          <p:cNvPr id="603" name="Google Shape;603;p13"/>
          <p:cNvSpPr/>
          <p:nvPr/>
        </p:nvSpPr>
        <p:spPr>
          <a:xfrm>
            <a:off x="411480" y="3090672"/>
            <a:ext cx="25164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S1</a:t>
            </a:r>
            <a:endParaRPr/>
          </a:p>
        </p:txBody>
      </p:sp>
      <p:sp>
        <p:nvSpPr>
          <p:cNvPr id="604" name="Google Shape;604;p13"/>
          <p:cNvSpPr txBox="1"/>
          <p:nvPr/>
        </p:nvSpPr>
        <p:spPr>
          <a:xfrm>
            <a:off x="822960" y="3090672"/>
            <a:ext cx="1920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Clean half-year</a:t>
            </a:r>
            <a:endParaRPr/>
          </a:p>
        </p:txBody>
      </p:sp>
      <p:sp>
        <p:nvSpPr>
          <p:cNvPr id="605" name="Google Shape;605;p13"/>
          <p:cNvSpPr txBox="1"/>
          <p:nvPr/>
        </p:nvSpPr>
        <p:spPr>
          <a:xfrm>
            <a:off x="2788920" y="3090672"/>
            <a:ext cx="493776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85% or more of bank lines matched automatically, none wrong</a:t>
            </a:r>
            <a:endParaRPr/>
          </a:p>
        </p:txBody>
      </p:sp>
      <p:sp>
        <p:nvSpPr>
          <p:cNvPr id="606" name="Google Shape;606;p13"/>
          <p:cNvSpPr/>
          <p:nvPr/>
        </p:nvSpPr>
        <p:spPr>
          <a:xfrm>
            <a:off x="8165592" y="3081527"/>
            <a:ext cx="374538" cy="173736"/>
          </a:xfrm>
          <a:prstGeom prst="roundRect">
            <a:avLst>
              <a:gd fmla="val 26315" name="adj"/>
            </a:avLst>
          </a:prstGeom>
          <a:solidFill>
            <a:srgbClr val="E3F3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17663F"/>
                </a:solidFill>
                <a:latin typeface="Archivo Medium"/>
                <a:ea typeface="Archivo Medium"/>
                <a:cs typeface="Archivo Medium"/>
                <a:sym typeface="Archivo Medium"/>
              </a:rPr>
              <a:t>Pass</a:t>
            </a:r>
            <a:endParaRPr/>
          </a:p>
        </p:txBody>
      </p:sp>
      <p:cxnSp>
        <p:nvCxnSpPr>
          <p:cNvPr id="607" name="Google Shape;607;p13"/>
          <p:cNvCxnSpPr/>
          <p:nvPr/>
        </p:nvCxnSpPr>
        <p:spPr>
          <a:xfrm>
            <a:off x="411480" y="3310127"/>
            <a:ext cx="8321040" cy="0"/>
          </a:xfrm>
          <a:prstGeom prst="straightConnector1">
            <a:avLst/>
          </a:prstGeom>
          <a:noFill/>
          <a:ln cap="flat" cmpd="sng" w="9525">
            <a:solidFill>
              <a:srgbClr val="DCE1E5"/>
            </a:solidFill>
            <a:prstDash val="solid"/>
            <a:round/>
            <a:headEnd len="sm" w="sm" type="none"/>
            <a:tailEnd len="sm" w="sm" type="none"/>
          </a:ln>
        </p:spPr>
      </p:cxnSp>
      <p:sp>
        <p:nvSpPr>
          <p:cNvPr id="608" name="Google Shape;608;p13"/>
          <p:cNvSpPr/>
          <p:nvPr/>
        </p:nvSpPr>
        <p:spPr>
          <a:xfrm>
            <a:off x="411480" y="3364991"/>
            <a:ext cx="25164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S2</a:t>
            </a:r>
            <a:endParaRPr/>
          </a:p>
        </p:txBody>
      </p:sp>
      <p:sp>
        <p:nvSpPr>
          <p:cNvPr id="609" name="Google Shape;609;p13"/>
          <p:cNvSpPr txBox="1"/>
          <p:nvPr/>
        </p:nvSpPr>
        <p:spPr>
          <a:xfrm>
            <a:off x="822960" y="3364991"/>
            <a:ext cx="1920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Edited March statement</a:t>
            </a:r>
            <a:endParaRPr/>
          </a:p>
        </p:txBody>
      </p:sp>
      <p:sp>
        <p:nvSpPr>
          <p:cNvPr id="610" name="Google Shape;610;p13"/>
          <p:cNvSpPr txBox="1"/>
          <p:nvPr/>
        </p:nvSpPr>
        <p:spPr>
          <a:xfrm>
            <a:off x="2788920" y="3364991"/>
            <a:ext cx="493776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Tampered, with all six expected findings</a:t>
            </a:r>
            <a:endParaRPr/>
          </a:p>
        </p:txBody>
      </p:sp>
      <p:sp>
        <p:nvSpPr>
          <p:cNvPr id="611" name="Google Shape;611;p13"/>
          <p:cNvSpPr/>
          <p:nvPr/>
        </p:nvSpPr>
        <p:spPr>
          <a:xfrm>
            <a:off x="8165592" y="3355847"/>
            <a:ext cx="374538" cy="173736"/>
          </a:xfrm>
          <a:prstGeom prst="roundRect">
            <a:avLst>
              <a:gd fmla="val 26315" name="adj"/>
            </a:avLst>
          </a:prstGeom>
          <a:solidFill>
            <a:srgbClr val="E3F3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17663F"/>
                </a:solidFill>
                <a:latin typeface="Archivo Medium"/>
                <a:ea typeface="Archivo Medium"/>
                <a:cs typeface="Archivo Medium"/>
                <a:sym typeface="Archivo Medium"/>
              </a:rPr>
              <a:t>Pass</a:t>
            </a:r>
            <a:endParaRPr/>
          </a:p>
        </p:txBody>
      </p:sp>
      <p:cxnSp>
        <p:nvCxnSpPr>
          <p:cNvPr id="612" name="Google Shape;612;p13"/>
          <p:cNvCxnSpPr/>
          <p:nvPr/>
        </p:nvCxnSpPr>
        <p:spPr>
          <a:xfrm>
            <a:off x="411480" y="3584448"/>
            <a:ext cx="8321040" cy="0"/>
          </a:xfrm>
          <a:prstGeom prst="straightConnector1">
            <a:avLst/>
          </a:prstGeom>
          <a:noFill/>
          <a:ln cap="flat" cmpd="sng" w="9525">
            <a:solidFill>
              <a:srgbClr val="DCE1E5"/>
            </a:solidFill>
            <a:prstDash val="solid"/>
            <a:round/>
            <a:headEnd len="sm" w="sm" type="none"/>
            <a:tailEnd len="sm" w="sm" type="none"/>
          </a:ln>
        </p:spPr>
      </p:cxnSp>
      <p:sp>
        <p:nvSpPr>
          <p:cNvPr id="613" name="Google Shape;613;p13"/>
          <p:cNvSpPr/>
          <p:nvPr/>
        </p:nvSpPr>
        <p:spPr>
          <a:xfrm>
            <a:off x="411480" y="3639311"/>
            <a:ext cx="25164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S3</a:t>
            </a:r>
            <a:endParaRPr/>
          </a:p>
        </p:txBody>
      </p:sp>
      <p:sp>
        <p:nvSpPr>
          <p:cNvPr id="614" name="Google Shape;614;p13"/>
          <p:cNvSpPr txBox="1"/>
          <p:nvPr/>
        </p:nvSpPr>
        <p:spPr>
          <a:xfrm>
            <a:off x="822960" y="3639311"/>
            <a:ext cx="1920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Duplicates</a:t>
            </a:r>
            <a:endParaRPr/>
          </a:p>
        </p:txBody>
      </p:sp>
      <p:sp>
        <p:nvSpPr>
          <p:cNvPr id="615" name="Google Shape;615;p13"/>
          <p:cNvSpPr txBox="1"/>
          <p:nvPr/>
        </p:nvSpPr>
        <p:spPr>
          <a:xfrm>
            <a:off x="2788920" y="3639311"/>
            <a:ext cx="493776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Exact copy not read again; four content copies held</a:t>
            </a:r>
            <a:endParaRPr/>
          </a:p>
        </p:txBody>
      </p:sp>
      <p:sp>
        <p:nvSpPr>
          <p:cNvPr id="616" name="Google Shape;616;p13"/>
          <p:cNvSpPr/>
          <p:nvPr/>
        </p:nvSpPr>
        <p:spPr>
          <a:xfrm>
            <a:off x="8165592" y="3630168"/>
            <a:ext cx="374538" cy="173736"/>
          </a:xfrm>
          <a:prstGeom prst="roundRect">
            <a:avLst>
              <a:gd fmla="val 26315" name="adj"/>
            </a:avLst>
          </a:prstGeom>
          <a:solidFill>
            <a:srgbClr val="E3F3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17663F"/>
                </a:solidFill>
                <a:latin typeface="Archivo Medium"/>
                <a:ea typeface="Archivo Medium"/>
                <a:cs typeface="Archivo Medium"/>
                <a:sym typeface="Archivo Medium"/>
              </a:rPr>
              <a:t>Pass</a:t>
            </a:r>
            <a:endParaRPr/>
          </a:p>
        </p:txBody>
      </p:sp>
      <p:cxnSp>
        <p:nvCxnSpPr>
          <p:cNvPr id="617" name="Google Shape;617;p13"/>
          <p:cNvCxnSpPr/>
          <p:nvPr/>
        </p:nvCxnSpPr>
        <p:spPr>
          <a:xfrm>
            <a:off x="411480" y="3858768"/>
            <a:ext cx="8321040" cy="0"/>
          </a:xfrm>
          <a:prstGeom prst="straightConnector1">
            <a:avLst/>
          </a:prstGeom>
          <a:noFill/>
          <a:ln cap="flat" cmpd="sng" w="9525">
            <a:solidFill>
              <a:srgbClr val="DCE1E5"/>
            </a:solidFill>
            <a:prstDash val="solid"/>
            <a:round/>
            <a:headEnd len="sm" w="sm" type="none"/>
            <a:tailEnd len="sm" w="sm" type="none"/>
          </a:ln>
        </p:spPr>
      </p:cxnSp>
      <p:sp>
        <p:nvSpPr>
          <p:cNvPr id="618" name="Google Shape;618;p13"/>
          <p:cNvSpPr/>
          <p:nvPr/>
        </p:nvSpPr>
        <p:spPr>
          <a:xfrm>
            <a:off x="411480" y="3913631"/>
            <a:ext cx="25164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S4</a:t>
            </a:r>
            <a:endParaRPr/>
          </a:p>
        </p:txBody>
      </p:sp>
      <p:sp>
        <p:nvSpPr>
          <p:cNvPr id="619" name="Google Shape;619;p13"/>
          <p:cNvSpPr txBox="1"/>
          <p:nvPr/>
        </p:nvSpPr>
        <p:spPr>
          <a:xfrm>
            <a:off x="822960" y="3913631"/>
            <a:ext cx="1920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Payment diversion</a:t>
            </a:r>
            <a:endParaRPr/>
          </a:p>
        </p:txBody>
      </p:sp>
      <p:sp>
        <p:nvSpPr>
          <p:cNvPr id="620" name="Google Shape;620;p13"/>
          <p:cNvSpPr txBox="1"/>
          <p:nvPr/>
        </p:nvSpPr>
        <p:spPr>
          <a:xfrm>
            <a:off x="2788920" y="3913631"/>
            <a:ext cx="493776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Supplier's new account (X08) and unknown supplier (R02)</a:t>
            </a:r>
            <a:endParaRPr/>
          </a:p>
        </p:txBody>
      </p:sp>
      <p:sp>
        <p:nvSpPr>
          <p:cNvPr id="621" name="Google Shape;621;p13"/>
          <p:cNvSpPr/>
          <p:nvPr/>
        </p:nvSpPr>
        <p:spPr>
          <a:xfrm>
            <a:off x="8165592" y="3904487"/>
            <a:ext cx="374538" cy="173736"/>
          </a:xfrm>
          <a:prstGeom prst="roundRect">
            <a:avLst>
              <a:gd fmla="val 26315" name="adj"/>
            </a:avLst>
          </a:prstGeom>
          <a:solidFill>
            <a:srgbClr val="E3F3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17663F"/>
                </a:solidFill>
                <a:latin typeface="Archivo Medium"/>
                <a:ea typeface="Archivo Medium"/>
                <a:cs typeface="Archivo Medium"/>
                <a:sym typeface="Archivo Medium"/>
              </a:rPr>
              <a:t>Pass</a:t>
            </a:r>
            <a:endParaRPr/>
          </a:p>
        </p:txBody>
      </p:sp>
      <p:cxnSp>
        <p:nvCxnSpPr>
          <p:cNvPr id="622" name="Google Shape;622;p13"/>
          <p:cNvCxnSpPr/>
          <p:nvPr/>
        </p:nvCxnSpPr>
        <p:spPr>
          <a:xfrm>
            <a:off x="411480" y="4133088"/>
            <a:ext cx="8321040" cy="0"/>
          </a:xfrm>
          <a:prstGeom prst="straightConnector1">
            <a:avLst/>
          </a:prstGeom>
          <a:noFill/>
          <a:ln cap="flat" cmpd="sng" w="9525">
            <a:solidFill>
              <a:srgbClr val="DCE1E5"/>
            </a:solidFill>
            <a:prstDash val="solid"/>
            <a:round/>
            <a:headEnd len="sm" w="sm" type="none"/>
            <a:tailEnd len="sm" w="sm" type="none"/>
          </a:ln>
        </p:spPr>
      </p:cxnSp>
      <p:sp>
        <p:nvSpPr>
          <p:cNvPr id="623" name="Google Shape;623;p13"/>
          <p:cNvSpPr/>
          <p:nvPr/>
        </p:nvSpPr>
        <p:spPr>
          <a:xfrm>
            <a:off x="411480" y="4187951"/>
            <a:ext cx="251642" cy="182880"/>
          </a:xfrm>
          <a:prstGeom prst="roundRect">
            <a:avLst>
              <a:gd fmla="val 25000" name="adj"/>
            </a:avLst>
          </a:prstGeom>
          <a:solidFill>
            <a:srgbClr val="E8ECE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3B4652"/>
                </a:solidFill>
                <a:latin typeface="Archivo SemiBold"/>
                <a:ea typeface="Archivo SemiBold"/>
                <a:cs typeface="Archivo SemiBold"/>
                <a:sym typeface="Archivo SemiBold"/>
              </a:rPr>
              <a:t>S5</a:t>
            </a:r>
            <a:endParaRPr/>
          </a:p>
        </p:txBody>
      </p:sp>
      <p:sp>
        <p:nvSpPr>
          <p:cNvPr id="624" name="Google Shape;624;p13"/>
          <p:cNvSpPr txBox="1"/>
          <p:nvPr/>
        </p:nvSpPr>
        <p:spPr>
          <a:xfrm>
            <a:off x="822960" y="4187951"/>
            <a:ext cx="19202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Medium"/>
                <a:ea typeface="Archivo Medium"/>
                <a:cs typeface="Archivo Medium"/>
                <a:sym typeface="Archivo Medium"/>
              </a:rPr>
              <a:t>Reverse upload order</a:t>
            </a:r>
            <a:endParaRPr/>
          </a:p>
        </p:txBody>
      </p:sp>
      <p:sp>
        <p:nvSpPr>
          <p:cNvPr id="625" name="Google Shape;625;p13"/>
          <p:cNvSpPr txBox="1"/>
          <p:nvPr/>
        </p:nvSpPr>
        <p:spPr>
          <a:xfrm>
            <a:off x="2788920" y="4187951"/>
            <a:ext cx="493776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Same matches and figures as S1</a:t>
            </a:r>
            <a:endParaRPr/>
          </a:p>
        </p:txBody>
      </p:sp>
      <p:sp>
        <p:nvSpPr>
          <p:cNvPr id="626" name="Google Shape;626;p13"/>
          <p:cNvSpPr/>
          <p:nvPr/>
        </p:nvSpPr>
        <p:spPr>
          <a:xfrm>
            <a:off x="8165592" y="4178807"/>
            <a:ext cx="374538" cy="173736"/>
          </a:xfrm>
          <a:prstGeom prst="roundRect">
            <a:avLst>
              <a:gd fmla="val 26315" name="adj"/>
            </a:avLst>
          </a:prstGeom>
          <a:solidFill>
            <a:srgbClr val="E3F3E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800" u="none" cap="none" strike="noStrike">
                <a:solidFill>
                  <a:srgbClr val="17663F"/>
                </a:solidFill>
                <a:latin typeface="Archivo Medium"/>
                <a:ea typeface="Archivo Medium"/>
                <a:cs typeface="Archivo Medium"/>
                <a:sym typeface="Archivo Medium"/>
              </a:rPr>
              <a:t>Pass</a:t>
            </a:r>
            <a:endParaRPr/>
          </a:p>
        </p:txBody>
      </p:sp>
      <p:cxnSp>
        <p:nvCxnSpPr>
          <p:cNvPr id="627" name="Google Shape;627;p13"/>
          <p:cNvCxnSpPr/>
          <p:nvPr/>
        </p:nvCxnSpPr>
        <p:spPr>
          <a:xfrm>
            <a:off x="411480" y="4407407"/>
            <a:ext cx="8321040" cy="0"/>
          </a:xfrm>
          <a:prstGeom prst="straightConnector1">
            <a:avLst/>
          </a:prstGeom>
          <a:noFill/>
          <a:ln cap="flat" cmpd="sng" w="9525">
            <a:solidFill>
              <a:srgbClr val="DCE1E5"/>
            </a:solidFill>
            <a:prstDash val="solid"/>
            <a:round/>
            <a:headEnd len="sm" w="sm" type="none"/>
            <a:tailEnd len="sm" w="sm" type="none"/>
          </a:ln>
        </p:spPr>
      </p:cxnSp>
      <p:sp>
        <p:nvSpPr>
          <p:cNvPr id="628" name="Google Shape;628;p13"/>
          <p:cNvSpPr txBox="1"/>
          <p:nvPr/>
        </p:nvSpPr>
        <p:spPr>
          <a:xfrm>
            <a:off x="411480" y="4498847"/>
            <a:ext cx="83210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16212B"/>
                </a:solidFill>
                <a:latin typeface="Archivo Medium"/>
                <a:ea typeface="Archivo Medium"/>
                <a:cs typeface="Archivo Medium"/>
                <a:sym typeface="Archivo Medium"/>
              </a:rPr>
              <a:t>Also: 848 backend tests, 217 synthetic-data tests, 265 frontend tests and 216 browser checks against the mocks at three widths. The eval runner with a Gemini judge is next (spec 012).</a:t>
            </a:r>
            <a:r>
              <a:rPr b="0" i="0" lang="en-US" sz="850" u="none" cap="none" strike="noStrike">
                <a:solidFill>
                  <a:srgbClr val="56636F"/>
                </a:solidFill>
                <a:latin typeface="Archivo"/>
                <a:ea typeface="Archivo"/>
                <a:cs typeface="Archivo"/>
                <a:sym typeface="Archivo"/>
              </a:rP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4"/>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34" name="Google Shape;634;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635" name="Google Shape;635;p14"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636" name="Google Shape;636;p1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4"/>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Additional details and future development</a:t>
            </a:r>
            <a:endParaRPr/>
          </a:p>
        </p:txBody>
      </p:sp>
      <p:sp>
        <p:nvSpPr>
          <p:cNvPr id="638" name="Google Shape;638;p14"/>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Next: from checked books to a loan readiness report</a:t>
            </a:r>
            <a:endParaRPr/>
          </a:p>
        </p:txBody>
      </p:sp>
      <p:sp>
        <p:nvSpPr>
          <p:cNvPr id="639" name="Google Shape;639;p14"/>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14</a:t>
            </a:r>
            <a:endParaRPr/>
          </a:p>
        </p:txBody>
      </p:sp>
      <p:cxnSp>
        <p:nvCxnSpPr>
          <p:cNvPr id="640" name="Google Shape;640;p14"/>
          <p:cNvCxnSpPr/>
          <p:nvPr/>
        </p:nvCxnSpPr>
        <p:spPr>
          <a:xfrm>
            <a:off x="502920" y="1709928"/>
            <a:ext cx="8138160" cy="0"/>
          </a:xfrm>
          <a:prstGeom prst="straightConnector1">
            <a:avLst/>
          </a:prstGeom>
          <a:noFill/>
          <a:ln cap="flat" cmpd="sng" w="15875">
            <a:solidFill>
              <a:srgbClr val="DCE1E5"/>
            </a:solidFill>
            <a:prstDash val="solid"/>
            <a:round/>
            <a:headEnd len="sm" w="sm" type="none"/>
            <a:tailEnd len="sm" w="sm" type="none"/>
          </a:ln>
        </p:spPr>
      </p:cxnSp>
      <p:sp>
        <p:nvSpPr>
          <p:cNvPr id="641" name="Google Shape;641;p14"/>
          <p:cNvSpPr/>
          <p:nvPr/>
        </p:nvSpPr>
        <p:spPr>
          <a:xfrm>
            <a:off x="411480" y="1591056"/>
            <a:ext cx="237744" cy="237744"/>
          </a:xfrm>
          <a:prstGeom prst="ellipse">
            <a:avLst/>
          </a:prstGeom>
          <a:solidFill>
            <a:srgbClr val="0E5A4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2" name="Google Shape;642;p14"/>
          <p:cNvSpPr/>
          <p:nvPr/>
        </p:nvSpPr>
        <p:spPr>
          <a:xfrm>
            <a:off x="470916" y="1661007"/>
            <a:ext cx="118872" cy="101041"/>
          </a:xfrm>
          <a:custGeom>
            <a:rect b="b" l="l" r="r" t="t"/>
            <a:pathLst>
              <a:path extrusionOk="0" h="101041" w="118872">
                <a:moveTo>
                  <a:pt x="0" y="59436"/>
                </a:moveTo>
                <a:lnTo>
                  <a:pt x="42793" y="101041"/>
                </a:lnTo>
                <a:lnTo>
                  <a:pt x="118872" y="0"/>
                </a:lnTo>
              </a:path>
            </a:pathLst>
          </a:custGeom>
          <a:noFill/>
          <a:ln cap="rnd" cmpd="sng" w="19050">
            <a:solidFill>
              <a:srgbClr val="9FE0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3" name="Google Shape;643;p14"/>
          <p:cNvSpPr txBox="1"/>
          <p:nvPr/>
        </p:nvSpPr>
        <p:spPr>
          <a:xfrm>
            <a:off x="758952" y="1572768"/>
            <a:ext cx="18288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Built and deployed</a:t>
            </a:r>
            <a:endParaRPr/>
          </a:p>
        </p:txBody>
      </p:sp>
      <p:sp>
        <p:nvSpPr>
          <p:cNvPr id="644" name="Google Shape;644;p14"/>
          <p:cNvSpPr txBox="1"/>
          <p:nvPr/>
        </p:nvSpPr>
        <p:spPr>
          <a:xfrm>
            <a:off x="758952" y="1801368"/>
            <a:ext cx="1828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October 2026</a:t>
            </a:r>
            <a:endParaRPr/>
          </a:p>
        </p:txBody>
      </p:sp>
      <p:cxnSp>
        <p:nvCxnSpPr>
          <p:cNvPr id="645" name="Google Shape;645;p14"/>
          <p:cNvCxnSpPr/>
          <p:nvPr/>
        </p:nvCxnSpPr>
        <p:spPr>
          <a:xfrm>
            <a:off x="411480" y="2148840"/>
            <a:ext cx="2560320" cy="0"/>
          </a:xfrm>
          <a:prstGeom prst="straightConnector1">
            <a:avLst/>
          </a:prstGeom>
          <a:noFill/>
          <a:ln cap="flat" cmpd="sng" w="9525">
            <a:solidFill>
              <a:srgbClr val="DCE1E5"/>
            </a:solidFill>
            <a:prstDash val="solid"/>
            <a:round/>
            <a:headEnd len="sm" w="sm" type="none"/>
            <a:tailEnd len="sm" w="sm" type="none"/>
          </a:ln>
        </p:spPr>
      </p:cxnSp>
      <p:sp>
        <p:nvSpPr>
          <p:cNvPr id="646" name="Google Shape;646;p14"/>
          <p:cNvSpPr txBox="1"/>
          <p:nvPr/>
        </p:nvSpPr>
        <p:spPr>
          <a:xfrm>
            <a:off x="411480" y="2203704"/>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Reading twice with grounding</a:t>
            </a:r>
            <a:endParaRPr/>
          </a:p>
        </p:txBody>
      </p:sp>
      <p:cxnSp>
        <p:nvCxnSpPr>
          <p:cNvPr id="647" name="Google Shape;647;p14"/>
          <p:cNvCxnSpPr/>
          <p:nvPr/>
        </p:nvCxnSpPr>
        <p:spPr>
          <a:xfrm>
            <a:off x="411480" y="2432304"/>
            <a:ext cx="2560320" cy="0"/>
          </a:xfrm>
          <a:prstGeom prst="straightConnector1">
            <a:avLst/>
          </a:prstGeom>
          <a:noFill/>
          <a:ln cap="flat" cmpd="sng" w="9525">
            <a:solidFill>
              <a:srgbClr val="DCE1E5"/>
            </a:solidFill>
            <a:prstDash val="solid"/>
            <a:round/>
            <a:headEnd len="sm" w="sm" type="none"/>
            <a:tailEnd len="sm" w="sm" type="none"/>
          </a:ln>
        </p:spPr>
      </p:cxnSp>
      <p:sp>
        <p:nvSpPr>
          <p:cNvPr id="648" name="Google Shape;648;p14"/>
          <p:cNvSpPr txBox="1"/>
          <p:nvPr/>
        </p:nvSpPr>
        <p:spPr>
          <a:xfrm>
            <a:off x="411480" y="2487168"/>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Duplicates and forensics</a:t>
            </a:r>
            <a:endParaRPr/>
          </a:p>
        </p:txBody>
      </p:sp>
      <p:cxnSp>
        <p:nvCxnSpPr>
          <p:cNvPr id="649" name="Google Shape;649;p14"/>
          <p:cNvCxnSpPr/>
          <p:nvPr/>
        </p:nvCxnSpPr>
        <p:spPr>
          <a:xfrm>
            <a:off x="411480" y="2715768"/>
            <a:ext cx="2560320" cy="0"/>
          </a:xfrm>
          <a:prstGeom prst="straightConnector1">
            <a:avLst/>
          </a:prstGeom>
          <a:noFill/>
          <a:ln cap="flat" cmpd="sng" w="9525">
            <a:solidFill>
              <a:srgbClr val="DCE1E5"/>
            </a:solidFill>
            <a:prstDash val="solid"/>
            <a:round/>
            <a:headEnd len="sm" w="sm" type="none"/>
            <a:tailEnd len="sm" w="sm" type="none"/>
          </a:ln>
        </p:spPr>
      </p:cxnSp>
      <p:sp>
        <p:nvSpPr>
          <p:cNvPr id="650" name="Google Shape;650;p14"/>
          <p:cNvSpPr txBox="1"/>
          <p:nvPr/>
        </p:nvSpPr>
        <p:spPr>
          <a:xfrm>
            <a:off x="411480" y="2770632"/>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Reconciliation in any order</a:t>
            </a:r>
            <a:endParaRPr/>
          </a:p>
        </p:txBody>
      </p:sp>
      <p:cxnSp>
        <p:nvCxnSpPr>
          <p:cNvPr id="651" name="Google Shape;651;p14"/>
          <p:cNvCxnSpPr/>
          <p:nvPr/>
        </p:nvCxnSpPr>
        <p:spPr>
          <a:xfrm>
            <a:off x="411480" y="2999232"/>
            <a:ext cx="2560320" cy="0"/>
          </a:xfrm>
          <a:prstGeom prst="straightConnector1">
            <a:avLst/>
          </a:prstGeom>
          <a:noFill/>
          <a:ln cap="flat" cmpd="sng" w="9525">
            <a:solidFill>
              <a:srgbClr val="DCE1E5"/>
            </a:solidFill>
            <a:prstDash val="solid"/>
            <a:round/>
            <a:headEnd len="sm" w="sm" type="none"/>
            <a:tailEnd len="sm" w="sm" type="none"/>
          </a:ln>
        </p:spPr>
      </p:cxnSp>
      <p:sp>
        <p:nvSpPr>
          <p:cNvPr id="652" name="Google Shape;652;p14"/>
          <p:cNvSpPr txBox="1"/>
          <p:nvPr/>
        </p:nvSpPr>
        <p:spPr>
          <a:xfrm>
            <a:off x="411480" y="3054096"/>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Risk with explanations</a:t>
            </a:r>
            <a:endParaRPr/>
          </a:p>
        </p:txBody>
      </p:sp>
      <p:cxnSp>
        <p:nvCxnSpPr>
          <p:cNvPr id="653" name="Google Shape;653;p14"/>
          <p:cNvCxnSpPr/>
          <p:nvPr/>
        </p:nvCxnSpPr>
        <p:spPr>
          <a:xfrm>
            <a:off x="411480" y="3282696"/>
            <a:ext cx="2560320" cy="0"/>
          </a:xfrm>
          <a:prstGeom prst="straightConnector1">
            <a:avLst/>
          </a:prstGeom>
          <a:noFill/>
          <a:ln cap="flat" cmpd="sng" w="9525">
            <a:solidFill>
              <a:srgbClr val="DCE1E5"/>
            </a:solidFill>
            <a:prstDash val="solid"/>
            <a:round/>
            <a:headEnd len="sm" w="sm" type="none"/>
            <a:tailEnd len="sm" w="sm" type="none"/>
          </a:ln>
        </p:spPr>
      </p:cxnSp>
      <p:sp>
        <p:nvSpPr>
          <p:cNvPr id="654" name="Google Shape;654;p14"/>
          <p:cNvSpPr txBox="1"/>
          <p:nvPr/>
        </p:nvSpPr>
        <p:spPr>
          <a:xfrm>
            <a:off x="411480" y="3337560"/>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Review queue, dashboard, P&amp;L, transactions</a:t>
            </a:r>
            <a:endParaRPr/>
          </a:p>
        </p:txBody>
      </p:sp>
      <p:cxnSp>
        <p:nvCxnSpPr>
          <p:cNvPr id="655" name="Google Shape;655;p14"/>
          <p:cNvCxnSpPr/>
          <p:nvPr/>
        </p:nvCxnSpPr>
        <p:spPr>
          <a:xfrm>
            <a:off x="411480" y="3566160"/>
            <a:ext cx="2560320" cy="0"/>
          </a:xfrm>
          <a:prstGeom prst="straightConnector1">
            <a:avLst/>
          </a:prstGeom>
          <a:noFill/>
          <a:ln cap="flat" cmpd="sng" w="9525">
            <a:solidFill>
              <a:srgbClr val="DCE1E5"/>
            </a:solidFill>
            <a:prstDash val="solid"/>
            <a:round/>
            <a:headEnd len="sm" w="sm" type="none"/>
            <a:tailEnd len="sm" w="sm" type="none"/>
          </a:ln>
        </p:spPr>
      </p:cxnSp>
      <p:sp>
        <p:nvSpPr>
          <p:cNvPr id="656" name="Google Shape;656;p14"/>
          <p:cNvSpPr txBox="1"/>
          <p:nvPr/>
        </p:nvSpPr>
        <p:spPr>
          <a:xfrm>
            <a:off x="411480" y="3621024"/>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Demo company, demo account, guided tour</a:t>
            </a:r>
            <a:endParaRPr/>
          </a:p>
        </p:txBody>
      </p:sp>
      <p:sp>
        <p:nvSpPr>
          <p:cNvPr id="657" name="Google Shape;657;p14"/>
          <p:cNvSpPr/>
          <p:nvPr/>
        </p:nvSpPr>
        <p:spPr>
          <a:xfrm>
            <a:off x="3291840" y="1591056"/>
            <a:ext cx="237744" cy="237744"/>
          </a:xfrm>
          <a:prstGeom prst="ellipse">
            <a:avLst/>
          </a:prstGeom>
          <a:solidFill>
            <a:srgbClr val="FFFFFF"/>
          </a:solidFill>
          <a:ln cap="flat" cmpd="sng" w="19050">
            <a:solidFill>
              <a:srgbClr val="6B4E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8" name="Google Shape;658;p14"/>
          <p:cNvSpPr txBox="1"/>
          <p:nvPr/>
        </p:nvSpPr>
        <p:spPr>
          <a:xfrm>
            <a:off x="3639312" y="1572768"/>
            <a:ext cx="18288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Next</a:t>
            </a:r>
            <a:endParaRPr/>
          </a:p>
        </p:txBody>
      </p:sp>
      <p:sp>
        <p:nvSpPr>
          <p:cNvPr id="659" name="Google Shape;659;p14"/>
          <p:cNvSpPr txBox="1"/>
          <p:nvPr/>
        </p:nvSpPr>
        <p:spPr>
          <a:xfrm>
            <a:off x="3639312" y="1801368"/>
            <a:ext cx="1828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P1</a:t>
            </a:r>
            <a:endParaRPr/>
          </a:p>
        </p:txBody>
      </p:sp>
      <p:cxnSp>
        <p:nvCxnSpPr>
          <p:cNvPr id="660" name="Google Shape;660;p14"/>
          <p:cNvCxnSpPr/>
          <p:nvPr/>
        </p:nvCxnSpPr>
        <p:spPr>
          <a:xfrm>
            <a:off x="3291840" y="2148840"/>
            <a:ext cx="2560320" cy="0"/>
          </a:xfrm>
          <a:prstGeom prst="straightConnector1">
            <a:avLst/>
          </a:prstGeom>
          <a:noFill/>
          <a:ln cap="flat" cmpd="sng" w="9525">
            <a:solidFill>
              <a:srgbClr val="DCE1E5"/>
            </a:solidFill>
            <a:prstDash val="solid"/>
            <a:round/>
            <a:headEnd len="sm" w="sm" type="none"/>
            <a:tailEnd len="sm" w="sm" type="none"/>
          </a:ln>
        </p:spPr>
      </p:cxnSp>
      <p:sp>
        <p:nvSpPr>
          <p:cNvPr id="661" name="Google Shape;661;p14"/>
          <p:cNvSpPr txBox="1"/>
          <p:nvPr/>
        </p:nvSpPr>
        <p:spPr>
          <a:xfrm>
            <a:off x="3291840" y="2203704"/>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Model Armor screening of every file</a:t>
            </a:r>
            <a:endParaRPr/>
          </a:p>
        </p:txBody>
      </p:sp>
      <p:cxnSp>
        <p:nvCxnSpPr>
          <p:cNvPr id="662" name="Google Shape;662;p14"/>
          <p:cNvCxnSpPr/>
          <p:nvPr/>
        </p:nvCxnSpPr>
        <p:spPr>
          <a:xfrm>
            <a:off x="3291840" y="2432304"/>
            <a:ext cx="2560320" cy="0"/>
          </a:xfrm>
          <a:prstGeom prst="straightConnector1">
            <a:avLst/>
          </a:prstGeom>
          <a:noFill/>
          <a:ln cap="flat" cmpd="sng" w="9525">
            <a:solidFill>
              <a:srgbClr val="DCE1E5"/>
            </a:solidFill>
            <a:prstDash val="solid"/>
            <a:round/>
            <a:headEnd len="sm" w="sm" type="none"/>
            <a:tailEnd len="sm" w="sm" type="none"/>
          </a:ln>
        </p:spPr>
      </p:cxnSp>
      <p:sp>
        <p:nvSpPr>
          <p:cNvPr id="663" name="Google Shape;663;p14"/>
          <p:cNvSpPr txBox="1"/>
          <p:nvPr/>
        </p:nvSpPr>
        <p:spPr>
          <a:xfrm>
            <a:off x="3291840" y="2487168"/>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Assistant agent with Memory Bank</a:t>
            </a:r>
            <a:endParaRPr/>
          </a:p>
        </p:txBody>
      </p:sp>
      <p:cxnSp>
        <p:nvCxnSpPr>
          <p:cNvPr id="664" name="Google Shape;664;p14"/>
          <p:cNvCxnSpPr/>
          <p:nvPr/>
        </p:nvCxnSpPr>
        <p:spPr>
          <a:xfrm>
            <a:off x="3291840" y="2715768"/>
            <a:ext cx="2560320" cy="0"/>
          </a:xfrm>
          <a:prstGeom prst="straightConnector1">
            <a:avLst/>
          </a:prstGeom>
          <a:noFill/>
          <a:ln cap="flat" cmpd="sng" w="9525">
            <a:solidFill>
              <a:srgbClr val="DCE1E5"/>
            </a:solidFill>
            <a:prstDash val="solid"/>
            <a:round/>
            <a:headEnd len="sm" w="sm" type="none"/>
            <a:tailEnd len="sm" w="sm" type="none"/>
          </a:ln>
        </p:spPr>
      </p:cxnSp>
      <p:sp>
        <p:nvSpPr>
          <p:cNvPr id="665" name="Google Shape;665;p14"/>
          <p:cNvSpPr txBox="1"/>
          <p:nvPr/>
        </p:nvSpPr>
        <p:spPr>
          <a:xfrm>
            <a:off x="3291840" y="2770632"/>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Team roles, invites, month sign-off</a:t>
            </a:r>
            <a:endParaRPr/>
          </a:p>
        </p:txBody>
      </p:sp>
      <p:cxnSp>
        <p:nvCxnSpPr>
          <p:cNvPr id="666" name="Google Shape;666;p14"/>
          <p:cNvCxnSpPr/>
          <p:nvPr/>
        </p:nvCxnSpPr>
        <p:spPr>
          <a:xfrm>
            <a:off x="3291840" y="2999232"/>
            <a:ext cx="2560320" cy="0"/>
          </a:xfrm>
          <a:prstGeom prst="straightConnector1">
            <a:avLst/>
          </a:prstGeom>
          <a:noFill/>
          <a:ln cap="flat" cmpd="sng" w="9525">
            <a:solidFill>
              <a:srgbClr val="DCE1E5"/>
            </a:solidFill>
            <a:prstDash val="solid"/>
            <a:round/>
            <a:headEnd len="sm" w="sm" type="none"/>
            <a:tailEnd len="sm" w="sm" type="none"/>
          </a:ln>
        </p:spPr>
      </p:cxnSp>
      <p:sp>
        <p:nvSpPr>
          <p:cNvPr id="667" name="Google Shape;667;p14"/>
          <p:cNvSpPr txBox="1"/>
          <p:nvPr/>
        </p:nvSpPr>
        <p:spPr>
          <a:xfrm>
            <a:off x="3291840" y="3054096"/>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Eval suite and BigQuery reporting</a:t>
            </a:r>
            <a:endParaRPr/>
          </a:p>
        </p:txBody>
      </p:sp>
      <p:sp>
        <p:nvSpPr>
          <p:cNvPr id="668" name="Google Shape;668;p14"/>
          <p:cNvSpPr/>
          <p:nvPr/>
        </p:nvSpPr>
        <p:spPr>
          <a:xfrm>
            <a:off x="6172200" y="1591056"/>
            <a:ext cx="237744" cy="237744"/>
          </a:xfrm>
          <a:prstGeom prst="ellipse">
            <a:avLst/>
          </a:prstGeom>
          <a:solidFill>
            <a:srgbClr val="FFFFFF"/>
          </a:solidFill>
          <a:ln cap="flat" cmpd="sng" w="19050">
            <a:solidFill>
              <a:srgbClr val="3B465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9" name="Google Shape;669;p14"/>
          <p:cNvSpPr txBox="1"/>
          <p:nvPr/>
        </p:nvSpPr>
        <p:spPr>
          <a:xfrm>
            <a:off x="6519672" y="1572768"/>
            <a:ext cx="18288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Later</a:t>
            </a:r>
            <a:endParaRPr/>
          </a:p>
        </p:txBody>
      </p:sp>
      <p:sp>
        <p:nvSpPr>
          <p:cNvPr id="670" name="Google Shape;670;p14"/>
          <p:cNvSpPr txBox="1"/>
          <p:nvPr/>
        </p:nvSpPr>
        <p:spPr>
          <a:xfrm>
            <a:off x="6519672" y="1801368"/>
            <a:ext cx="1828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50" u="none" cap="none" strike="noStrike">
                <a:solidFill>
                  <a:srgbClr val="56636F"/>
                </a:solidFill>
                <a:latin typeface="Archivo"/>
                <a:ea typeface="Archivo"/>
                <a:cs typeface="Archivo"/>
                <a:sym typeface="Archivo"/>
              </a:rPr>
              <a:t>Production</a:t>
            </a:r>
            <a:endParaRPr/>
          </a:p>
        </p:txBody>
      </p:sp>
      <p:cxnSp>
        <p:nvCxnSpPr>
          <p:cNvPr id="671" name="Google Shape;671;p14"/>
          <p:cNvCxnSpPr/>
          <p:nvPr/>
        </p:nvCxnSpPr>
        <p:spPr>
          <a:xfrm>
            <a:off x="6172200" y="2148840"/>
            <a:ext cx="2560320" cy="0"/>
          </a:xfrm>
          <a:prstGeom prst="straightConnector1">
            <a:avLst/>
          </a:prstGeom>
          <a:noFill/>
          <a:ln cap="flat" cmpd="sng" w="9525">
            <a:solidFill>
              <a:srgbClr val="DCE1E5"/>
            </a:solidFill>
            <a:prstDash val="solid"/>
            <a:round/>
            <a:headEnd len="sm" w="sm" type="none"/>
            <a:tailEnd len="sm" w="sm" type="none"/>
          </a:ln>
        </p:spPr>
      </p:cxnSp>
      <p:sp>
        <p:nvSpPr>
          <p:cNvPr id="672" name="Google Shape;672;p14"/>
          <p:cNvSpPr txBox="1"/>
          <p:nvPr/>
        </p:nvSpPr>
        <p:spPr>
          <a:xfrm>
            <a:off x="6172200" y="2203704"/>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Bank feeds and e-invoice validation</a:t>
            </a:r>
            <a:endParaRPr/>
          </a:p>
        </p:txBody>
      </p:sp>
      <p:cxnSp>
        <p:nvCxnSpPr>
          <p:cNvPr id="673" name="Google Shape;673;p14"/>
          <p:cNvCxnSpPr/>
          <p:nvPr/>
        </p:nvCxnSpPr>
        <p:spPr>
          <a:xfrm>
            <a:off x="6172200" y="2432304"/>
            <a:ext cx="2560320" cy="0"/>
          </a:xfrm>
          <a:prstGeom prst="straightConnector1">
            <a:avLst/>
          </a:prstGeom>
          <a:noFill/>
          <a:ln cap="flat" cmpd="sng" w="9525">
            <a:solidFill>
              <a:srgbClr val="DCE1E5"/>
            </a:solidFill>
            <a:prstDash val="solid"/>
            <a:round/>
            <a:headEnd len="sm" w="sm" type="none"/>
            <a:tailEnd len="sm" w="sm" type="none"/>
          </a:ln>
        </p:spPr>
      </p:cxnSp>
      <p:sp>
        <p:nvSpPr>
          <p:cNvPr id="674" name="Google Shape;674;p14"/>
          <p:cNvSpPr txBox="1"/>
          <p:nvPr/>
        </p:nvSpPr>
        <p:spPr>
          <a:xfrm>
            <a:off x="6172200" y="2487168"/>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Accounting-tool connectors</a:t>
            </a:r>
            <a:endParaRPr/>
          </a:p>
        </p:txBody>
      </p:sp>
      <p:cxnSp>
        <p:nvCxnSpPr>
          <p:cNvPr id="675" name="Google Shape;675;p14"/>
          <p:cNvCxnSpPr/>
          <p:nvPr/>
        </p:nvCxnSpPr>
        <p:spPr>
          <a:xfrm>
            <a:off x="6172200" y="2715768"/>
            <a:ext cx="2560320" cy="0"/>
          </a:xfrm>
          <a:prstGeom prst="straightConnector1">
            <a:avLst/>
          </a:prstGeom>
          <a:noFill/>
          <a:ln cap="flat" cmpd="sng" w="9525">
            <a:solidFill>
              <a:srgbClr val="DCE1E5"/>
            </a:solidFill>
            <a:prstDash val="solid"/>
            <a:round/>
            <a:headEnd len="sm" w="sm" type="none"/>
            <a:tailEnd len="sm" w="sm" type="none"/>
          </a:ln>
        </p:spPr>
      </p:cxnSp>
      <p:sp>
        <p:nvSpPr>
          <p:cNvPr id="676" name="Google Shape;676;p14"/>
          <p:cNvSpPr txBox="1"/>
          <p:nvPr/>
        </p:nvSpPr>
        <p:spPr>
          <a:xfrm>
            <a:off x="6172200" y="2770632"/>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Loan readiness report from verified months</a:t>
            </a:r>
            <a:endParaRPr/>
          </a:p>
        </p:txBody>
      </p:sp>
      <p:cxnSp>
        <p:nvCxnSpPr>
          <p:cNvPr id="677" name="Google Shape;677;p14"/>
          <p:cNvCxnSpPr/>
          <p:nvPr/>
        </p:nvCxnSpPr>
        <p:spPr>
          <a:xfrm>
            <a:off x="6172200" y="2999232"/>
            <a:ext cx="2560320" cy="0"/>
          </a:xfrm>
          <a:prstGeom prst="straightConnector1">
            <a:avLst/>
          </a:prstGeom>
          <a:noFill/>
          <a:ln cap="flat" cmpd="sng" w="9525">
            <a:solidFill>
              <a:srgbClr val="DCE1E5"/>
            </a:solidFill>
            <a:prstDash val="solid"/>
            <a:round/>
            <a:headEnd len="sm" w="sm" type="none"/>
            <a:tailEnd len="sm" w="sm" type="none"/>
          </a:ln>
        </p:spPr>
      </p:cxnSp>
      <p:sp>
        <p:nvSpPr>
          <p:cNvPr id="678" name="Google Shape;678;p14"/>
          <p:cNvSpPr txBox="1"/>
          <p:nvPr/>
        </p:nvSpPr>
        <p:spPr>
          <a:xfrm>
            <a:off x="6172200" y="3054096"/>
            <a:ext cx="25603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3B4652"/>
                </a:solidFill>
                <a:latin typeface="Archivo"/>
                <a:ea typeface="Archivo"/>
                <a:cs typeface="Archivo"/>
                <a:sym typeface="Archivo"/>
              </a:rPr>
              <a:t>In-region processing, VPC Service Controls</a:t>
            </a:r>
            <a:endParaRPr/>
          </a:p>
        </p:txBody>
      </p:sp>
      <p:cxnSp>
        <p:nvCxnSpPr>
          <p:cNvPr id="679" name="Google Shape;679;p14"/>
          <p:cNvCxnSpPr/>
          <p:nvPr/>
        </p:nvCxnSpPr>
        <p:spPr>
          <a:xfrm>
            <a:off x="411480" y="3995928"/>
            <a:ext cx="8321040" cy="0"/>
          </a:xfrm>
          <a:prstGeom prst="straightConnector1">
            <a:avLst/>
          </a:prstGeom>
          <a:noFill/>
          <a:ln cap="flat" cmpd="sng" w="9525">
            <a:solidFill>
              <a:srgbClr val="DCE1E5"/>
            </a:solidFill>
            <a:prstDash val="solid"/>
            <a:round/>
            <a:headEnd len="sm" w="sm" type="none"/>
            <a:tailEnd len="sm" w="sm" type="none"/>
          </a:ln>
        </p:spPr>
      </p:cxnSp>
      <p:sp>
        <p:nvSpPr>
          <p:cNvPr id="680" name="Google Shape;680;p14"/>
          <p:cNvSpPr txBox="1"/>
          <p:nvPr/>
        </p:nvSpPr>
        <p:spPr>
          <a:xfrm>
            <a:off x="411480" y="4087368"/>
            <a:ext cx="14630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16212B"/>
                </a:solidFill>
                <a:latin typeface="Archivo SemiBold"/>
                <a:ea typeface="Archivo SemiBold"/>
                <a:cs typeface="Archivo SemiBold"/>
                <a:sym typeface="Archivo SemiBold"/>
              </a:rPr>
              <a:t>Responsible AI</a:t>
            </a:r>
            <a:endParaRPr/>
          </a:p>
        </p:txBody>
      </p:sp>
      <p:sp>
        <p:nvSpPr>
          <p:cNvPr id="681" name="Google Shape;681;p14"/>
          <p:cNvSpPr/>
          <p:nvPr/>
        </p:nvSpPr>
        <p:spPr>
          <a:xfrm>
            <a:off x="1737360" y="4119829"/>
            <a:ext cx="100583" cy="85496"/>
          </a:xfrm>
          <a:custGeom>
            <a:rect b="b" l="l" r="r" t="t"/>
            <a:pathLst>
              <a:path extrusionOk="0" h="85496" w="100583">
                <a:moveTo>
                  <a:pt x="0" y="50292"/>
                </a:moveTo>
                <a:lnTo>
                  <a:pt x="36210" y="85496"/>
                </a:lnTo>
                <a:lnTo>
                  <a:pt x="100583" y="0"/>
                </a:lnTo>
              </a:path>
            </a:pathLst>
          </a:custGeom>
          <a:noFill/>
          <a:ln cap="rnd" cmpd="sng" w="17775">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2" name="Google Shape;682;p14"/>
          <p:cNvSpPr txBox="1"/>
          <p:nvPr/>
        </p:nvSpPr>
        <p:spPr>
          <a:xfrm>
            <a:off x="1901952" y="4087368"/>
            <a:ext cx="150876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People resolve exceptions</a:t>
            </a:r>
            <a:endParaRPr/>
          </a:p>
        </p:txBody>
      </p:sp>
      <p:sp>
        <p:nvSpPr>
          <p:cNvPr id="683" name="Google Shape;683;p14"/>
          <p:cNvSpPr/>
          <p:nvPr/>
        </p:nvSpPr>
        <p:spPr>
          <a:xfrm>
            <a:off x="3657600" y="4119829"/>
            <a:ext cx="100584" cy="85496"/>
          </a:xfrm>
          <a:custGeom>
            <a:rect b="b" l="l" r="r" t="t"/>
            <a:pathLst>
              <a:path extrusionOk="0" h="85496" w="100584">
                <a:moveTo>
                  <a:pt x="0" y="50292"/>
                </a:moveTo>
                <a:lnTo>
                  <a:pt x="36210" y="85496"/>
                </a:lnTo>
                <a:lnTo>
                  <a:pt x="100584" y="0"/>
                </a:lnTo>
              </a:path>
            </a:pathLst>
          </a:custGeom>
          <a:noFill/>
          <a:ln cap="rnd" cmpd="sng" w="17775">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4" name="Google Shape;684;p14"/>
          <p:cNvSpPr txBox="1"/>
          <p:nvPr/>
        </p:nvSpPr>
        <p:spPr>
          <a:xfrm>
            <a:off x="3822191" y="4087368"/>
            <a:ext cx="1565452"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Copies held, never deleted</a:t>
            </a:r>
            <a:endParaRPr/>
          </a:p>
        </p:txBody>
      </p:sp>
      <p:sp>
        <p:nvSpPr>
          <p:cNvPr id="685" name="Google Shape;685;p14"/>
          <p:cNvSpPr/>
          <p:nvPr/>
        </p:nvSpPr>
        <p:spPr>
          <a:xfrm>
            <a:off x="5634532" y="4119829"/>
            <a:ext cx="100584" cy="85496"/>
          </a:xfrm>
          <a:custGeom>
            <a:rect b="b" l="l" r="r" t="t"/>
            <a:pathLst>
              <a:path extrusionOk="0" h="85496" w="100584">
                <a:moveTo>
                  <a:pt x="0" y="50292"/>
                </a:moveTo>
                <a:lnTo>
                  <a:pt x="36211" y="85496"/>
                </a:lnTo>
                <a:lnTo>
                  <a:pt x="100584" y="0"/>
                </a:lnTo>
              </a:path>
            </a:pathLst>
          </a:custGeom>
          <a:noFill/>
          <a:ln cap="rnd" cmpd="sng" w="17775">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6" name="Google Shape;686;p14"/>
          <p:cNvSpPr txBox="1"/>
          <p:nvPr/>
        </p:nvSpPr>
        <p:spPr>
          <a:xfrm>
            <a:off x="5799124" y="4087368"/>
            <a:ext cx="1338681"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No personal attributes</a:t>
            </a:r>
            <a:endParaRPr/>
          </a:p>
        </p:txBody>
      </p:sp>
      <p:sp>
        <p:nvSpPr>
          <p:cNvPr id="687" name="Google Shape;687;p14"/>
          <p:cNvSpPr/>
          <p:nvPr/>
        </p:nvSpPr>
        <p:spPr>
          <a:xfrm>
            <a:off x="7384694" y="4119829"/>
            <a:ext cx="100584" cy="85496"/>
          </a:xfrm>
          <a:custGeom>
            <a:rect b="b" l="l" r="r" t="t"/>
            <a:pathLst>
              <a:path extrusionOk="0" h="85496" w="100584">
                <a:moveTo>
                  <a:pt x="0" y="50292"/>
                </a:moveTo>
                <a:lnTo>
                  <a:pt x="36210" y="85496"/>
                </a:lnTo>
                <a:lnTo>
                  <a:pt x="100584" y="0"/>
                </a:lnTo>
              </a:path>
            </a:pathLst>
          </a:custGeom>
          <a:noFill/>
          <a:ln cap="rnd" cmpd="sng" w="17775">
            <a:solidFill>
              <a:srgbClr val="0E5A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8" name="Google Shape;688;p14"/>
          <p:cNvSpPr txBox="1"/>
          <p:nvPr/>
        </p:nvSpPr>
        <p:spPr>
          <a:xfrm>
            <a:off x="7549286" y="4087368"/>
            <a:ext cx="1395374"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900" u="none" cap="none" strike="noStrike">
                <a:solidFill>
                  <a:srgbClr val="16212B"/>
                </a:solidFill>
                <a:latin typeface="Archivo"/>
                <a:ea typeface="Archivo"/>
                <a:cs typeface="Archivo"/>
                <a:sym typeface="Archivo"/>
              </a:rPr>
              <a:t>Synthetic data in tests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5"/>
          <p:cNvSpPr/>
          <p:nvPr/>
        </p:nvSpPr>
        <p:spPr>
          <a:xfrm>
            <a:off x="0" y="507492"/>
            <a:ext cx="9144000" cy="4573828"/>
          </a:xfrm>
          <a:prstGeom prst="rect">
            <a:avLst/>
          </a:prstGeom>
          <a:solidFill>
            <a:srgbClr val="F2F4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94" name="Google Shape;694;p1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695" name="Google Shape;695;p15" title="Group 427319979.png"/>
          <p:cNvPicPr preferRelativeResize="0"/>
          <p:nvPr/>
        </p:nvPicPr>
        <p:blipFill rotWithShape="1">
          <a:blip r:embed="rId4">
            <a:alphaModFix/>
          </a:blip>
          <a:srcRect b="0" l="0" r="0" t="0"/>
          <a:stretch/>
        </p:blipFill>
        <p:spPr>
          <a:xfrm>
            <a:off x="0" y="1"/>
            <a:ext cx="9144000" cy="507359"/>
          </a:xfrm>
          <a:prstGeom prst="rect">
            <a:avLst/>
          </a:prstGeom>
          <a:noFill/>
          <a:ln>
            <a:noFill/>
          </a:ln>
        </p:spPr>
      </p:pic>
      <p:sp>
        <p:nvSpPr>
          <p:cNvPr id="696" name="Google Shape;696;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5"/>
          <p:cNvSpPr txBox="1"/>
          <p:nvPr/>
        </p:nvSpPr>
        <p:spPr>
          <a:xfrm>
            <a:off x="411480" y="676656"/>
            <a:ext cx="69494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6636F"/>
                </a:solidFill>
                <a:latin typeface="Archivo Medium"/>
                <a:ea typeface="Archivo Medium"/>
                <a:cs typeface="Archivo Medium"/>
                <a:sym typeface="Archivo Medium"/>
              </a:rPr>
              <a:t>Provide links to your</a:t>
            </a:r>
            <a:endParaRPr/>
          </a:p>
        </p:txBody>
      </p:sp>
      <p:sp>
        <p:nvSpPr>
          <p:cNvPr id="698" name="Google Shape;698;p15"/>
          <p:cNvSpPr txBox="1"/>
          <p:nvPr/>
        </p:nvSpPr>
        <p:spPr>
          <a:xfrm>
            <a:off x="411480" y="896112"/>
            <a:ext cx="8321040" cy="685800"/>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None/>
            </a:pPr>
            <a:r>
              <a:rPr b="0" i="0" lang="en-US" sz="2100" u="none" cap="none" strike="noStrike">
                <a:solidFill>
                  <a:srgbClr val="16212B"/>
                </a:solidFill>
                <a:latin typeface="Archivo SemiBold"/>
                <a:ea typeface="Archivo SemiBold"/>
                <a:cs typeface="Archivo SemiBold"/>
                <a:sym typeface="Archivo SemiBold"/>
              </a:rPr>
              <a:t>Open the demo company and see it for yourself</a:t>
            </a:r>
            <a:endParaRPr/>
          </a:p>
        </p:txBody>
      </p:sp>
      <p:sp>
        <p:nvSpPr>
          <p:cNvPr id="699" name="Google Shape;699;p15"/>
          <p:cNvSpPr txBox="1"/>
          <p:nvPr/>
        </p:nvSpPr>
        <p:spPr>
          <a:xfrm>
            <a:off x="8183879" y="676656"/>
            <a:ext cx="548640" cy="20116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900" u="none" cap="none" strike="noStrike">
                <a:solidFill>
                  <a:srgbClr val="6B7782"/>
                </a:solidFill>
                <a:latin typeface="Archivo SemiBold"/>
                <a:ea typeface="Archivo SemiBold"/>
                <a:cs typeface="Archivo SemiBold"/>
                <a:sym typeface="Archivo SemiBold"/>
              </a:rPr>
              <a:t>15</a:t>
            </a:r>
            <a:endParaRPr/>
          </a:p>
        </p:txBody>
      </p:sp>
      <p:cxnSp>
        <p:nvCxnSpPr>
          <p:cNvPr id="700" name="Google Shape;700;p15"/>
          <p:cNvCxnSpPr/>
          <p:nvPr/>
        </p:nvCxnSpPr>
        <p:spPr>
          <a:xfrm>
            <a:off x="411480" y="1554480"/>
            <a:ext cx="8321040" cy="0"/>
          </a:xfrm>
          <a:prstGeom prst="straightConnector1">
            <a:avLst/>
          </a:prstGeom>
          <a:noFill/>
          <a:ln cap="flat" cmpd="sng" w="9525">
            <a:solidFill>
              <a:srgbClr val="DCE1E5"/>
            </a:solidFill>
            <a:prstDash val="solid"/>
            <a:round/>
            <a:headEnd len="sm" w="sm" type="none"/>
            <a:tailEnd len="sm" w="sm" type="none"/>
          </a:ln>
        </p:spPr>
      </p:cxnSp>
      <p:sp>
        <p:nvSpPr>
          <p:cNvPr id="701" name="Google Shape;701;p15"/>
          <p:cNvSpPr txBox="1"/>
          <p:nvPr/>
        </p:nvSpPr>
        <p:spPr>
          <a:xfrm>
            <a:off x="411480" y="1691640"/>
            <a:ext cx="19202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Final product</a:t>
            </a:r>
            <a:endParaRPr/>
          </a:p>
        </p:txBody>
      </p:sp>
      <p:sp>
        <p:nvSpPr>
          <p:cNvPr id="702" name="Google Shape;702;p15"/>
          <p:cNvSpPr txBox="1"/>
          <p:nvPr/>
        </p:nvSpPr>
        <p:spPr>
          <a:xfrm>
            <a:off x="2423160" y="1673352"/>
            <a:ext cx="47548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sng" cap="none" strike="noStrike">
                <a:solidFill>
                  <a:srgbClr val="0E5A47"/>
                </a:solidFill>
                <a:latin typeface="Archivo"/>
                <a:ea typeface="Archivo"/>
                <a:cs typeface="Archivo"/>
                <a:sym typeface="Archivo"/>
                <a:hlinkClick r:id="rId5">
                  <a:extLst>
                    <a:ext uri="{A12FA001-AC4F-418D-AE19-62706E023703}">
                      <ahyp:hlinkClr val="tx"/>
                    </a:ext>
                  </a:extLst>
                </a:hlinkClick>
              </a:rPr>
              <a:t>https://kredibel.app</a:t>
            </a:r>
            <a:endParaRPr/>
          </a:p>
        </p:txBody>
      </p:sp>
      <p:sp>
        <p:nvSpPr>
          <p:cNvPr id="703" name="Google Shape;703;p15"/>
          <p:cNvSpPr txBox="1"/>
          <p:nvPr/>
        </p:nvSpPr>
        <p:spPr>
          <a:xfrm>
            <a:off x="2423160" y="2011680"/>
            <a:ext cx="4572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Demo sign-in demo@kredibel.app / Kredibel-Demo-2026, or any Google account: explore the demo company, or upload the sample books linked in the README.</a:t>
            </a:r>
            <a:endParaRPr/>
          </a:p>
        </p:txBody>
      </p:sp>
      <p:pic>
        <p:nvPicPr>
          <p:cNvPr descr="qr_app.png" id="704" name="Google Shape;704;p15"/>
          <p:cNvPicPr preferRelativeResize="0"/>
          <p:nvPr/>
        </p:nvPicPr>
        <p:blipFill rotWithShape="1">
          <a:blip r:embed="rId9">
            <a:alphaModFix/>
          </a:blip>
          <a:srcRect b="0" l="0" r="0" t="0"/>
          <a:stretch/>
        </p:blipFill>
        <p:spPr>
          <a:xfrm>
            <a:off x="7982712" y="1664207"/>
            <a:ext cx="749808" cy="749808"/>
          </a:xfrm>
          <a:prstGeom prst="rect">
            <a:avLst/>
          </a:prstGeom>
          <a:noFill/>
          <a:ln>
            <a:noFill/>
          </a:ln>
        </p:spPr>
      </p:pic>
      <p:cxnSp>
        <p:nvCxnSpPr>
          <p:cNvPr id="705" name="Google Shape;705;p15"/>
          <p:cNvCxnSpPr/>
          <p:nvPr/>
        </p:nvCxnSpPr>
        <p:spPr>
          <a:xfrm>
            <a:off x="411480" y="2523744"/>
            <a:ext cx="8321040" cy="0"/>
          </a:xfrm>
          <a:prstGeom prst="straightConnector1">
            <a:avLst/>
          </a:prstGeom>
          <a:noFill/>
          <a:ln cap="flat" cmpd="sng" w="9525">
            <a:solidFill>
              <a:srgbClr val="DCE1E5"/>
            </a:solidFill>
            <a:prstDash val="solid"/>
            <a:round/>
            <a:headEnd len="sm" w="sm" type="none"/>
            <a:tailEnd len="sm" w="sm" type="none"/>
          </a:ln>
        </p:spPr>
      </p:cxnSp>
      <p:sp>
        <p:nvSpPr>
          <p:cNvPr id="706" name="Google Shape;706;p15"/>
          <p:cNvSpPr txBox="1"/>
          <p:nvPr/>
        </p:nvSpPr>
        <p:spPr>
          <a:xfrm>
            <a:off x="411480" y="2660903"/>
            <a:ext cx="19202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GitHub repository</a:t>
            </a:r>
            <a:endParaRPr/>
          </a:p>
        </p:txBody>
      </p:sp>
      <p:sp>
        <p:nvSpPr>
          <p:cNvPr id="707" name="Google Shape;707;p15"/>
          <p:cNvSpPr txBox="1"/>
          <p:nvPr/>
        </p:nvSpPr>
        <p:spPr>
          <a:xfrm>
            <a:off x="2423160" y="2642615"/>
            <a:ext cx="47548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sng" cap="none" strike="noStrike">
                <a:solidFill>
                  <a:srgbClr val="0E5A47"/>
                </a:solidFill>
                <a:latin typeface="Archivo"/>
                <a:ea typeface="Archivo"/>
                <a:cs typeface="Archivo"/>
                <a:sym typeface="Archivo"/>
                <a:hlinkClick r:id="rId7">
                  <a:extLst>
                    <a:ext uri="{A12FA001-AC4F-418D-AE19-62706E023703}">
                      <ahyp:hlinkClr val="tx"/>
                    </a:ext>
                  </a:extLst>
                </a:hlinkClick>
              </a:rPr>
              <a:t>https://github.com/fadlytanjung/kredibel</a:t>
            </a:r>
            <a:endParaRPr/>
          </a:p>
        </p:txBody>
      </p:sp>
      <p:sp>
        <p:nvSpPr>
          <p:cNvPr id="716" name="Google Shape;707;p15"/>
          <p:cNvSpPr txBox="1"/>
          <p:nvPr/>
        </p:nvSpPr>
        <p:spPr>
          <a:xfrm>
            <a:off x="2423160" y="3611880"/>
            <a:ext cx="47548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50" u="sng" cap="none" strike="noStrike">
                <a:solidFill>
                  <a:srgbClr val="0E5A47"/>
                </a:solidFill>
                <a:latin typeface="Archivo"/>
                <a:ea typeface="Archivo"/>
                <a:cs typeface="Archivo"/>
                <a:sym typeface="Archivo"/>
                <a:hlinkClick r:id="rId10"/>
              </a:rPr>
              <a:t>https://youtu.be/5UI2NZFmzrk</a:t>
            </a:r>
            <a:endParaRPr/>
          </a:p>
        </p:txBody>
      </p:sp>
      <p:sp>
        <p:nvSpPr>
          <p:cNvPr id="708" name="Google Shape;708;p15"/>
          <p:cNvSpPr txBox="1"/>
          <p:nvPr/>
        </p:nvSpPr>
        <p:spPr>
          <a:xfrm>
            <a:off x="2423160" y="2980944"/>
            <a:ext cx="4572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Specs, architecture decisions, contracts, design tokens and the code.</a:t>
            </a:r>
            <a:endParaRPr/>
          </a:p>
        </p:txBody>
      </p:sp>
      <p:pic>
        <p:nvPicPr>
          <p:cNvPr descr="qr_gh.png" id="709" name="Google Shape;709;p15"/>
          <p:cNvPicPr preferRelativeResize="0"/>
          <p:nvPr/>
        </p:nvPicPr>
        <p:blipFill rotWithShape="1">
          <a:blip r:embed="rId8">
            <a:alphaModFix/>
          </a:blip>
          <a:srcRect b="0" l="0" r="0" t="0"/>
          <a:stretch/>
        </p:blipFill>
        <p:spPr>
          <a:xfrm>
            <a:off x="7982712" y="2633472"/>
            <a:ext cx="749808" cy="749808"/>
          </a:xfrm>
          <a:prstGeom prst="rect">
            <a:avLst/>
          </a:prstGeom>
          <a:noFill/>
          <a:ln>
            <a:noFill/>
          </a:ln>
        </p:spPr>
      </p:pic>
      <p:pic>
        <p:nvPicPr>
          <p:cNvPr descr="qr_gh.png" id="717" name="Google Shape;709;p15"/>
          <p:cNvPicPr preferRelativeResize="0"/>
          <p:nvPr/>
        </p:nvPicPr>
        <p:blipFill rotWithShape="1">
          <a:blip r:embed="rId11">
            <a:alphaModFix/>
          </a:blip>
          <a:srcRect b="0" l="0" r="0" t="0"/>
          <a:stretch/>
        </p:blipFill>
        <p:spPr>
          <a:xfrm>
            <a:off x="7982712" y="3602737"/>
            <a:ext cx="749808" cy="749808"/>
          </a:xfrm>
          <a:prstGeom prst="rect">
            <a:avLst/>
          </a:prstGeom>
          <a:noFill/>
          <a:ln>
            <a:noFill/>
          </a:ln>
        </p:spPr>
      </p:pic>
      <p:cxnSp>
        <p:nvCxnSpPr>
          <p:cNvPr id="710" name="Google Shape;710;p15"/>
          <p:cNvCxnSpPr/>
          <p:nvPr/>
        </p:nvCxnSpPr>
        <p:spPr>
          <a:xfrm>
            <a:off x="411480" y="3493008"/>
            <a:ext cx="8321040" cy="0"/>
          </a:xfrm>
          <a:prstGeom prst="straightConnector1">
            <a:avLst/>
          </a:prstGeom>
          <a:noFill/>
          <a:ln cap="flat" cmpd="sng" w="9525">
            <a:solidFill>
              <a:srgbClr val="DCE1E5"/>
            </a:solidFill>
            <a:prstDash val="solid"/>
            <a:round/>
            <a:headEnd len="sm" w="sm" type="none"/>
            <a:tailEnd len="sm" w="sm" type="none"/>
          </a:ln>
        </p:spPr>
      </p:cxnSp>
      <p:sp>
        <p:nvSpPr>
          <p:cNvPr id="711" name="Google Shape;711;p15"/>
          <p:cNvSpPr txBox="1"/>
          <p:nvPr/>
        </p:nvSpPr>
        <p:spPr>
          <a:xfrm>
            <a:off x="411480" y="3630168"/>
            <a:ext cx="19202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6212B"/>
                </a:solidFill>
                <a:latin typeface="Archivo SemiBold"/>
                <a:ea typeface="Archivo SemiBold"/>
                <a:cs typeface="Archivo SemiBold"/>
                <a:sym typeface="Archivo SemiBold"/>
              </a:rPr>
              <a:t>Demo video, 3 minutes</a:t>
            </a:r>
            <a:endParaRPr/>
          </a:p>
        </p:txBody>
      </p:sp>
      <p:sp>
        <p:nvSpPr>
          <p:cNvPr id="714" name="Google Shape;714;p15"/>
          <p:cNvSpPr txBox="1"/>
          <p:nvPr/>
        </p:nvSpPr>
        <p:spPr>
          <a:xfrm>
            <a:off x="2423160" y="3950208"/>
            <a:ext cx="4572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0" i="0" lang="en-US" sz="950" u="none" cap="none" strike="noStrike">
                <a:solidFill>
                  <a:srgbClr val="56636F"/>
                </a:solidFill>
                <a:latin typeface="Archivo"/>
                <a:ea typeface="Archivo"/>
                <a:cs typeface="Archivo"/>
                <a:sym typeface="Archivo"/>
              </a:rPr>
              <a:t>The working prototype on production, recorded with the demo account.</a:t>
            </a:r>
            <a:endParaRPr/>
          </a:p>
        </p:txBody>
      </p:sp>
      <p:sp>
        <p:nvSpPr>
          <p:cNvPr id="715" name="Google Shape;715;p15"/>
          <p:cNvSpPr txBox="1"/>
          <p:nvPr/>
        </p:nvSpPr>
        <p:spPr>
          <a:xfrm>
            <a:off x="411480" y="4507992"/>
            <a:ext cx="83210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800" u="none" cap="none" strike="noStrike">
                <a:solidFill>
                  <a:srgbClr val="6B7782"/>
                </a:solidFill>
                <a:latin typeface="Archivo"/>
                <a:ea typeface="Archivo"/>
                <a:cs typeface="Archivo"/>
                <a:sym typeface="Archivo"/>
              </a:rPr>
              <a:t>All documents in the demo are synthetic and marked SYNTHETIC, FOR TESTING.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pic>
        <p:nvPicPr>
          <p:cNvPr id="720" name="Google Shape;720;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21" name="Google Shape;721;p16" title="Frame 145.png"/>
          <p:cNvPicPr preferRelativeResize="0"/>
          <p:nvPr/>
        </p:nvPicPr>
        <p:blipFill rotWithShape="1">
          <a:blip r:embed="rId4">
            <a:alphaModFix/>
          </a:blip>
          <a:srcRect b="0" l="0" r="0" t="0"/>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E5A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0E5A47"/>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